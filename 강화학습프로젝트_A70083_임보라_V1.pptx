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73" r:id="rId13"/>
    <p:sldId id="276" r:id="rId14"/>
    <p:sldId id="269" r:id="rId15"/>
    <p:sldId id="270" r:id="rId16"/>
    <p:sldId id="271" r:id="rId17"/>
    <p:sldId id="272"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4" userDrawn="1">
          <p15:clr>
            <a:srgbClr val="A4A3A4"/>
          </p15:clr>
        </p15:guide>
        <p15:guide id="2" pos="3840" userDrawn="1">
          <p15:clr>
            <a:srgbClr val="A4A3A4"/>
          </p15:clr>
        </p15:guide>
        <p15:guide id="3" orient="horz" pos="527" userDrawn="1">
          <p15:clr>
            <a:srgbClr val="A4A3A4"/>
          </p15:clr>
        </p15:guide>
        <p15:guide id="4" orient="horz" pos="436" userDrawn="1">
          <p15:clr>
            <a:srgbClr val="A4A3A4"/>
          </p15:clr>
        </p15:guide>
        <p15:guide id="5" pos="34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0"/>
    <p:restoredTop sz="94610"/>
  </p:normalViewPr>
  <p:slideViewPr>
    <p:cSldViewPr snapToGrid="0" snapToObjects="1">
      <p:cViewPr>
        <p:scale>
          <a:sx n="105" d="100"/>
          <a:sy n="105" d="100"/>
        </p:scale>
        <p:origin x="840" y="360"/>
      </p:cViewPr>
      <p:guideLst>
        <p:guide orient="horz" pos="2164"/>
        <p:guide pos="3840"/>
        <p:guide orient="horz" pos="527"/>
        <p:guide orient="horz" pos="436"/>
        <p:guide pos="347"/>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21620980"/>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49544881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279374393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3" Type="http://schemas.openxmlformats.org/officeDocument/2006/relationships/image" Target="../media/image6.png"/><Relationship Id="rId7" Type="http://schemas.openxmlformats.org/officeDocument/2006/relationships/image" Target="../media/image10.png"/><Relationship Id="rId12" Type="http://schemas.openxmlformats.org/officeDocument/2006/relationships/image" Target="../media/image15.png"/><Relationship Id="rId2" Type="http://schemas.openxmlformats.org/officeDocument/2006/relationships/notesSlide" Target="../notesSlides/notesSlide3.xml"/><Relationship Id="rId16" Type="http://schemas.openxmlformats.org/officeDocument/2006/relationships/image" Target="../media/image19.png"/><Relationship Id="rId1" Type="http://schemas.openxmlformats.org/officeDocument/2006/relationships/slideLayout" Target="../slideLayouts/slideLayout1.xml"/><Relationship Id="rId6" Type="http://schemas.openxmlformats.org/officeDocument/2006/relationships/image" Target="../media/image9.png"/><Relationship Id="rId11" Type="http://schemas.openxmlformats.org/officeDocument/2006/relationships/image" Target="../media/image14.png"/><Relationship Id="rId5" Type="http://schemas.openxmlformats.org/officeDocument/2006/relationships/image" Target="../media/image8.png"/><Relationship Id="rId15" Type="http://schemas.openxmlformats.org/officeDocument/2006/relationships/image" Target="../media/image18.pn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png"/><Relationship Id="rId14" Type="http://schemas.openxmlformats.org/officeDocument/2006/relationships/image" Target="../media/image17.png"/></Relationships>
</file>

<file path=ppt/slides/_rels/slide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5.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7.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4.png"/><Relationship Id="rId7" Type="http://schemas.openxmlformats.org/officeDocument/2006/relationships/image" Target="../media/image38.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8.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image" Target="../media/image40.png"/><Relationship Id="rId7" Type="http://schemas.openxmlformats.org/officeDocument/2006/relationships/image" Target="../media/image44.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43.png"/><Relationship Id="rId5" Type="http://schemas.openxmlformats.org/officeDocument/2006/relationships/image" Target="../media/image42.png"/><Relationship Id="rId10" Type="http://schemas.openxmlformats.org/officeDocument/2006/relationships/image" Target="../media/image47.png"/><Relationship Id="rId4" Type="http://schemas.openxmlformats.org/officeDocument/2006/relationships/image" Target="../media/image41.png"/><Relationship Id="rId9" Type="http://schemas.openxmlformats.org/officeDocument/2006/relationships/image" Target="../media/image46.png"/></Relationships>
</file>

<file path=ppt/slides/_rels/slide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50.png"/><Relationship Id="rId4" Type="http://schemas.openxmlformats.org/officeDocument/2006/relationships/image" Target="../media/image49.png"/></Relationships>
</file>

<file path=ppt/slides/_rels/slide10.xml.rels><?xml version="1.0" encoding="UTF-8" standalone="yes"?>
<Relationships xmlns="http://schemas.openxmlformats.org/package/2006/relationships"><Relationship Id="rId8" Type="http://schemas.openxmlformats.org/officeDocument/2006/relationships/image" Target="../media/image56.png"/><Relationship Id="rId3" Type="http://schemas.openxmlformats.org/officeDocument/2006/relationships/image" Target="../media/image51.png"/><Relationship Id="rId7" Type="http://schemas.openxmlformats.org/officeDocument/2006/relationships/image" Target="../media/image55.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54.png"/><Relationship Id="rId11" Type="http://schemas.openxmlformats.org/officeDocument/2006/relationships/image" Target="../media/image59.png"/><Relationship Id="rId5" Type="http://schemas.openxmlformats.org/officeDocument/2006/relationships/image" Target="../media/image53.png"/><Relationship Id="rId10" Type="http://schemas.openxmlformats.org/officeDocument/2006/relationships/image" Target="../media/image58.png"/><Relationship Id="rId4" Type="http://schemas.openxmlformats.org/officeDocument/2006/relationships/image" Target="../media/image52.png"/><Relationship Id="rId9" Type="http://schemas.openxmlformats.org/officeDocument/2006/relationships/image" Target="../media/image57.png"/></Relationships>
</file>

<file path=ppt/slides/_rels/slide11.xml.rels><?xml version="1.0" encoding="UTF-8" standalone="yes"?>
<Relationships xmlns="http://schemas.openxmlformats.org/package/2006/relationships"><Relationship Id="rId8" Type="http://schemas.openxmlformats.org/officeDocument/2006/relationships/image" Target="../media/image65.png"/><Relationship Id="rId3" Type="http://schemas.openxmlformats.org/officeDocument/2006/relationships/image" Target="../media/image60.png"/><Relationship Id="rId7" Type="http://schemas.openxmlformats.org/officeDocument/2006/relationships/image" Target="../media/image64.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61.png"/><Relationship Id="rId9" Type="http://schemas.openxmlformats.org/officeDocument/2006/relationships/image" Target="../media/image66.png"/></Relationships>
</file>

<file path=ppt/slides/_rels/slide12.xml.rels><?xml version="1.0" encoding="UTF-8" standalone="yes"?>
<Relationships xmlns="http://schemas.openxmlformats.org/package/2006/relationships"><Relationship Id="rId3" Type="http://schemas.openxmlformats.org/officeDocument/2006/relationships/image" Target="../media/image67.png"/><Relationship Id="rId7" Type="http://schemas.openxmlformats.org/officeDocument/2006/relationships/image" Target="../media/image71.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70.png"/><Relationship Id="rId5" Type="http://schemas.openxmlformats.org/officeDocument/2006/relationships/image" Target="../media/image69.png"/><Relationship Id="rId4" Type="http://schemas.openxmlformats.org/officeDocument/2006/relationships/image" Target="../media/image68.png"/></Relationships>
</file>

<file path=ppt/slides/_rels/slide13.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72.png"/></Relationships>
</file>

<file path=ppt/slides/_rels/slide14.xml.rels><?xml version="1.0" encoding="UTF-8" standalone="yes"?>
<Relationships xmlns="http://schemas.openxmlformats.org/package/2006/relationships"><Relationship Id="rId3" Type="http://schemas.openxmlformats.org/officeDocument/2006/relationships/image" Target="../media/image73.png"/><Relationship Id="rId7" Type="http://schemas.openxmlformats.org/officeDocument/2006/relationships/image" Target="../media/image77.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76.png"/><Relationship Id="rId5" Type="http://schemas.openxmlformats.org/officeDocument/2006/relationships/image" Target="../media/image75.png"/><Relationship Id="rId4" Type="http://schemas.openxmlformats.org/officeDocument/2006/relationships/image" Target="../media/image74.png"/></Relationships>
</file>

<file path=ppt/slides/_rels/slide15.xml.rels><?xml version="1.0" encoding="UTF-8" standalone="yes"?>
<Relationships xmlns="http://schemas.openxmlformats.org/package/2006/relationships"><Relationship Id="rId8" Type="http://schemas.openxmlformats.org/officeDocument/2006/relationships/image" Target="../media/image83.png"/><Relationship Id="rId3" Type="http://schemas.openxmlformats.org/officeDocument/2006/relationships/image" Target="../media/image78.png"/><Relationship Id="rId7" Type="http://schemas.openxmlformats.org/officeDocument/2006/relationships/image" Target="../media/image82.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81.png"/><Relationship Id="rId5" Type="http://schemas.openxmlformats.org/officeDocument/2006/relationships/image" Target="../media/image80.png"/><Relationship Id="rId4" Type="http://schemas.openxmlformats.org/officeDocument/2006/relationships/image" Target="../media/image79.png"/><Relationship Id="rId9" Type="http://schemas.openxmlformats.org/officeDocument/2006/relationships/image" Target="../media/image84.png"/></Relationships>
</file>

<file path=ppt/slides/_rels/slide16.xml.rels><?xml version="1.0" encoding="UTF-8" standalone="yes"?>
<Relationships xmlns="http://schemas.openxmlformats.org/package/2006/relationships"><Relationship Id="rId8" Type="http://schemas.openxmlformats.org/officeDocument/2006/relationships/image" Target="../media/image90.png"/><Relationship Id="rId3" Type="http://schemas.openxmlformats.org/officeDocument/2006/relationships/image" Target="../media/image85.png"/><Relationship Id="rId7" Type="http://schemas.openxmlformats.org/officeDocument/2006/relationships/image" Target="../media/image89.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88.png"/><Relationship Id="rId11" Type="http://schemas.openxmlformats.org/officeDocument/2006/relationships/image" Target="../media/image93.png"/><Relationship Id="rId5" Type="http://schemas.openxmlformats.org/officeDocument/2006/relationships/image" Target="../media/image87.png"/><Relationship Id="rId10" Type="http://schemas.openxmlformats.org/officeDocument/2006/relationships/image" Target="../media/image92.png"/><Relationship Id="rId4" Type="http://schemas.openxmlformats.org/officeDocument/2006/relationships/image" Target="../media/image86.png"/><Relationship Id="rId9" Type="http://schemas.openxmlformats.org/officeDocument/2006/relationships/image" Target="../media/image91.png"/></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95.png"/><Relationship Id="rId4" Type="http://schemas.openxmlformats.org/officeDocument/2006/relationships/image" Target="../media/image94.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4" name="Shape 2"/>
          <p:cNvSpPr/>
          <p:nvPr/>
        </p:nvSpPr>
        <p:spPr>
          <a:xfrm>
            <a:off x="0" y="0"/>
            <a:ext cx="12191695" cy="114300"/>
          </a:xfrm>
          <a:prstGeom prst="rect">
            <a:avLst/>
          </a:prstGeom>
          <a:solidFill>
            <a:srgbClr val="1E3A8A"/>
          </a:solidFill>
          <a:ln/>
        </p:spPr>
      </p:sp>
      <p:sp>
        <p:nvSpPr>
          <p:cNvPr id="8" name="Shape 5"/>
          <p:cNvSpPr/>
          <p:nvPr/>
        </p:nvSpPr>
        <p:spPr>
          <a:xfrm>
            <a:off x="5619597" y="2868930"/>
            <a:ext cx="952805" cy="38405"/>
          </a:xfrm>
          <a:prstGeom prst="rect">
            <a:avLst/>
          </a:prstGeom>
          <a:solidFill>
            <a:srgbClr val="2563EB"/>
          </a:solidFill>
          <a:ln/>
        </p:spPr>
      </p:sp>
      <p:pic>
        <p:nvPicPr>
          <p:cNvPr id="14" name="Image 2" descr="preencoded.png"/>
          <p:cNvPicPr>
            <a:picLocks noChangeAspect="1"/>
          </p:cNvPicPr>
          <p:nvPr/>
        </p:nvPicPr>
        <p:blipFill>
          <a:blip r:embed="rId3"/>
          <a:srcRect l="-7143" r="-7143"/>
          <a:stretch/>
        </p:blipFill>
        <p:spPr>
          <a:xfrm>
            <a:off x="2723998" y="4884725"/>
            <a:ext cx="228600" cy="228600"/>
          </a:xfrm>
          <a:prstGeom prst="rect">
            <a:avLst/>
          </a:prstGeom>
        </p:spPr>
      </p:pic>
      <p:sp>
        <p:nvSpPr>
          <p:cNvPr id="15" name="Text 10"/>
          <p:cNvSpPr txBox="1"/>
          <p:nvPr/>
        </p:nvSpPr>
        <p:spPr>
          <a:xfrm>
            <a:off x="3042910" y="4827118"/>
            <a:ext cx="1239012" cy="342900"/>
          </a:xfrm>
          <a:prstGeom prst="rect">
            <a:avLst/>
          </a:prstGeom>
          <a:noFill/>
          <a:ln/>
        </p:spPr>
        <p:txBody>
          <a:bodyPr wrap="square" lIns="0" tIns="0" rIns="0" bIns="0" rtlCol="0" anchor="ctr"/>
          <a:lstStyle/>
          <a:p>
            <a:pPr marL="0" indent="0" algn="l">
              <a:buNone/>
            </a:pPr>
            <a:r>
              <a:rPr lang="en-US" sz="1600" b="1" dirty="0">
                <a:solidFill>
                  <a:srgbClr val="1F2937"/>
                </a:solidFill>
                <a:latin typeface="Noto Sans KR" pitchFamily="34" charset="0"/>
                <a:ea typeface="Noto Sans KR" pitchFamily="34" charset="-122"/>
                <a:cs typeface="Noto Sans KR" pitchFamily="34" charset="-120"/>
              </a:rPr>
              <a:t>학번 / 이름</a:t>
            </a:r>
            <a:endParaRPr lang="en-US" sz="1600" dirty="0"/>
          </a:p>
        </p:txBody>
      </p:sp>
      <p:pic>
        <p:nvPicPr>
          <p:cNvPr id="17" name="Image 3" descr="preencoded.png"/>
          <p:cNvPicPr>
            <a:picLocks noChangeAspect="1"/>
          </p:cNvPicPr>
          <p:nvPr/>
        </p:nvPicPr>
        <p:blipFill>
          <a:blip r:embed="rId4"/>
          <a:srcRect l="-1613" r="-1613"/>
          <a:stretch/>
        </p:blipFill>
        <p:spPr>
          <a:xfrm>
            <a:off x="2723998" y="5465369"/>
            <a:ext cx="228600" cy="228600"/>
          </a:xfrm>
          <a:prstGeom prst="rect">
            <a:avLst/>
          </a:prstGeom>
        </p:spPr>
      </p:pic>
      <p:sp>
        <p:nvSpPr>
          <p:cNvPr id="18" name="Text 12"/>
          <p:cNvSpPr txBox="1"/>
          <p:nvPr/>
        </p:nvSpPr>
        <p:spPr>
          <a:xfrm>
            <a:off x="3042910" y="5408676"/>
            <a:ext cx="972007" cy="342900"/>
          </a:xfrm>
          <a:prstGeom prst="rect">
            <a:avLst/>
          </a:prstGeom>
          <a:noFill/>
          <a:ln/>
        </p:spPr>
        <p:txBody>
          <a:bodyPr wrap="square" lIns="0" tIns="0" rIns="0" bIns="0" rtlCol="0" anchor="ctr"/>
          <a:lstStyle/>
          <a:p>
            <a:pPr marL="0" indent="0" algn="l">
              <a:buNone/>
            </a:pPr>
            <a:r>
              <a:rPr lang="en-US" sz="1600" b="1" dirty="0">
                <a:solidFill>
                  <a:srgbClr val="1F2937"/>
                </a:solidFill>
                <a:latin typeface="Noto Sans KR" pitchFamily="34" charset="0"/>
                <a:ea typeface="Noto Sans KR" pitchFamily="34" charset="-122"/>
                <a:cs typeface="Noto Sans KR" pitchFamily="34" charset="-120"/>
              </a:rPr>
              <a:t>GitHub</a:t>
            </a:r>
            <a:endParaRPr lang="en-US" sz="1600" dirty="0"/>
          </a:p>
        </p:txBody>
      </p:sp>
      <p:sp>
        <p:nvSpPr>
          <p:cNvPr id="20" name="Text 14"/>
          <p:cNvSpPr txBox="1"/>
          <p:nvPr/>
        </p:nvSpPr>
        <p:spPr>
          <a:xfrm>
            <a:off x="4128668" y="1100481"/>
            <a:ext cx="3934663" cy="876910"/>
          </a:xfrm>
          <a:prstGeom prst="rect">
            <a:avLst/>
          </a:prstGeom>
          <a:noFill/>
          <a:ln/>
        </p:spPr>
        <p:txBody>
          <a:bodyPr wrap="square" lIns="0" tIns="0" rIns="0" bIns="0" rtlCol="0" anchor="ctr"/>
          <a:lstStyle/>
          <a:p>
            <a:pPr marL="0" indent="0" algn="ctr">
              <a:buNone/>
            </a:pPr>
            <a:r>
              <a:rPr lang="en-US" sz="4400" b="1" dirty="0">
                <a:solidFill>
                  <a:srgbClr val="111827"/>
                </a:solidFill>
                <a:latin typeface="Noto Sans KR" pitchFamily="34" charset="0"/>
                <a:ea typeface="Noto Sans KR" pitchFamily="34" charset="-122"/>
                <a:cs typeface="Noto Sans KR" pitchFamily="34" charset="-120"/>
              </a:rPr>
              <a:t>강화학습 기반</a:t>
            </a:r>
            <a:endParaRPr lang="en-US" sz="4400" dirty="0"/>
          </a:p>
        </p:txBody>
      </p:sp>
      <p:sp>
        <p:nvSpPr>
          <p:cNvPr id="21" name="Text 15"/>
          <p:cNvSpPr txBox="1"/>
          <p:nvPr/>
        </p:nvSpPr>
        <p:spPr>
          <a:xfrm>
            <a:off x="1676247" y="1832001"/>
            <a:ext cx="8839505" cy="876910"/>
          </a:xfrm>
          <a:prstGeom prst="rect">
            <a:avLst/>
          </a:prstGeom>
          <a:noFill/>
          <a:ln/>
        </p:spPr>
        <p:txBody>
          <a:bodyPr wrap="square" lIns="0" tIns="0" rIns="0" bIns="0" rtlCol="0" anchor="ctr"/>
          <a:lstStyle/>
          <a:p>
            <a:pPr marL="0" indent="0" algn="ctr">
              <a:buNone/>
            </a:pPr>
            <a:r>
              <a:rPr lang="en-US" sz="4400" b="1" dirty="0">
                <a:solidFill>
                  <a:srgbClr val="111827"/>
                </a:solidFill>
                <a:latin typeface="Noto Sans KR" pitchFamily="34" charset="0"/>
                <a:ea typeface="Noto Sans KR" pitchFamily="34" charset="-122"/>
                <a:cs typeface="Noto Sans KR" pitchFamily="34" charset="-120"/>
              </a:rPr>
              <a:t>국내 섹터 ETF 포트폴리오 최적화</a:t>
            </a:r>
            <a:endParaRPr lang="en-US" sz="4400" dirty="0"/>
          </a:p>
        </p:txBody>
      </p:sp>
      <p:sp>
        <p:nvSpPr>
          <p:cNvPr id="22" name="Text 16"/>
          <p:cNvSpPr txBox="1"/>
          <p:nvPr/>
        </p:nvSpPr>
        <p:spPr>
          <a:xfrm>
            <a:off x="2561844" y="3296869"/>
            <a:ext cx="7068312" cy="438912"/>
          </a:xfrm>
          <a:prstGeom prst="rect">
            <a:avLst/>
          </a:prstGeom>
          <a:noFill/>
          <a:ln/>
        </p:spPr>
        <p:txBody>
          <a:bodyPr wrap="square" lIns="0" tIns="0" rIns="0" bIns="0" rtlCol="0" anchor="ctr"/>
          <a:lstStyle/>
          <a:p>
            <a:pPr marL="0" indent="0" algn="ctr">
              <a:buNone/>
            </a:pPr>
            <a:r>
              <a:rPr lang="en-US" sz="2400" dirty="0">
                <a:solidFill>
                  <a:srgbClr val="4B5563"/>
                </a:solidFill>
                <a:latin typeface="Noto Sans KR" pitchFamily="34" charset="0"/>
                <a:ea typeface="Noto Sans KR" pitchFamily="34" charset="-122"/>
                <a:cs typeface="Noto Sans KR" pitchFamily="34" charset="-120"/>
              </a:rPr>
              <a:t>PPO + LSTM을 이용한 섹터 로테이션 및 리밸런싱 전략</a:t>
            </a:r>
            <a:endParaRPr lang="en-US" sz="2400" dirty="0"/>
          </a:p>
        </p:txBody>
      </p:sp>
      <p:sp>
        <p:nvSpPr>
          <p:cNvPr id="24" name="Text 18"/>
          <p:cNvSpPr txBox="1"/>
          <p:nvPr/>
        </p:nvSpPr>
        <p:spPr>
          <a:xfrm>
            <a:off x="4438498" y="4803343"/>
            <a:ext cx="2839212" cy="333756"/>
          </a:xfrm>
          <a:prstGeom prst="rect">
            <a:avLst/>
          </a:prstGeom>
          <a:noFill/>
          <a:ln/>
        </p:spPr>
        <p:txBody>
          <a:bodyPr wrap="square" lIns="0" tIns="0" rIns="0" bIns="0" rtlCol="0" anchor="ctr"/>
          <a:lstStyle>
            <a:lvl1pPr indent="0">
              <a:buNone/>
              <a:defRPr>
                <a:solidFill>
                  <a:srgbClr val="374151"/>
                </a:solidFill>
                <a:latin typeface="Noto Sans KR" pitchFamily="34" charset="0"/>
                <a:ea typeface="Noto Sans KR" pitchFamily="34" charset="-122"/>
                <a:cs typeface="Noto Sans KR" pitchFamily="34" charset="-120"/>
              </a:defRPr>
            </a:lvl1pPr>
          </a:lstStyle>
          <a:p>
            <a:r>
              <a:rPr lang="en-US" sz="1600"/>
              <a:t>A70083 / 임보라</a:t>
            </a:r>
            <a:endParaRPr lang="en-US" sz="1600" dirty="0"/>
          </a:p>
        </p:txBody>
      </p:sp>
      <p:sp>
        <p:nvSpPr>
          <p:cNvPr id="25" name="Text 19"/>
          <p:cNvSpPr txBox="1"/>
          <p:nvPr/>
        </p:nvSpPr>
        <p:spPr>
          <a:xfrm>
            <a:off x="4438498" y="5384902"/>
            <a:ext cx="5400446" cy="333756"/>
          </a:xfrm>
          <a:prstGeom prst="rect">
            <a:avLst/>
          </a:prstGeom>
          <a:noFill/>
          <a:ln/>
        </p:spPr>
        <p:txBody>
          <a:bodyPr wrap="square" lIns="0" tIns="0" rIns="0" bIns="0" rtlCol="0" anchor="ctr"/>
          <a:lstStyle>
            <a:lvl1pPr indent="0">
              <a:buNone/>
              <a:defRPr>
                <a:solidFill>
                  <a:srgbClr val="374151"/>
                </a:solidFill>
                <a:latin typeface="Noto Sans KR" pitchFamily="34" charset="0"/>
                <a:ea typeface="Noto Sans KR" pitchFamily="34" charset="-122"/>
                <a:cs typeface="Noto Sans KR" pitchFamily="34" charset="-120"/>
              </a:defRPr>
            </a:lvl1pPr>
          </a:lstStyle>
          <a:p>
            <a:r>
              <a:rPr lang="en-US" sz="1600" dirty="0"/>
              <a:t>https://</a:t>
            </a:r>
            <a:r>
              <a:rPr lang="en-US" sz="1600" dirty="0" err="1"/>
              <a:t>github.com</a:t>
            </a:r>
            <a:r>
              <a:rPr lang="en-US" sz="1600" dirty="0"/>
              <a:t>/</a:t>
            </a:r>
            <a:r>
              <a:rPr lang="en-US" sz="1600" dirty="0" err="1"/>
              <a:t>boraelle</a:t>
            </a:r>
            <a:r>
              <a:rPr lang="en-US" sz="1600" dirty="0"/>
              <a:t>/</a:t>
            </a:r>
            <a:r>
              <a:rPr lang="en-US" sz="1600" dirty="0" err="1"/>
              <a:t>RL_prj_stock_portfolio</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8" name="Text 6"/>
          <p:cNvSpPr txBox="1"/>
          <p:nvPr/>
        </p:nvSpPr>
        <p:spPr>
          <a:xfrm>
            <a:off x="571500" y="204664"/>
            <a:ext cx="3391510" cy="514807"/>
          </a:xfrm>
          <a:prstGeom prst="rect">
            <a:avLst/>
          </a:prstGeom>
          <a:noFill/>
          <a:ln/>
        </p:spPr>
        <p:txBody>
          <a:bodyPr wrap="square" lIns="0" tIns="0" rIns="0" bIns="0" rtlCol="0" anchor="ctr"/>
          <a:lstStyle/>
          <a:p>
            <a:pPr marL="0" indent="0" algn="l">
              <a:buNone/>
            </a:pPr>
            <a:r>
              <a:rPr lang="en-US" sz="2400" b="1" dirty="0">
                <a:solidFill>
                  <a:srgbClr val="111827"/>
                </a:solidFill>
                <a:latin typeface="Noto Sans KR" pitchFamily="34" charset="0"/>
                <a:ea typeface="Noto Sans KR" pitchFamily="34" charset="-122"/>
                <a:cs typeface="Noto Sans KR" pitchFamily="34" charset="-120"/>
              </a:rPr>
              <a:t>프로젝트 개요 및 목표</a:t>
            </a:r>
            <a:endParaRPr lang="en-US" sz="2400" dirty="0"/>
          </a:p>
        </p:txBody>
      </p:sp>
      <p:sp>
        <p:nvSpPr>
          <p:cNvPr id="10" name="Shape 8"/>
          <p:cNvSpPr/>
          <p:nvPr/>
        </p:nvSpPr>
        <p:spPr>
          <a:xfrm>
            <a:off x="571500" y="879947"/>
            <a:ext cx="10668305" cy="1367028"/>
          </a:xfrm>
          <a:prstGeom prst="roundRect">
            <a:avLst>
              <a:gd name="adj" fmla="val 5379"/>
            </a:avLst>
          </a:prstGeom>
          <a:solidFill>
            <a:srgbClr val="F9FAFB"/>
          </a:solidFill>
          <a:ln/>
          <a:effectLst>
            <a:outerShdw blurRad="63500" dist="38100" dir="5400000" algn="bl" rotWithShape="0">
              <a:srgbClr val="000000">
                <a:alpha val="5000"/>
              </a:srgbClr>
            </a:outerShdw>
          </a:effectLst>
        </p:spPr>
      </p:sp>
      <p:sp>
        <p:nvSpPr>
          <p:cNvPr id="11" name="Shape 9"/>
          <p:cNvSpPr/>
          <p:nvPr/>
        </p:nvSpPr>
        <p:spPr>
          <a:xfrm>
            <a:off x="571500" y="879947"/>
            <a:ext cx="57607" cy="1367028"/>
          </a:xfrm>
          <a:prstGeom prst="rect">
            <a:avLst/>
          </a:prstGeom>
          <a:solidFill>
            <a:srgbClr val="2563EB"/>
          </a:solidFill>
          <a:ln/>
        </p:spPr>
      </p:sp>
      <p:pic>
        <p:nvPicPr>
          <p:cNvPr id="12" name="Image 0" descr="preencoded.png"/>
          <p:cNvPicPr>
            <a:picLocks noChangeAspect="1"/>
          </p:cNvPicPr>
          <p:nvPr/>
        </p:nvPicPr>
        <p:blipFill>
          <a:blip r:embed="rId3"/>
          <a:srcRect/>
          <a:stretch/>
        </p:blipFill>
        <p:spPr>
          <a:xfrm>
            <a:off x="914400" y="1107465"/>
            <a:ext cx="228600" cy="228600"/>
          </a:xfrm>
          <a:prstGeom prst="rect">
            <a:avLst/>
          </a:prstGeom>
        </p:spPr>
      </p:pic>
      <p:sp>
        <p:nvSpPr>
          <p:cNvPr id="13" name="Text 10"/>
          <p:cNvSpPr txBox="1"/>
          <p:nvPr/>
        </p:nvSpPr>
        <p:spPr>
          <a:xfrm>
            <a:off x="1239012" y="1050772"/>
            <a:ext cx="1086307" cy="333756"/>
          </a:xfrm>
          <a:prstGeom prst="rect">
            <a:avLst/>
          </a:prstGeom>
          <a:noFill/>
          <a:ln/>
        </p:spPr>
        <p:txBody>
          <a:bodyPr wrap="square" lIns="0" tIns="0" rIns="0" bIns="0" rtlCol="0" anchor="ctr"/>
          <a:lstStyle/>
          <a:p>
            <a:pPr marL="0" indent="0" algn="l">
              <a:buNone/>
            </a:pPr>
            <a:r>
              <a:rPr lang="en-US" sz="1800" b="1" dirty="0">
                <a:solidFill>
                  <a:srgbClr val="1F2937"/>
                </a:solidFill>
                <a:latin typeface="Noto Sans KR" pitchFamily="34" charset="0"/>
                <a:ea typeface="Noto Sans KR" pitchFamily="34" charset="-122"/>
                <a:cs typeface="Noto Sans KR" pitchFamily="34" charset="-120"/>
              </a:rPr>
              <a:t>문제 정의</a:t>
            </a:r>
            <a:endParaRPr lang="en-US" sz="1800" dirty="0"/>
          </a:p>
        </p:txBody>
      </p:sp>
      <p:sp>
        <p:nvSpPr>
          <p:cNvPr id="14" name="Text 11"/>
          <p:cNvSpPr txBox="1"/>
          <p:nvPr/>
        </p:nvSpPr>
        <p:spPr>
          <a:xfrm>
            <a:off x="914400" y="1545462"/>
            <a:ext cx="9948672" cy="523951"/>
          </a:xfrm>
          <a:prstGeom prst="rect">
            <a:avLst/>
          </a:prstGeom>
          <a:noFill/>
          <a:ln/>
        </p:spPr>
        <p:txBody>
          <a:bodyPr wrap="square" lIns="0" tIns="0" rIns="0" bIns="0" rtlCol="0" anchor="ctr"/>
          <a:lstStyle/>
          <a:p>
            <a:pPr marL="171450" indent="-171450" algn="l">
              <a:buFont typeface="Arial" panose="020B0604020202020204" pitchFamily="34" charset="0"/>
              <a:buChar char="•"/>
            </a:pPr>
            <a:r>
              <a:rPr lang="en-US" sz="1200" dirty="0">
                <a:solidFill>
                  <a:srgbClr val="4B5563"/>
                </a:solidFill>
                <a:latin typeface="Noto Sans KR" pitchFamily="34" charset="0"/>
                <a:ea typeface="Noto Sans KR" pitchFamily="34" charset="-122"/>
                <a:cs typeface="Noto Sans KR" pitchFamily="34" charset="-120"/>
              </a:rPr>
              <a:t>국내 섹터 ETF 12종과 현금을 대상으로 </a:t>
            </a:r>
            <a:r>
              <a:rPr lang="en-US" sz="1200" dirty="0" err="1">
                <a:solidFill>
                  <a:srgbClr val="4B5563"/>
                </a:solidFill>
                <a:latin typeface="Noto Sans KR" pitchFamily="34" charset="0"/>
                <a:ea typeface="Noto Sans KR" pitchFamily="34" charset="-122"/>
                <a:cs typeface="Noto Sans KR" pitchFamily="34" charset="-120"/>
              </a:rPr>
              <a:t>하는</a:t>
            </a:r>
            <a:r>
              <a:rPr lang="en-US" sz="1200" dirty="0">
                <a:solidFill>
                  <a:srgbClr val="4B5563"/>
                </a:solidFill>
                <a:latin typeface="Noto Sans KR" pitchFamily="34" charset="0"/>
                <a:ea typeface="Noto Sans KR" pitchFamily="34" charset="-122"/>
                <a:cs typeface="Noto Sans KR" pitchFamily="34" charset="-120"/>
              </a:rPr>
              <a:t> </a:t>
            </a:r>
            <a:r>
              <a:rPr lang="en-US" sz="1200" dirty="0" err="1">
                <a:solidFill>
                  <a:srgbClr val="4B5563"/>
                </a:solidFill>
                <a:latin typeface="Noto Sans KR" pitchFamily="34" charset="0"/>
                <a:ea typeface="Noto Sans KR" pitchFamily="34" charset="-122"/>
                <a:cs typeface="Noto Sans KR" pitchFamily="34" charset="-120"/>
              </a:rPr>
              <a:t>주식</a:t>
            </a:r>
            <a:r>
              <a:rPr lang="en-US" sz="1200" dirty="0">
                <a:solidFill>
                  <a:srgbClr val="4B5563"/>
                </a:solidFill>
                <a:latin typeface="Noto Sans KR" pitchFamily="34" charset="0"/>
                <a:ea typeface="Noto Sans KR" pitchFamily="34" charset="-122"/>
                <a:cs typeface="Noto Sans KR" pitchFamily="34" charset="-120"/>
              </a:rPr>
              <a:t> </a:t>
            </a:r>
            <a:r>
              <a:rPr lang="en-US" sz="1200" dirty="0" err="1">
                <a:solidFill>
                  <a:srgbClr val="4B5563"/>
                </a:solidFill>
                <a:latin typeface="Noto Sans KR" pitchFamily="34" charset="0"/>
                <a:ea typeface="Noto Sans KR" pitchFamily="34" charset="-122"/>
                <a:cs typeface="Noto Sans KR" pitchFamily="34" charset="-120"/>
              </a:rPr>
              <a:t>포트폴리오</a:t>
            </a:r>
            <a:r>
              <a:rPr lang="en-US" sz="1200" dirty="0">
                <a:solidFill>
                  <a:srgbClr val="4B5563"/>
                </a:solidFill>
                <a:latin typeface="Noto Sans KR" pitchFamily="34" charset="0"/>
                <a:ea typeface="Noto Sans KR" pitchFamily="34" charset="-122"/>
                <a:cs typeface="Noto Sans KR" pitchFamily="34" charset="-120"/>
              </a:rPr>
              <a:t> </a:t>
            </a:r>
            <a:r>
              <a:rPr lang="en-US" sz="1200" dirty="0" err="1">
                <a:solidFill>
                  <a:srgbClr val="4B5563"/>
                </a:solidFill>
                <a:latin typeface="Noto Sans KR" pitchFamily="34" charset="0"/>
                <a:ea typeface="Noto Sans KR" pitchFamily="34" charset="-122"/>
                <a:cs typeface="Noto Sans KR" pitchFamily="34" charset="-120"/>
              </a:rPr>
              <a:t>최적화</a:t>
            </a:r>
            <a:r>
              <a:rPr lang="en-US" sz="1200" dirty="0">
                <a:solidFill>
                  <a:srgbClr val="4B5563"/>
                </a:solidFill>
                <a:latin typeface="Noto Sans KR" pitchFamily="34" charset="0"/>
                <a:ea typeface="Noto Sans KR" pitchFamily="34" charset="-122"/>
                <a:cs typeface="Noto Sans KR" pitchFamily="34" charset="-120"/>
              </a:rPr>
              <a:t> </a:t>
            </a:r>
            <a:r>
              <a:rPr lang="en-US" sz="1200" dirty="0" err="1">
                <a:solidFill>
                  <a:srgbClr val="4B5563"/>
                </a:solidFill>
                <a:latin typeface="Noto Sans KR" pitchFamily="34" charset="0"/>
                <a:ea typeface="Noto Sans KR" pitchFamily="34" charset="-122"/>
                <a:cs typeface="Noto Sans KR" pitchFamily="34" charset="-120"/>
              </a:rPr>
              <a:t>문제</a:t>
            </a:r>
            <a:endParaRPr lang="en-US" sz="1200" dirty="0">
              <a:solidFill>
                <a:srgbClr val="4B5563"/>
              </a:solidFill>
              <a:latin typeface="Noto Sans KR" pitchFamily="34" charset="0"/>
              <a:ea typeface="Noto Sans KR" pitchFamily="34" charset="-122"/>
              <a:cs typeface="Noto Sans KR" pitchFamily="34" charset="-120"/>
            </a:endParaRPr>
          </a:p>
          <a:p>
            <a:pPr marL="171450" indent="-171450" algn="l">
              <a:buFont typeface="Arial" panose="020B0604020202020204" pitchFamily="34" charset="0"/>
              <a:buChar char="•"/>
            </a:pPr>
            <a:r>
              <a:rPr lang="en-US" sz="1200" dirty="0" err="1">
                <a:solidFill>
                  <a:srgbClr val="4B5563"/>
                </a:solidFill>
                <a:latin typeface="Noto Sans KR" pitchFamily="34" charset="0"/>
                <a:ea typeface="Noto Sans KR" pitchFamily="34" charset="-122"/>
                <a:cs typeface="Noto Sans KR" pitchFamily="34" charset="-120"/>
              </a:rPr>
              <a:t>시장의</a:t>
            </a:r>
            <a:r>
              <a:rPr lang="en-US" sz="1200" dirty="0">
                <a:solidFill>
                  <a:srgbClr val="4B5563"/>
                </a:solidFill>
                <a:latin typeface="Noto Sans KR" pitchFamily="34" charset="0"/>
                <a:ea typeface="Noto Sans KR" pitchFamily="34" charset="-122"/>
                <a:cs typeface="Noto Sans KR" pitchFamily="34" charset="-120"/>
              </a:rPr>
              <a:t> 변동성에 대응하여 매일 자산 비중을 조절(Daily Rebalancing)함으로써, 리스크를 관리하면서도 시장 대비 초과 수익을 달성하는 </a:t>
            </a:r>
            <a:r>
              <a:rPr lang="en-US" sz="1200" dirty="0" err="1">
                <a:solidFill>
                  <a:srgbClr val="4B5563"/>
                </a:solidFill>
                <a:latin typeface="Noto Sans KR" pitchFamily="34" charset="0"/>
                <a:ea typeface="Noto Sans KR" pitchFamily="34" charset="-122"/>
                <a:cs typeface="Noto Sans KR" pitchFamily="34" charset="-120"/>
              </a:rPr>
              <a:t>것을</a:t>
            </a:r>
            <a:r>
              <a:rPr lang="en-US" sz="1200" dirty="0">
                <a:solidFill>
                  <a:srgbClr val="4B5563"/>
                </a:solidFill>
                <a:latin typeface="Noto Sans KR" pitchFamily="34" charset="0"/>
                <a:ea typeface="Noto Sans KR" pitchFamily="34" charset="-122"/>
                <a:cs typeface="Noto Sans KR" pitchFamily="34" charset="-120"/>
              </a:rPr>
              <a:t> </a:t>
            </a:r>
            <a:r>
              <a:rPr lang="en-US" sz="1200" dirty="0" err="1">
                <a:solidFill>
                  <a:srgbClr val="4B5563"/>
                </a:solidFill>
                <a:latin typeface="Noto Sans KR" pitchFamily="34" charset="0"/>
                <a:ea typeface="Noto Sans KR" pitchFamily="34" charset="-122"/>
                <a:cs typeface="Noto Sans KR" pitchFamily="34" charset="-120"/>
              </a:rPr>
              <a:t>목표로</a:t>
            </a:r>
            <a:r>
              <a:rPr lang="en-US" sz="1200" dirty="0">
                <a:solidFill>
                  <a:srgbClr val="4B5563"/>
                </a:solidFill>
                <a:latin typeface="Noto Sans KR" pitchFamily="34" charset="0"/>
                <a:ea typeface="Noto Sans KR" pitchFamily="34" charset="-122"/>
                <a:cs typeface="Noto Sans KR" pitchFamily="34" charset="-120"/>
              </a:rPr>
              <a:t> </a:t>
            </a:r>
            <a:r>
              <a:rPr lang="en-US" sz="1200" dirty="0" err="1">
                <a:solidFill>
                  <a:srgbClr val="4B5563"/>
                </a:solidFill>
                <a:latin typeface="Noto Sans KR" pitchFamily="34" charset="0"/>
                <a:ea typeface="Noto Sans KR" pitchFamily="34" charset="-122"/>
                <a:cs typeface="Noto Sans KR" pitchFamily="34" charset="-120"/>
              </a:rPr>
              <a:t>함</a:t>
            </a:r>
            <a:endParaRPr lang="en-US" sz="1200" dirty="0"/>
          </a:p>
        </p:txBody>
      </p:sp>
      <p:sp>
        <p:nvSpPr>
          <p:cNvPr id="15" name="Shape 12"/>
          <p:cNvSpPr/>
          <p:nvPr/>
        </p:nvSpPr>
        <p:spPr>
          <a:xfrm>
            <a:off x="571500" y="2474493"/>
            <a:ext cx="10668305" cy="1795134"/>
          </a:xfrm>
          <a:prstGeom prst="roundRect">
            <a:avLst>
              <a:gd name="adj" fmla="val 2734"/>
            </a:avLst>
          </a:prstGeom>
          <a:solidFill>
            <a:srgbClr val="F9FAFB"/>
          </a:solidFill>
          <a:ln/>
          <a:effectLst>
            <a:outerShdw blurRad="63500" dist="38100" dir="5400000" algn="bl" rotWithShape="0">
              <a:srgbClr val="000000">
                <a:alpha val="5000"/>
              </a:srgbClr>
            </a:outerShdw>
          </a:effectLst>
        </p:spPr>
      </p:sp>
      <p:sp>
        <p:nvSpPr>
          <p:cNvPr id="16" name="Shape 13"/>
          <p:cNvSpPr/>
          <p:nvPr/>
        </p:nvSpPr>
        <p:spPr>
          <a:xfrm>
            <a:off x="571500" y="2474493"/>
            <a:ext cx="57607" cy="1795134"/>
          </a:xfrm>
          <a:prstGeom prst="rect">
            <a:avLst/>
          </a:prstGeom>
          <a:solidFill>
            <a:srgbClr val="10B981"/>
          </a:solidFill>
          <a:ln/>
        </p:spPr>
      </p:sp>
      <p:pic>
        <p:nvPicPr>
          <p:cNvPr id="17" name="Image 1" descr="preencoded.png"/>
          <p:cNvPicPr>
            <a:picLocks noChangeAspect="1"/>
          </p:cNvPicPr>
          <p:nvPr/>
        </p:nvPicPr>
        <p:blipFill>
          <a:blip r:embed="rId4"/>
          <a:srcRect l="-57" r="-57"/>
          <a:stretch/>
        </p:blipFill>
        <p:spPr>
          <a:xfrm>
            <a:off x="914400" y="2731149"/>
            <a:ext cx="200254" cy="228600"/>
          </a:xfrm>
          <a:prstGeom prst="rect">
            <a:avLst/>
          </a:prstGeom>
        </p:spPr>
      </p:pic>
      <p:sp>
        <p:nvSpPr>
          <p:cNvPr id="18" name="Text 14"/>
          <p:cNvSpPr txBox="1"/>
          <p:nvPr/>
        </p:nvSpPr>
        <p:spPr>
          <a:xfrm>
            <a:off x="1209751" y="2674456"/>
            <a:ext cx="1562710" cy="333756"/>
          </a:xfrm>
          <a:prstGeom prst="rect">
            <a:avLst/>
          </a:prstGeom>
          <a:noFill/>
          <a:ln/>
        </p:spPr>
        <p:txBody>
          <a:bodyPr wrap="square" lIns="0" tIns="0" rIns="0" bIns="0" rtlCol="0" anchor="ctr"/>
          <a:lstStyle/>
          <a:p>
            <a:pPr marL="0" indent="0" algn="l">
              <a:buNone/>
            </a:pPr>
            <a:r>
              <a:rPr lang="en-US" sz="1800" b="1" dirty="0">
                <a:solidFill>
                  <a:srgbClr val="1F2937"/>
                </a:solidFill>
                <a:latin typeface="Noto Sans KR" pitchFamily="34" charset="0"/>
                <a:ea typeface="Noto Sans KR" pitchFamily="34" charset="-122"/>
                <a:cs typeface="Noto Sans KR" pitchFamily="34" charset="-120"/>
              </a:rPr>
              <a:t>핵심 목표 수치</a:t>
            </a:r>
            <a:endParaRPr lang="en-US" sz="1800" dirty="0"/>
          </a:p>
        </p:txBody>
      </p:sp>
      <p:sp>
        <p:nvSpPr>
          <p:cNvPr id="19" name="Shape 15"/>
          <p:cNvSpPr/>
          <p:nvPr/>
        </p:nvSpPr>
        <p:spPr>
          <a:xfrm>
            <a:off x="914400" y="3143833"/>
            <a:ext cx="3219602" cy="925247"/>
          </a:xfrm>
          <a:prstGeom prst="roundRect">
            <a:avLst>
              <a:gd name="adj" fmla="val 7871"/>
            </a:avLst>
          </a:prstGeom>
          <a:solidFill>
            <a:srgbClr val="FFFFFF"/>
          </a:solidFill>
          <a:ln w="12700">
            <a:solidFill>
              <a:srgbClr val="E5E7EB"/>
            </a:solidFill>
            <a:prstDash val="solid"/>
          </a:ln>
        </p:spPr>
      </p:sp>
      <p:sp>
        <p:nvSpPr>
          <p:cNvPr id="20" name="Text 16"/>
          <p:cNvSpPr txBox="1"/>
          <p:nvPr/>
        </p:nvSpPr>
        <p:spPr>
          <a:xfrm>
            <a:off x="2052828" y="3223175"/>
            <a:ext cx="1067105" cy="228600"/>
          </a:xfrm>
          <a:prstGeom prst="rect">
            <a:avLst/>
          </a:prstGeom>
          <a:noFill/>
          <a:ln/>
        </p:spPr>
        <p:txBody>
          <a:bodyPr wrap="square" lIns="0" tIns="0" rIns="0" bIns="0" rtlCol="0" anchor="ctr"/>
          <a:lstStyle/>
          <a:p>
            <a:pPr marL="0" indent="0" algn="ctr">
              <a:buNone/>
            </a:pPr>
            <a:r>
              <a:rPr lang="en-US" sz="1200" dirty="0">
                <a:solidFill>
                  <a:srgbClr val="6B7280"/>
                </a:solidFill>
                <a:latin typeface="Noto Sans KR" pitchFamily="34" charset="0"/>
                <a:ea typeface="Noto Sans KR" pitchFamily="34" charset="-122"/>
                <a:cs typeface="Noto Sans KR" pitchFamily="34" charset="-120"/>
              </a:rPr>
              <a:t>Sharpe Ratio</a:t>
            </a:r>
            <a:endParaRPr lang="en-US" sz="1200" dirty="0"/>
          </a:p>
        </p:txBody>
      </p:sp>
      <p:sp>
        <p:nvSpPr>
          <p:cNvPr id="21" name="Text 17"/>
          <p:cNvSpPr txBox="1"/>
          <p:nvPr/>
        </p:nvSpPr>
        <p:spPr>
          <a:xfrm>
            <a:off x="2151583" y="3561503"/>
            <a:ext cx="952805" cy="381305"/>
          </a:xfrm>
          <a:prstGeom prst="rect">
            <a:avLst/>
          </a:prstGeom>
          <a:noFill/>
          <a:ln/>
        </p:spPr>
        <p:txBody>
          <a:bodyPr wrap="square" lIns="0" tIns="0" rIns="0" bIns="0" rtlCol="0" anchor="ctr"/>
          <a:lstStyle/>
          <a:p>
            <a:pPr marL="0" indent="0" algn="ctr">
              <a:buNone/>
            </a:pPr>
            <a:r>
              <a:rPr lang="en-US" sz="2100" b="1" dirty="0">
                <a:solidFill>
                  <a:srgbClr val="2563EB"/>
                </a:solidFill>
                <a:latin typeface="Noto Sans KR" pitchFamily="34" charset="0"/>
                <a:ea typeface="Noto Sans KR" pitchFamily="34" charset="-122"/>
                <a:cs typeface="Noto Sans KR" pitchFamily="34" charset="-120"/>
              </a:rPr>
              <a:t>≥ 1.5</a:t>
            </a:r>
            <a:endParaRPr lang="en-US" sz="2100" dirty="0"/>
          </a:p>
        </p:txBody>
      </p:sp>
      <p:sp>
        <p:nvSpPr>
          <p:cNvPr id="22" name="Shape 18"/>
          <p:cNvSpPr/>
          <p:nvPr/>
        </p:nvSpPr>
        <p:spPr>
          <a:xfrm>
            <a:off x="4325112" y="3143833"/>
            <a:ext cx="3219602" cy="925247"/>
          </a:xfrm>
          <a:prstGeom prst="roundRect">
            <a:avLst>
              <a:gd name="adj" fmla="val 7871"/>
            </a:avLst>
          </a:prstGeom>
          <a:solidFill>
            <a:srgbClr val="FFFFFF"/>
          </a:solidFill>
          <a:ln w="12700">
            <a:solidFill>
              <a:srgbClr val="E5E7EB"/>
            </a:solidFill>
            <a:prstDash val="solid"/>
          </a:ln>
        </p:spPr>
      </p:sp>
      <p:sp>
        <p:nvSpPr>
          <p:cNvPr id="23" name="Text 19"/>
          <p:cNvSpPr txBox="1"/>
          <p:nvPr/>
        </p:nvSpPr>
        <p:spPr>
          <a:xfrm>
            <a:off x="5492801" y="3223175"/>
            <a:ext cx="1000354" cy="228600"/>
          </a:xfrm>
          <a:prstGeom prst="rect">
            <a:avLst/>
          </a:prstGeom>
          <a:noFill/>
          <a:ln/>
        </p:spPr>
        <p:txBody>
          <a:bodyPr wrap="square" lIns="0" tIns="0" rIns="0" bIns="0" rtlCol="0" anchor="ctr"/>
          <a:lstStyle/>
          <a:p>
            <a:pPr marL="0" indent="0" algn="ctr">
              <a:buNone/>
            </a:pPr>
            <a:r>
              <a:rPr lang="en-US" sz="1200" dirty="0">
                <a:solidFill>
                  <a:srgbClr val="6B7280"/>
                </a:solidFill>
                <a:latin typeface="Noto Sans KR" pitchFamily="34" charset="0"/>
                <a:ea typeface="Noto Sans KR" pitchFamily="34" charset="-122"/>
                <a:cs typeface="Noto Sans KR" pitchFamily="34" charset="-120"/>
              </a:rPr>
              <a:t>연환산 수익률</a:t>
            </a:r>
            <a:endParaRPr lang="en-US" sz="1200" dirty="0"/>
          </a:p>
        </p:txBody>
      </p:sp>
      <p:sp>
        <p:nvSpPr>
          <p:cNvPr id="24" name="Text 20"/>
          <p:cNvSpPr txBox="1"/>
          <p:nvPr/>
        </p:nvSpPr>
        <p:spPr>
          <a:xfrm>
            <a:off x="5476342" y="3561503"/>
            <a:ext cx="1124712" cy="381305"/>
          </a:xfrm>
          <a:prstGeom prst="rect">
            <a:avLst/>
          </a:prstGeom>
          <a:noFill/>
          <a:ln/>
        </p:spPr>
        <p:txBody>
          <a:bodyPr wrap="square" lIns="0" tIns="0" rIns="0" bIns="0" rtlCol="0" anchor="ctr"/>
          <a:lstStyle/>
          <a:p>
            <a:pPr marL="0" indent="0" algn="ctr">
              <a:buNone/>
            </a:pPr>
            <a:r>
              <a:rPr lang="en-US" sz="2100" b="1" dirty="0">
                <a:solidFill>
                  <a:srgbClr val="2563EB"/>
                </a:solidFill>
                <a:latin typeface="Noto Sans KR" pitchFamily="34" charset="0"/>
                <a:ea typeface="Noto Sans KR" pitchFamily="34" charset="-122"/>
                <a:cs typeface="Noto Sans KR" pitchFamily="34" charset="-120"/>
              </a:rPr>
              <a:t>≥ 30%</a:t>
            </a:r>
            <a:endParaRPr lang="en-US" sz="2100" dirty="0"/>
          </a:p>
        </p:txBody>
      </p:sp>
      <p:sp>
        <p:nvSpPr>
          <p:cNvPr id="25" name="Shape 21"/>
          <p:cNvSpPr/>
          <p:nvPr/>
        </p:nvSpPr>
        <p:spPr>
          <a:xfrm>
            <a:off x="7734910" y="3143833"/>
            <a:ext cx="3219602" cy="925247"/>
          </a:xfrm>
          <a:prstGeom prst="roundRect">
            <a:avLst>
              <a:gd name="adj" fmla="val 7871"/>
            </a:avLst>
          </a:prstGeom>
          <a:solidFill>
            <a:srgbClr val="FFFFFF"/>
          </a:solidFill>
          <a:ln w="12700">
            <a:solidFill>
              <a:srgbClr val="E5E7EB"/>
            </a:solidFill>
            <a:prstDash val="solid"/>
          </a:ln>
        </p:spPr>
      </p:sp>
      <p:sp>
        <p:nvSpPr>
          <p:cNvPr id="26" name="Text 22"/>
          <p:cNvSpPr txBox="1"/>
          <p:nvPr/>
        </p:nvSpPr>
        <p:spPr>
          <a:xfrm>
            <a:off x="8782812" y="3223175"/>
            <a:ext cx="1239012" cy="228600"/>
          </a:xfrm>
          <a:prstGeom prst="rect">
            <a:avLst/>
          </a:prstGeom>
          <a:noFill/>
          <a:ln/>
        </p:spPr>
        <p:txBody>
          <a:bodyPr wrap="square" lIns="0" tIns="0" rIns="0" bIns="0" rtlCol="0" anchor="ctr"/>
          <a:lstStyle/>
          <a:p>
            <a:pPr marL="0" indent="0" algn="ctr">
              <a:buNone/>
            </a:pPr>
            <a:r>
              <a:rPr lang="en-US" sz="1200" dirty="0">
                <a:solidFill>
                  <a:srgbClr val="6B7280"/>
                </a:solidFill>
                <a:latin typeface="Noto Sans KR" pitchFamily="34" charset="0"/>
                <a:ea typeface="Noto Sans KR" pitchFamily="34" charset="-122"/>
                <a:cs typeface="Noto Sans KR" pitchFamily="34" charset="-120"/>
              </a:rPr>
              <a:t>Max Drawdown</a:t>
            </a:r>
            <a:endParaRPr lang="en-US" sz="1200" dirty="0"/>
          </a:p>
        </p:txBody>
      </p:sp>
      <p:sp>
        <p:nvSpPr>
          <p:cNvPr id="27" name="Text 23"/>
          <p:cNvSpPr txBox="1"/>
          <p:nvPr/>
        </p:nvSpPr>
        <p:spPr>
          <a:xfrm>
            <a:off x="8834933" y="3561503"/>
            <a:ext cx="1219810" cy="381305"/>
          </a:xfrm>
          <a:prstGeom prst="rect">
            <a:avLst/>
          </a:prstGeom>
          <a:noFill/>
          <a:ln/>
        </p:spPr>
        <p:txBody>
          <a:bodyPr wrap="square" lIns="0" tIns="0" rIns="0" bIns="0" rtlCol="0" anchor="ctr"/>
          <a:lstStyle/>
          <a:p>
            <a:pPr marL="0" indent="0" algn="ctr">
              <a:buNone/>
            </a:pPr>
            <a:r>
              <a:rPr lang="en-US" sz="2100" b="1" dirty="0">
                <a:solidFill>
                  <a:srgbClr val="2563EB"/>
                </a:solidFill>
                <a:latin typeface="Noto Sans KR" pitchFamily="34" charset="0"/>
                <a:ea typeface="Noto Sans KR" pitchFamily="34" charset="-122"/>
                <a:cs typeface="Noto Sans KR" pitchFamily="34" charset="-120"/>
              </a:rPr>
              <a:t>≤ -15%</a:t>
            </a:r>
            <a:endParaRPr lang="en-US" sz="2100" dirty="0"/>
          </a:p>
        </p:txBody>
      </p:sp>
      <p:sp>
        <p:nvSpPr>
          <p:cNvPr id="28" name="Shape 24"/>
          <p:cNvSpPr/>
          <p:nvPr/>
        </p:nvSpPr>
        <p:spPr>
          <a:xfrm>
            <a:off x="571500" y="4500969"/>
            <a:ext cx="10668305" cy="1971446"/>
          </a:xfrm>
          <a:prstGeom prst="roundRect">
            <a:avLst>
              <a:gd name="adj" fmla="val 2805"/>
            </a:avLst>
          </a:prstGeom>
          <a:solidFill>
            <a:srgbClr val="F9FAFB"/>
          </a:solidFill>
          <a:ln/>
          <a:effectLst>
            <a:outerShdw blurRad="63500" dist="38100" dir="5400000" algn="bl" rotWithShape="0">
              <a:srgbClr val="000000">
                <a:alpha val="5000"/>
              </a:srgbClr>
            </a:outerShdw>
          </a:effectLst>
        </p:spPr>
      </p:sp>
      <p:sp>
        <p:nvSpPr>
          <p:cNvPr id="29" name="Shape 25"/>
          <p:cNvSpPr/>
          <p:nvPr/>
        </p:nvSpPr>
        <p:spPr>
          <a:xfrm>
            <a:off x="571500" y="4500969"/>
            <a:ext cx="57607" cy="1971446"/>
          </a:xfrm>
          <a:prstGeom prst="rect">
            <a:avLst/>
          </a:prstGeom>
          <a:solidFill>
            <a:srgbClr val="8B5CF6"/>
          </a:solidFill>
          <a:ln/>
        </p:spPr>
      </p:sp>
      <p:pic>
        <p:nvPicPr>
          <p:cNvPr id="30" name="Image 2" descr="preencoded.png"/>
          <p:cNvPicPr>
            <a:picLocks noChangeAspect="1"/>
          </p:cNvPicPr>
          <p:nvPr/>
        </p:nvPicPr>
        <p:blipFill>
          <a:blip r:embed="rId5"/>
          <a:srcRect/>
          <a:stretch/>
        </p:blipFill>
        <p:spPr>
          <a:xfrm>
            <a:off x="914400" y="4757916"/>
            <a:ext cx="228600" cy="228600"/>
          </a:xfrm>
          <a:prstGeom prst="rect">
            <a:avLst/>
          </a:prstGeom>
        </p:spPr>
      </p:pic>
      <p:sp>
        <p:nvSpPr>
          <p:cNvPr id="31" name="Text 26"/>
          <p:cNvSpPr txBox="1"/>
          <p:nvPr/>
        </p:nvSpPr>
        <p:spPr>
          <a:xfrm>
            <a:off x="1239012" y="4701224"/>
            <a:ext cx="2772461" cy="333756"/>
          </a:xfrm>
          <a:prstGeom prst="rect">
            <a:avLst/>
          </a:prstGeom>
          <a:noFill/>
          <a:ln/>
        </p:spPr>
        <p:txBody>
          <a:bodyPr wrap="square" lIns="0" tIns="0" rIns="0" bIns="0" rtlCol="0" anchor="ctr"/>
          <a:lstStyle/>
          <a:p>
            <a:pPr marL="0" indent="0" algn="l">
              <a:buNone/>
            </a:pPr>
            <a:r>
              <a:rPr lang="en-US" sz="1800" b="1" dirty="0">
                <a:solidFill>
                  <a:srgbClr val="1F2937"/>
                </a:solidFill>
                <a:latin typeface="Noto Sans KR" pitchFamily="34" charset="0"/>
                <a:ea typeface="Noto Sans KR" pitchFamily="34" charset="-122"/>
                <a:cs typeface="Noto Sans KR" pitchFamily="34" charset="-120"/>
              </a:rPr>
              <a:t>해결 접근법: PPO + LSTM</a:t>
            </a:r>
            <a:endParaRPr lang="en-US" sz="1800" dirty="0"/>
          </a:p>
        </p:txBody>
      </p:sp>
      <p:sp>
        <p:nvSpPr>
          <p:cNvPr id="32" name="Text 27"/>
          <p:cNvSpPr txBox="1"/>
          <p:nvPr/>
        </p:nvSpPr>
        <p:spPr>
          <a:xfrm>
            <a:off x="914400" y="5186770"/>
            <a:ext cx="9280703" cy="277063"/>
          </a:xfrm>
          <a:prstGeom prst="rect">
            <a:avLst/>
          </a:prstGeom>
          <a:noFill/>
          <a:ln/>
        </p:spPr>
        <p:txBody>
          <a:bodyPr wrap="square" lIns="0" tIns="0" rIns="0" bIns="0" rtlCol="0" anchor="ctr"/>
          <a:lstStyle/>
          <a:p>
            <a:pPr marL="0" indent="0" algn="l">
              <a:buNone/>
            </a:pPr>
            <a:r>
              <a:rPr lang="en-US" sz="1200" dirty="0">
                <a:solidFill>
                  <a:srgbClr val="4B5563"/>
                </a:solidFill>
                <a:latin typeface="Noto Sans KR" pitchFamily="34" charset="0"/>
                <a:ea typeface="Noto Sans KR" pitchFamily="34" charset="-122"/>
                <a:cs typeface="Noto Sans KR" pitchFamily="34" charset="-120"/>
              </a:rPr>
              <a:t>시계열 특성 학습: LSTM(Long Short-Term Memory) 네트워크를 사용하여 과거 20일간의 가격 및 </a:t>
            </a:r>
            <a:r>
              <a:rPr lang="en-US" sz="1200" dirty="0" err="1">
                <a:solidFill>
                  <a:srgbClr val="4B5563"/>
                </a:solidFill>
                <a:latin typeface="Noto Sans KR" pitchFamily="34" charset="0"/>
                <a:ea typeface="Noto Sans KR" pitchFamily="34" charset="-122"/>
                <a:cs typeface="Noto Sans KR" pitchFamily="34" charset="-120"/>
              </a:rPr>
              <a:t>지표</a:t>
            </a:r>
            <a:r>
              <a:rPr lang="en-US" sz="1200" dirty="0">
                <a:solidFill>
                  <a:srgbClr val="4B5563"/>
                </a:solidFill>
                <a:latin typeface="Noto Sans KR" pitchFamily="34" charset="0"/>
                <a:ea typeface="Noto Sans KR" pitchFamily="34" charset="-122"/>
                <a:cs typeface="Noto Sans KR" pitchFamily="34" charset="-120"/>
              </a:rPr>
              <a:t> </a:t>
            </a:r>
            <a:r>
              <a:rPr lang="en-US" sz="1200" dirty="0" err="1">
                <a:solidFill>
                  <a:srgbClr val="4B5563"/>
                </a:solidFill>
                <a:latin typeface="Noto Sans KR" pitchFamily="34" charset="0"/>
                <a:ea typeface="Noto Sans KR" pitchFamily="34" charset="-122"/>
                <a:cs typeface="Noto Sans KR" pitchFamily="34" charset="-120"/>
              </a:rPr>
              <a:t>패턴</a:t>
            </a:r>
            <a:r>
              <a:rPr lang="en-US" sz="1200" dirty="0">
                <a:solidFill>
                  <a:srgbClr val="4B5563"/>
                </a:solidFill>
                <a:latin typeface="Noto Sans KR" pitchFamily="34" charset="0"/>
                <a:ea typeface="Noto Sans KR" pitchFamily="34" charset="-122"/>
                <a:cs typeface="Noto Sans KR" pitchFamily="34" charset="-120"/>
              </a:rPr>
              <a:t> </a:t>
            </a:r>
            <a:r>
              <a:rPr lang="en-US" sz="1200" dirty="0" err="1">
                <a:solidFill>
                  <a:srgbClr val="4B5563"/>
                </a:solidFill>
                <a:latin typeface="Noto Sans KR" pitchFamily="34" charset="0"/>
                <a:ea typeface="Noto Sans KR" pitchFamily="34" charset="-122"/>
                <a:cs typeface="Noto Sans KR" pitchFamily="34" charset="-120"/>
              </a:rPr>
              <a:t>분석</a:t>
            </a:r>
            <a:endParaRPr lang="en-US" sz="1200" dirty="0"/>
          </a:p>
        </p:txBody>
      </p:sp>
      <p:sp>
        <p:nvSpPr>
          <p:cNvPr id="33" name="Text 28"/>
          <p:cNvSpPr txBox="1"/>
          <p:nvPr/>
        </p:nvSpPr>
        <p:spPr>
          <a:xfrm>
            <a:off x="914399" y="5575390"/>
            <a:ext cx="10415569" cy="277063"/>
          </a:xfrm>
          <a:prstGeom prst="rect">
            <a:avLst/>
          </a:prstGeom>
          <a:noFill/>
          <a:ln/>
        </p:spPr>
        <p:txBody>
          <a:bodyPr wrap="square" lIns="0" tIns="0" rIns="0" bIns="0" rtlCol="0" anchor="ctr"/>
          <a:lstStyle/>
          <a:p>
            <a:pPr marL="0" indent="0" algn="l">
              <a:buNone/>
            </a:pPr>
            <a:r>
              <a:rPr lang="en-US" sz="1200" dirty="0">
                <a:solidFill>
                  <a:srgbClr val="4B5563"/>
                </a:solidFill>
                <a:latin typeface="Noto Sans KR" pitchFamily="34" charset="0"/>
                <a:ea typeface="Noto Sans KR" pitchFamily="34" charset="-122"/>
                <a:cs typeface="Noto Sans KR" pitchFamily="34" charset="-120"/>
              </a:rPr>
              <a:t>안정적인 정책 학습: PPO(Proximal Policy Optimization) 알고리즘을 적용하여 급격한 정책 변화를 방지하고 안정적인 </a:t>
            </a:r>
            <a:r>
              <a:rPr lang="en-US" sz="1200" dirty="0" err="1">
                <a:solidFill>
                  <a:srgbClr val="4B5563"/>
                </a:solidFill>
                <a:latin typeface="Noto Sans KR" pitchFamily="34" charset="0"/>
                <a:ea typeface="Noto Sans KR" pitchFamily="34" charset="-122"/>
                <a:cs typeface="Noto Sans KR" pitchFamily="34" charset="-120"/>
              </a:rPr>
              <a:t>학습을</a:t>
            </a:r>
            <a:r>
              <a:rPr lang="en-US" sz="1200" dirty="0">
                <a:solidFill>
                  <a:srgbClr val="4B5563"/>
                </a:solidFill>
                <a:latin typeface="Noto Sans KR" pitchFamily="34" charset="0"/>
                <a:ea typeface="Noto Sans KR" pitchFamily="34" charset="-122"/>
                <a:cs typeface="Noto Sans KR" pitchFamily="34" charset="-120"/>
              </a:rPr>
              <a:t> </a:t>
            </a:r>
            <a:r>
              <a:rPr lang="en-US" sz="1200" dirty="0" err="1">
                <a:solidFill>
                  <a:srgbClr val="4B5563"/>
                </a:solidFill>
                <a:latin typeface="Noto Sans KR" pitchFamily="34" charset="0"/>
                <a:ea typeface="Noto Sans KR" pitchFamily="34" charset="-122"/>
                <a:cs typeface="Noto Sans KR" pitchFamily="34" charset="-120"/>
              </a:rPr>
              <a:t>유도</a:t>
            </a:r>
            <a:endParaRPr lang="en-US" sz="1200" dirty="0"/>
          </a:p>
        </p:txBody>
      </p:sp>
      <p:sp>
        <p:nvSpPr>
          <p:cNvPr id="34" name="Text 29"/>
          <p:cNvSpPr txBox="1"/>
          <p:nvPr/>
        </p:nvSpPr>
        <p:spPr>
          <a:xfrm>
            <a:off x="914399" y="5964010"/>
            <a:ext cx="9202077" cy="277063"/>
          </a:xfrm>
          <a:prstGeom prst="rect">
            <a:avLst/>
          </a:prstGeom>
          <a:noFill/>
          <a:ln/>
        </p:spPr>
        <p:txBody>
          <a:bodyPr wrap="square" lIns="0" tIns="0" rIns="0" bIns="0" rtlCol="0" anchor="ctr"/>
          <a:lstStyle/>
          <a:p>
            <a:pPr marL="0" indent="0" algn="l">
              <a:buNone/>
            </a:pPr>
            <a:r>
              <a:rPr lang="en-US" sz="1200" dirty="0">
                <a:solidFill>
                  <a:srgbClr val="4B5563"/>
                </a:solidFill>
                <a:latin typeface="Noto Sans KR" pitchFamily="34" charset="0"/>
                <a:ea typeface="Noto Sans KR" pitchFamily="34" charset="-122"/>
                <a:cs typeface="Noto Sans KR" pitchFamily="34" charset="-120"/>
              </a:rPr>
              <a:t>멀티모달 상태 표현: 가격 정보, 기술적 지표, 포트폴리오 상태를 결합하여 의사결정에 필요한 정보를 </a:t>
            </a:r>
            <a:r>
              <a:rPr lang="en-US" sz="1200" dirty="0" err="1">
                <a:solidFill>
                  <a:srgbClr val="4B5563"/>
                </a:solidFill>
                <a:latin typeface="Noto Sans KR" pitchFamily="34" charset="0"/>
                <a:ea typeface="Noto Sans KR" pitchFamily="34" charset="-122"/>
                <a:cs typeface="Noto Sans KR" pitchFamily="34" charset="-120"/>
              </a:rPr>
              <a:t>종합적으로</a:t>
            </a:r>
            <a:r>
              <a:rPr lang="en-US" sz="1200" dirty="0">
                <a:solidFill>
                  <a:srgbClr val="4B5563"/>
                </a:solidFill>
                <a:latin typeface="Noto Sans KR" pitchFamily="34" charset="0"/>
                <a:ea typeface="Noto Sans KR" pitchFamily="34" charset="-122"/>
                <a:cs typeface="Noto Sans KR" pitchFamily="34" charset="-120"/>
              </a:rPr>
              <a:t> </a:t>
            </a:r>
            <a:r>
              <a:rPr lang="en-US" sz="1200" dirty="0" err="1">
                <a:solidFill>
                  <a:srgbClr val="4B5563"/>
                </a:solidFill>
                <a:latin typeface="Noto Sans KR" pitchFamily="34" charset="0"/>
                <a:ea typeface="Noto Sans KR" pitchFamily="34" charset="-122"/>
                <a:cs typeface="Noto Sans KR" pitchFamily="34" charset="-120"/>
              </a:rPr>
              <a:t>처리</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6" name="Text 4"/>
          <p:cNvSpPr txBox="1"/>
          <p:nvPr/>
        </p:nvSpPr>
        <p:spPr>
          <a:xfrm>
            <a:off x="571500" y="234950"/>
            <a:ext cx="3296412" cy="457200"/>
          </a:xfrm>
          <a:prstGeom prst="rect">
            <a:avLst/>
          </a:prstGeom>
          <a:noFill/>
          <a:ln/>
        </p:spPr>
        <p:txBody>
          <a:bodyPr wrap="square" lIns="0" tIns="0" rIns="0" bIns="0" rtlCol="0" anchor="ctr"/>
          <a:lstStyle/>
          <a:p>
            <a:pPr marL="0" indent="0" algn="l">
              <a:buNone/>
            </a:pPr>
            <a:r>
              <a:rPr lang="en-US" sz="2400" b="1" dirty="0" err="1">
                <a:solidFill>
                  <a:srgbClr val="111827"/>
                </a:solidFill>
                <a:latin typeface="Noto Sans KR" pitchFamily="34" charset="0"/>
                <a:ea typeface="Noto Sans KR" pitchFamily="34" charset="-122"/>
                <a:cs typeface="Noto Sans KR" pitchFamily="34" charset="-120"/>
              </a:rPr>
              <a:t>포트폴리오</a:t>
            </a:r>
            <a:r>
              <a:rPr lang="en-US" sz="2400" b="1" dirty="0">
                <a:solidFill>
                  <a:srgbClr val="111827"/>
                </a:solidFill>
                <a:latin typeface="Noto Sans KR" pitchFamily="34" charset="0"/>
                <a:ea typeface="Noto Sans KR" pitchFamily="34" charset="-122"/>
                <a:cs typeface="Noto Sans KR" pitchFamily="34" charset="-120"/>
              </a:rPr>
              <a:t> </a:t>
            </a:r>
            <a:r>
              <a:rPr lang="en-US" sz="2400" b="1" dirty="0" err="1">
                <a:solidFill>
                  <a:srgbClr val="111827"/>
                </a:solidFill>
                <a:latin typeface="Noto Sans KR" pitchFamily="34" charset="0"/>
                <a:ea typeface="Noto Sans KR" pitchFamily="34" charset="-122"/>
                <a:cs typeface="Noto Sans KR" pitchFamily="34" charset="-120"/>
              </a:rPr>
              <a:t>자산</a:t>
            </a:r>
            <a:r>
              <a:rPr lang="en-US" sz="2400" b="1" dirty="0">
                <a:solidFill>
                  <a:srgbClr val="111827"/>
                </a:solidFill>
                <a:latin typeface="Noto Sans KR" pitchFamily="34" charset="0"/>
                <a:ea typeface="Noto Sans KR" pitchFamily="34" charset="-122"/>
                <a:cs typeface="Noto Sans KR" pitchFamily="34" charset="-120"/>
              </a:rPr>
              <a:t> </a:t>
            </a:r>
            <a:r>
              <a:rPr lang="en-US" sz="2400" b="1" dirty="0" err="1">
                <a:solidFill>
                  <a:srgbClr val="111827"/>
                </a:solidFill>
                <a:latin typeface="Noto Sans KR" pitchFamily="34" charset="0"/>
                <a:ea typeface="Noto Sans KR" pitchFamily="34" charset="-122"/>
                <a:cs typeface="Noto Sans KR" pitchFamily="34" charset="-120"/>
              </a:rPr>
              <a:t>구성</a:t>
            </a:r>
            <a:endParaRPr lang="en-US" sz="2400" dirty="0"/>
          </a:p>
        </p:txBody>
      </p:sp>
      <p:sp>
        <p:nvSpPr>
          <p:cNvPr id="8" name="Shape 6"/>
          <p:cNvSpPr/>
          <p:nvPr/>
        </p:nvSpPr>
        <p:spPr>
          <a:xfrm>
            <a:off x="571500" y="1072489"/>
            <a:ext cx="6400800" cy="5032960"/>
          </a:xfrm>
          <a:prstGeom prst="roundRect">
            <a:avLst>
              <a:gd name="adj" fmla="val 1315"/>
            </a:avLst>
          </a:prstGeom>
          <a:solidFill>
            <a:srgbClr val="F9FAFB"/>
          </a:solidFill>
          <a:ln/>
          <a:effectLst>
            <a:outerShdw blurRad="38100" dist="25400" dir="5400000" algn="bl" rotWithShape="0">
              <a:srgbClr val="000000">
                <a:alpha val="5000"/>
              </a:srgbClr>
            </a:outerShdw>
          </a:effectLst>
        </p:spPr>
      </p:sp>
      <p:sp>
        <p:nvSpPr>
          <p:cNvPr id="9" name="Shape 7"/>
          <p:cNvSpPr/>
          <p:nvPr/>
        </p:nvSpPr>
        <p:spPr>
          <a:xfrm>
            <a:off x="571500" y="1072489"/>
            <a:ext cx="47549" cy="5032960"/>
          </a:xfrm>
          <a:prstGeom prst="rect">
            <a:avLst/>
          </a:prstGeom>
          <a:solidFill>
            <a:srgbClr val="2563EB"/>
          </a:solidFill>
          <a:ln/>
        </p:spPr>
      </p:sp>
      <p:pic>
        <p:nvPicPr>
          <p:cNvPr id="10" name="Image 0" descr="preencoded.png"/>
          <p:cNvPicPr>
            <a:picLocks noChangeAspect="1"/>
          </p:cNvPicPr>
          <p:nvPr/>
        </p:nvPicPr>
        <p:blipFill>
          <a:blip r:embed="rId3"/>
          <a:srcRect l="-461" r="-461"/>
          <a:stretch/>
        </p:blipFill>
        <p:spPr>
          <a:xfrm>
            <a:off x="857707" y="1363268"/>
            <a:ext cx="237744" cy="209398"/>
          </a:xfrm>
          <a:prstGeom prst="rect">
            <a:avLst/>
          </a:prstGeom>
        </p:spPr>
      </p:pic>
      <p:sp>
        <p:nvSpPr>
          <p:cNvPr id="11" name="Text 8"/>
          <p:cNvSpPr txBox="1"/>
          <p:nvPr/>
        </p:nvSpPr>
        <p:spPr>
          <a:xfrm>
            <a:off x="1190549" y="1311148"/>
            <a:ext cx="4044391" cy="305410"/>
          </a:xfrm>
          <a:prstGeom prst="rect">
            <a:avLst/>
          </a:prstGeom>
          <a:noFill/>
          <a:ln/>
        </p:spPr>
        <p:txBody>
          <a:bodyPr wrap="square" lIns="0" tIns="0" rIns="0" bIns="0" rtlCol="0" anchor="ctr"/>
          <a:lstStyle/>
          <a:p>
            <a:pPr marL="0" indent="0" algn="l">
              <a:buNone/>
            </a:pPr>
            <a:r>
              <a:rPr lang="en-US" sz="1600" b="1" dirty="0" err="1">
                <a:solidFill>
                  <a:srgbClr val="1F2937"/>
                </a:solidFill>
                <a:latin typeface="Noto Sans KR" pitchFamily="34" charset="0"/>
                <a:ea typeface="Noto Sans KR" pitchFamily="34" charset="-122"/>
              </a:rPr>
              <a:t>위험자산</a:t>
            </a:r>
            <a:r>
              <a:rPr lang="en-US" sz="1600" b="1" dirty="0">
                <a:solidFill>
                  <a:srgbClr val="1F2937"/>
                </a:solidFill>
                <a:latin typeface="Noto Sans KR" pitchFamily="34" charset="0"/>
                <a:ea typeface="Noto Sans KR" pitchFamily="34" charset="-122"/>
              </a:rPr>
              <a:t> </a:t>
            </a:r>
            <a:r>
              <a:rPr lang="en-US" altLang="ko-KR" sz="1600" b="1" dirty="0">
                <a:solidFill>
                  <a:srgbClr val="1F2937"/>
                </a:solidFill>
                <a:latin typeface="Noto Sans KR" pitchFamily="34" charset="0"/>
                <a:ea typeface="Noto Sans KR" pitchFamily="34" charset="-122"/>
              </a:rPr>
              <a:t>: </a:t>
            </a:r>
            <a:r>
              <a:rPr lang="en-US" sz="1600" b="1" dirty="0" err="1">
                <a:solidFill>
                  <a:srgbClr val="1F2937"/>
                </a:solidFill>
                <a:latin typeface="Noto Sans KR" pitchFamily="34" charset="0"/>
                <a:ea typeface="Noto Sans KR" pitchFamily="34" charset="-122"/>
              </a:rPr>
              <a:t>섹터별</a:t>
            </a:r>
            <a:r>
              <a:rPr lang="en-US" sz="1600" b="1" dirty="0">
                <a:solidFill>
                  <a:srgbClr val="1F2937"/>
                </a:solidFill>
                <a:latin typeface="Noto Sans KR" pitchFamily="34" charset="0"/>
                <a:ea typeface="Noto Sans KR" pitchFamily="34" charset="-122"/>
              </a:rPr>
              <a:t> ETF </a:t>
            </a:r>
            <a:r>
              <a:rPr lang="en-US" altLang="ko-KR" sz="1600" b="1" dirty="0">
                <a:solidFill>
                  <a:srgbClr val="1F2937"/>
                </a:solidFill>
                <a:latin typeface="Noto Sans KR" pitchFamily="34" charset="0"/>
                <a:ea typeface="Noto Sans KR" pitchFamily="34" charset="-122"/>
              </a:rPr>
              <a:t>(12</a:t>
            </a:r>
            <a:r>
              <a:rPr lang="ko-KR" altLang="en-US" sz="1600" b="1" dirty="0">
                <a:solidFill>
                  <a:srgbClr val="1F2937"/>
                </a:solidFill>
                <a:latin typeface="Noto Sans KR" pitchFamily="34" charset="0"/>
                <a:ea typeface="Noto Sans KR" pitchFamily="34" charset="-122"/>
              </a:rPr>
              <a:t>종 선정</a:t>
            </a:r>
            <a:r>
              <a:rPr lang="en-US" altLang="ko-KR" sz="1600" b="1" dirty="0">
                <a:solidFill>
                  <a:srgbClr val="1F2937"/>
                </a:solidFill>
                <a:latin typeface="Noto Sans KR" pitchFamily="34" charset="0"/>
                <a:ea typeface="Noto Sans KR" pitchFamily="34" charset="-122"/>
              </a:rPr>
              <a:t>)</a:t>
            </a:r>
            <a:endParaRPr lang="en-US" sz="1600" dirty="0"/>
          </a:p>
        </p:txBody>
      </p:sp>
      <p:sp>
        <p:nvSpPr>
          <p:cNvPr id="12" name="Shape 9"/>
          <p:cNvSpPr/>
          <p:nvPr/>
        </p:nvSpPr>
        <p:spPr>
          <a:xfrm>
            <a:off x="857707" y="1768348"/>
            <a:ext cx="2895905" cy="400507"/>
          </a:xfrm>
          <a:prstGeom prst="roundRect">
            <a:avLst>
              <a:gd name="adj" fmla="val 32616"/>
            </a:avLst>
          </a:prstGeom>
          <a:solidFill>
            <a:srgbClr val="FFFFFF"/>
          </a:solidFill>
          <a:ln w="12700">
            <a:solidFill>
              <a:srgbClr val="E5E7EB"/>
            </a:solidFill>
            <a:prstDash val="solid"/>
          </a:ln>
        </p:spPr>
      </p:sp>
      <p:pic>
        <p:nvPicPr>
          <p:cNvPr id="13" name="Image 1" descr="preencoded.png"/>
          <p:cNvPicPr>
            <a:picLocks noChangeAspect="1"/>
          </p:cNvPicPr>
          <p:nvPr/>
        </p:nvPicPr>
        <p:blipFill>
          <a:blip r:embed="rId4"/>
          <a:srcRect t="-1100" b="-1100"/>
          <a:stretch/>
        </p:blipFill>
        <p:spPr>
          <a:xfrm>
            <a:off x="981151" y="1901850"/>
            <a:ext cx="114300" cy="133502"/>
          </a:xfrm>
          <a:prstGeom prst="rect">
            <a:avLst/>
          </a:prstGeom>
        </p:spPr>
      </p:pic>
      <p:sp>
        <p:nvSpPr>
          <p:cNvPr id="14" name="Text 10"/>
          <p:cNvSpPr txBox="1"/>
          <p:nvPr/>
        </p:nvSpPr>
        <p:spPr>
          <a:xfrm>
            <a:off x="1171346" y="1854301"/>
            <a:ext cx="1181405" cy="228600"/>
          </a:xfrm>
          <a:prstGeom prst="rect">
            <a:avLst/>
          </a:prstGeom>
          <a:noFill/>
          <a:ln/>
        </p:spPr>
        <p:txBody>
          <a:bodyPr wrap="square" lIns="0" tIns="0" rIns="0" bIns="0" rtlCol="0" anchor="ctr"/>
          <a:lstStyle/>
          <a:p>
            <a:pPr marL="0" indent="0" algn="l">
              <a:buNone/>
            </a:pPr>
            <a:r>
              <a:rPr lang="en-US" sz="1200" dirty="0">
                <a:solidFill>
                  <a:srgbClr val="4B5563"/>
                </a:solidFill>
                <a:latin typeface="Noto Sans KR" pitchFamily="34" charset="0"/>
                <a:ea typeface="Noto Sans KR" pitchFamily="34" charset="-122"/>
                <a:cs typeface="Noto Sans KR" pitchFamily="34" charset="-120"/>
              </a:rPr>
              <a:t>Energy (에너지)</a:t>
            </a:r>
            <a:endParaRPr lang="en-US" sz="1200" dirty="0"/>
          </a:p>
        </p:txBody>
      </p:sp>
      <p:sp>
        <p:nvSpPr>
          <p:cNvPr id="15" name="Shape 11"/>
          <p:cNvSpPr/>
          <p:nvPr/>
        </p:nvSpPr>
        <p:spPr>
          <a:xfrm>
            <a:off x="3843223" y="1768348"/>
            <a:ext cx="2895905" cy="400507"/>
          </a:xfrm>
          <a:prstGeom prst="roundRect">
            <a:avLst>
              <a:gd name="adj" fmla="val 32616"/>
            </a:avLst>
          </a:prstGeom>
          <a:solidFill>
            <a:srgbClr val="FFFFFF"/>
          </a:solidFill>
          <a:ln w="12700">
            <a:solidFill>
              <a:srgbClr val="E5E7EB"/>
            </a:solidFill>
            <a:prstDash val="solid"/>
          </a:ln>
        </p:spPr>
      </p:sp>
      <p:pic>
        <p:nvPicPr>
          <p:cNvPr id="16" name="Image 2" descr="preencoded.png"/>
          <p:cNvPicPr>
            <a:picLocks noChangeAspect="1"/>
          </p:cNvPicPr>
          <p:nvPr/>
        </p:nvPicPr>
        <p:blipFill>
          <a:blip r:embed="rId5"/>
          <a:srcRect t="-1100" b="-1100"/>
          <a:stretch/>
        </p:blipFill>
        <p:spPr>
          <a:xfrm>
            <a:off x="3967582" y="1901850"/>
            <a:ext cx="114300" cy="133502"/>
          </a:xfrm>
          <a:prstGeom prst="rect">
            <a:avLst/>
          </a:prstGeom>
        </p:spPr>
      </p:pic>
      <p:sp>
        <p:nvSpPr>
          <p:cNvPr id="17" name="Text 12"/>
          <p:cNvSpPr txBox="1"/>
          <p:nvPr/>
        </p:nvSpPr>
        <p:spPr>
          <a:xfrm>
            <a:off x="4157777" y="1854301"/>
            <a:ext cx="1191463" cy="228600"/>
          </a:xfrm>
          <a:prstGeom prst="rect">
            <a:avLst/>
          </a:prstGeom>
          <a:noFill/>
          <a:ln/>
        </p:spPr>
        <p:txBody>
          <a:bodyPr wrap="square" lIns="0" tIns="0" rIns="0" bIns="0" rtlCol="0" anchor="ctr"/>
          <a:lstStyle/>
          <a:p>
            <a:pPr marL="0" indent="0" algn="l">
              <a:buNone/>
            </a:pPr>
            <a:r>
              <a:rPr lang="en-US" sz="1200" dirty="0">
                <a:solidFill>
                  <a:srgbClr val="4B5563"/>
                </a:solidFill>
                <a:latin typeface="Noto Sans KR" pitchFamily="34" charset="0"/>
                <a:ea typeface="Noto Sans KR" pitchFamily="34" charset="-122"/>
                <a:cs typeface="Noto Sans KR" pitchFamily="34" charset="-120"/>
              </a:rPr>
              <a:t>Materials (소재)</a:t>
            </a:r>
            <a:endParaRPr lang="en-US" sz="1200" dirty="0"/>
          </a:p>
        </p:txBody>
      </p:sp>
      <p:sp>
        <p:nvSpPr>
          <p:cNvPr id="18" name="Shape 13"/>
          <p:cNvSpPr/>
          <p:nvPr/>
        </p:nvSpPr>
        <p:spPr>
          <a:xfrm>
            <a:off x="857707" y="2263038"/>
            <a:ext cx="2895905" cy="400507"/>
          </a:xfrm>
          <a:prstGeom prst="roundRect">
            <a:avLst>
              <a:gd name="adj" fmla="val 32616"/>
            </a:avLst>
          </a:prstGeom>
          <a:solidFill>
            <a:srgbClr val="FFFFFF"/>
          </a:solidFill>
          <a:ln w="12700">
            <a:solidFill>
              <a:srgbClr val="E5E7EB"/>
            </a:solidFill>
            <a:prstDash val="solid"/>
          </a:ln>
        </p:spPr>
      </p:sp>
      <p:pic>
        <p:nvPicPr>
          <p:cNvPr id="19" name="Image 3" descr="preencoded.png"/>
          <p:cNvPicPr>
            <a:picLocks noChangeAspect="1"/>
          </p:cNvPicPr>
          <p:nvPr/>
        </p:nvPicPr>
        <p:blipFill>
          <a:blip r:embed="rId6"/>
          <a:srcRect l="-837" r="-837"/>
          <a:stretch/>
        </p:blipFill>
        <p:spPr>
          <a:xfrm>
            <a:off x="981151" y="2396540"/>
            <a:ext cx="152705" cy="133502"/>
          </a:xfrm>
          <a:prstGeom prst="rect">
            <a:avLst/>
          </a:prstGeom>
        </p:spPr>
      </p:pic>
      <p:sp>
        <p:nvSpPr>
          <p:cNvPr id="20" name="Text 14"/>
          <p:cNvSpPr txBox="1"/>
          <p:nvPr/>
        </p:nvSpPr>
        <p:spPr>
          <a:xfrm>
            <a:off x="1209751" y="2348992"/>
            <a:ext cx="1438351" cy="228600"/>
          </a:xfrm>
          <a:prstGeom prst="rect">
            <a:avLst/>
          </a:prstGeom>
          <a:noFill/>
          <a:ln/>
        </p:spPr>
        <p:txBody>
          <a:bodyPr wrap="square" lIns="0" tIns="0" rIns="0" bIns="0" rtlCol="0" anchor="ctr"/>
          <a:lstStyle/>
          <a:p>
            <a:pPr marL="0" indent="0" algn="l">
              <a:buNone/>
            </a:pPr>
            <a:r>
              <a:rPr lang="en-US" sz="1200" dirty="0">
                <a:solidFill>
                  <a:srgbClr val="4B5563"/>
                </a:solidFill>
                <a:latin typeface="Noto Sans KR" pitchFamily="34" charset="0"/>
                <a:ea typeface="Noto Sans KR" pitchFamily="34" charset="-122"/>
                <a:cs typeface="Noto Sans KR" pitchFamily="34" charset="-120"/>
              </a:rPr>
              <a:t>Industrials (산업재)</a:t>
            </a:r>
            <a:endParaRPr lang="en-US" sz="1200" dirty="0"/>
          </a:p>
        </p:txBody>
      </p:sp>
      <p:sp>
        <p:nvSpPr>
          <p:cNvPr id="21" name="Shape 15"/>
          <p:cNvSpPr/>
          <p:nvPr/>
        </p:nvSpPr>
        <p:spPr>
          <a:xfrm>
            <a:off x="3843223" y="2263038"/>
            <a:ext cx="2895905" cy="400507"/>
          </a:xfrm>
          <a:prstGeom prst="roundRect">
            <a:avLst>
              <a:gd name="adj" fmla="val 32616"/>
            </a:avLst>
          </a:prstGeom>
          <a:solidFill>
            <a:srgbClr val="FFFFFF"/>
          </a:solidFill>
          <a:ln w="12700">
            <a:solidFill>
              <a:srgbClr val="E5E7EB"/>
            </a:solidFill>
            <a:prstDash val="solid"/>
          </a:ln>
        </p:spPr>
      </p:sp>
      <p:pic>
        <p:nvPicPr>
          <p:cNvPr id="22" name="Image 4" descr="preencoded.png"/>
          <p:cNvPicPr>
            <a:picLocks noChangeAspect="1"/>
          </p:cNvPicPr>
          <p:nvPr/>
        </p:nvPicPr>
        <p:blipFill>
          <a:blip r:embed="rId7"/>
          <a:srcRect l="-837" r="-837"/>
          <a:stretch/>
        </p:blipFill>
        <p:spPr>
          <a:xfrm>
            <a:off x="3967582" y="2396540"/>
            <a:ext cx="152705" cy="133502"/>
          </a:xfrm>
          <a:prstGeom prst="rect">
            <a:avLst/>
          </a:prstGeom>
        </p:spPr>
      </p:pic>
      <p:sp>
        <p:nvSpPr>
          <p:cNvPr id="23" name="Text 16"/>
          <p:cNvSpPr txBox="1"/>
          <p:nvPr/>
        </p:nvSpPr>
        <p:spPr>
          <a:xfrm>
            <a:off x="4196182" y="2348992"/>
            <a:ext cx="1343254" cy="228600"/>
          </a:xfrm>
          <a:prstGeom prst="rect">
            <a:avLst/>
          </a:prstGeom>
          <a:noFill/>
          <a:ln/>
        </p:spPr>
        <p:txBody>
          <a:bodyPr wrap="square" lIns="0" tIns="0" rIns="0" bIns="0" rtlCol="0" anchor="ctr"/>
          <a:lstStyle/>
          <a:p>
            <a:pPr marL="0" indent="0" algn="l">
              <a:buNone/>
            </a:pPr>
            <a:r>
              <a:rPr lang="en-US" sz="1200" dirty="0">
                <a:solidFill>
                  <a:srgbClr val="4B5563"/>
                </a:solidFill>
                <a:latin typeface="Noto Sans KR" pitchFamily="34" charset="0"/>
                <a:ea typeface="Noto Sans KR" pitchFamily="34" charset="-122"/>
                <a:cs typeface="Noto Sans KR" pitchFamily="34" charset="-120"/>
              </a:rPr>
              <a:t>Staples (필수소비)</a:t>
            </a:r>
            <a:endParaRPr lang="en-US" sz="1200" dirty="0"/>
          </a:p>
        </p:txBody>
      </p:sp>
      <p:sp>
        <p:nvSpPr>
          <p:cNvPr id="24" name="Shape 17"/>
          <p:cNvSpPr/>
          <p:nvPr/>
        </p:nvSpPr>
        <p:spPr>
          <a:xfrm>
            <a:off x="857707" y="2758643"/>
            <a:ext cx="2895905" cy="400507"/>
          </a:xfrm>
          <a:prstGeom prst="roundRect">
            <a:avLst>
              <a:gd name="adj" fmla="val 32616"/>
            </a:avLst>
          </a:prstGeom>
          <a:solidFill>
            <a:srgbClr val="FFFFFF"/>
          </a:solidFill>
          <a:ln w="12700">
            <a:solidFill>
              <a:srgbClr val="E5E7EB"/>
            </a:solidFill>
            <a:prstDash val="solid"/>
          </a:ln>
        </p:spPr>
      </p:sp>
      <p:pic>
        <p:nvPicPr>
          <p:cNvPr id="25" name="Image 5" descr="preencoded.png"/>
          <p:cNvPicPr>
            <a:picLocks noChangeAspect="1"/>
          </p:cNvPicPr>
          <p:nvPr/>
        </p:nvPicPr>
        <p:blipFill>
          <a:blip r:embed="rId8"/>
          <a:srcRect l="-1507" r="-1507"/>
          <a:stretch/>
        </p:blipFill>
        <p:spPr>
          <a:xfrm>
            <a:off x="981151" y="2892145"/>
            <a:ext cx="171907" cy="133502"/>
          </a:xfrm>
          <a:prstGeom prst="rect">
            <a:avLst/>
          </a:prstGeom>
        </p:spPr>
      </p:pic>
      <p:sp>
        <p:nvSpPr>
          <p:cNvPr id="26" name="Text 18"/>
          <p:cNvSpPr txBox="1"/>
          <p:nvPr/>
        </p:nvSpPr>
        <p:spPr>
          <a:xfrm>
            <a:off x="1228954" y="2844596"/>
            <a:ext cx="1772107" cy="228600"/>
          </a:xfrm>
          <a:prstGeom prst="rect">
            <a:avLst/>
          </a:prstGeom>
          <a:noFill/>
          <a:ln/>
        </p:spPr>
        <p:txBody>
          <a:bodyPr wrap="square" lIns="0" tIns="0" rIns="0" bIns="0" rtlCol="0" anchor="ctr"/>
          <a:lstStyle/>
          <a:p>
            <a:pPr marL="0" indent="0" algn="l">
              <a:buNone/>
            </a:pPr>
            <a:r>
              <a:rPr lang="en-US" sz="1200" dirty="0">
                <a:solidFill>
                  <a:srgbClr val="4B5563"/>
                </a:solidFill>
                <a:latin typeface="Noto Sans KR" pitchFamily="34" charset="0"/>
                <a:ea typeface="Noto Sans KR" pitchFamily="34" charset="-122"/>
                <a:cs typeface="Noto Sans KR" pitchFamily="34" charset="-120"/>
              </a:rPr>
              <a:t>Discretionary (자유소비)</a:t>
            </a:r>
            <a:endParaRPr lang="en-US" sz="1200" dirty="0"/>
          </a:p>
        </p:txBody>
      </p:sp>
      <p:sp>
        <p:nvSpPr>
          <p:cNvPr id="27" name="Shape 19"/>
          <p:cNvSpPr/>
          <p:nvPr/>
        </p:nvSpPr>
        <p:spPr>
          <a:xfrm>
            <a:off x="3843223" y="2758643"/>
            <a:ext cx="2895905" cy="400507"/>
          </a:xfrm>
          <a:prstGeom prst="roundRect">
            <a:avLst>
              <a:gd name="adj" fmla="val 32616"/>
            </a:avLst>
          </a:prstGeom>
          <a:solidFill>
            <a:srgbClr val="FFFFFF"/>
          </a:solidFill>
          <a:ln w="12700">
            <a:solidFill>
              <a:srgbClr val="E5E7EB"/>
            </a:solidFill>
            <a:prstDash val="solid"/>
          </a:ln>
        </p:spPr>
      </p:sp>
      <p:pic>
        <p:nvPicPr>
          <p:cNvPr id="28" name="Image 6" descr="preencoded.png"/>
          <p:cNvPicPr>
            <a:picLocks noChangeAspect="1"/>
          </p:cNvPicPr>
          <p:nvPr/>
        </p:nvPicPr>
        <p:blipFill>
          <a:blip r:embed="rId9"/>
          <a:srcRect/>
          <a:stretch/>
        </p:blipFill>
        <p:spPr>
          <a:xfrm>
            <a:off x="3967582" y="2892145"/>
            <a:ext cx="133502" cy="133502"/>
          </a:xfrm>
          <a:prstGeom prst="rect">
            <a:avLst/>
          </a:prstGeom>
        </p:spPr>
      </p:pic>
      <p:sp>
        <p:nvSpPr>
          <p:cNvPr id="29" name="Text 20"/>
          <p:cNvSpPr txBox="1"/>
          <p:nvPr/>
        </p:nvSpPr>
        <p:spPr>
          <a:xfrm>
            <a:off x="4176979" y="2844596"/>
            <a:ext cx="1600200" cy="228600"/>
          </a:xfrm>
          <a:prstGeom prst="rect">
            <a:avLst/>
          </a:prstGeom>
          <a:noFill/>
          <a:ln/>
        </p:spPr>
        <p:txBody>
          <a:bodyPr wrap="square" lIns="0" tIns="0" rIns="0" bIns="0" rtlCol="0" anchor="ctr"/>
          <a:lstStyle/>
          <a:p>
            <a:pPr marL="0" indent="0" algn="l">
              <a:buNone/>
            </a:pPr>
            <a:r>
              <a:rPr lang="en-US" sz="1200" dirty="0">
                <a:solidFill>
                  <a:srgbClr val="4B5563"/>
                </a:solidFill>
                <a:latin typeface="Noto Sans KR" pitchFamily="34" charset="0"/>
                <a:ea typeface="Noto Sans KR" pitchFamily="34" charset="-122"/>
                <a:cs typeface="Noto Sans KR" pitchFamily="34" charset="-120"/>
              </a:rPr>
              <a:t>Healthcare (헬스케어)</a:t>
            </a:r>
            <a:endParaRPr lang="en-US" sz="1200" dirty="0"/>
          </a:p>
        </p:txBody>
      </p:sp>
      <p:sp>
        <p:nvSpPr>
          <p:cNvPr id="30" name="Shape 21"/>
          <p:cNvSpPr/>
          <p:nvPr/>
        </p:nvSpPr>
        <p:spPr>
          <a:xfrm>
            <a:off x="857707" y="3254248"/>
            <a:ext cx="2895905" cy="400507"/>
          </a:xfrm>
          <a:prstGeom prst="roundRect">
            <a:avLst>
              <a:gd name="adj" fmla="val 32616"/>
            </a:avLst>
          </a:prstGeom>
          <a:solidFill>
            <a:srgbClr val="FFFFFF"/>
          </a:solidFill>
          <a:ln w="12700">
            <a:solidFill>
              <a:srgbClr val="E5E7EB"/>
            </a:solidFill>
            <a:prstDash val="solid"/>
          </a:ln>
        </p:spPr>
      </p:sp>
      <p:pic>
        <p:nvPicPr>
          <p:cNvPr id="31" name="Image 7" descr="preencoded.png"/>
          <p:cNvPicPr>
            <a:picLocks noChangeAspect="1"/>
          </p:cNvPicPr>
          <p:nvPr/>
        </p:nvPicPr>
        <p:blipFill>
          <a:blip r:embed="rId10"/>
          <a:srcRect/>
          <a:stretch/>
        </p:blipFill>
        <p:spPr>
          <a:xfrm>
            <a:off x="981151" y="3387750"/>
            <a:ext cx="133502" cy="133502"/>
          </a:xfrm>
          <a:prstGeom prst="rect">
            <a:avLst/>
          </a:prstGeom>
        </p:spPr>
      </p:pic>
      <p:sp>
        <p:nvSpPr>
          <p:cNvPr id="32" name="Text 22"/>
          <p:cNvSpPr txBox="1"/>
          <p:nvPr/>
        </p:nvSpPr>
        <p:spPr>
          <a:xfrm>
            <a:off x="1190549" y="3340201"/>
            <a:ext cx="1267358" cy="228600"/>
          </a:xfrm>
          <a:prstGeom prst="rect">
            <a:avLst/>
          </a:prstGeom>
          <a:noFill/>
          <a:ln/>
        </p:spPr>
        <p:txBody>
          <a:bodyPr wrap="square" lIns="0" tIns="0" rIns="0" bIns="0" rtlCol="0" anchor="ctr"/>
          <a:lstStyle/>
          <a:p>
            <a:pPr marL="0" indent="0" algn="l">
              <a:buNone/>
            </a:pPr>
            <a:r>
              <a:rPr lang="en-US" sz="1200" dirty="0">
                <a:solidFill>
                  <a:srgbClr val="4B5563"/>
                </a:solidFill>
                <a:latin typeface="Noto Sans KR" pitchFamily="34" charset="0"/>
                <a:ea typeface="Noto Sans KR" pitchFamily="34" charset="-122"/>
                <a:cs typeface="Noto Sans KR" pitchFamily="34" charset="-120"/>
              </a:rPr>
              <a:t>Financials (금융)</a:t>
            </a:r>
            <a:endParaRPr lang="en-US" sz="1200" dirty="0"/>
          </a:p>
        </p:txBody>
      </p:sp>
      <p:sp>
        <p:nvSpPr>
          <p:cNvPr id="33" name="Shape 23"/>
          <p:cNvSpPr/>
          <p:nvPr/>
        </p:nvSpPr>
        <p:spPr>
          <a:xfrm>
            <a:off x="3843223" y="3254248"/>
            <a:ext cx="2895905" cy="400507"/>
          </a:xfrm>
          <a:prstGeom prst="roundRect">
            <a:avLst>
              <a:gd name="adj" fmla="val 32616"/>
            </a:avLst>
          </a:prstGeom>
          <a:solidFill>
            <a:srgbClr val="FFFFFF"/>
          </a:solidFill>
          <a:ln w="12700">
            <a:solidFill>
              <a:srgbClr val="E5E7EB"/>
            </a:solidFill>
            <a:prstDash val="solid"/>
          </a:ln>
        </p:spPr>
      </p:sp>
      <p:pic>
        <p:nvPicPr>
          <p:cNvPr id="34" name="Image 8" descr="preencoded.png"/>
          <p:cNvPicPr>
            <a:picLocks noChangeAspect="1"/>
          </p:cNvPicPr>
          <p:nvPr/>
        </p:nvPicPr>
        <p:blipFill>
          <a:blip r:embed="rId11"/>
          <a:srcRect/>
          <a:stretch/>
        </p:blipFill>
        <p:spPr>
          <a:xfrm>
            <a:off x="3967582" y="3387750"/>
            <a:ext cx="133502" cy="133502"/>
          </a:xfrm>
          <a:prstGeom prst="rect">
            <a:avLst/>
          </a:prstGeom>
        </p:spPr>
      </p:pic>
      <p:sp>
        <p:nvSpPr>
          <p:cNvPr id="35" name="Text 24"/>
          <p:cNvSpPr txBox="1"/>
          <p:nvPr/>
        </p:nvSpPr>
        <p:spPr>
          <a:xfrm>
            <a:off x="4176979" y="3340201"/>
            <a:ext cx="962863" cy="228600"/>
          </a:xfrm>
          <a:prstGeom prst="rect">
            <a:avLst/>
          </a:prstGeom>
          <a:noFill/>
          <a:ln/>
        </p:spPr>
        <p:txBody>
          <a:bodyPr wrap="square" lIns="0" tIns="0" rIns="0" bIns="0" rtlCol="0" anchor="ctr"/>
          <a:lstStyle/>
          <a:p>
            <a:pPr marL="0" indent="0" algn="l">
              <a:buNone/>
            </a:pPr>
            <a:r>
              <a:rPr lang="en-US" sz="1200" dirty="0">
                <a:solidFill>
                  <a:srgbClr val="4B5563"/>
                </a:solidFill>
                <a:latin typeface="Noto Sans KR" pitchFamily="34" charset="0"/>
                <a:ea typeface="Noto Sans KR" pitchFamily="34" charset="-122"/>
                <a:cs typeface="Noto Sans KR" pitchFamily="34" charset="-120"/>
              </a:rPr>
              <a:t>IT (정보기술)</a:t>
            </a:r>
            <a:endParaRPr lang="en-US" sz="1200" dirty="0"/>
          </a:p>
        </p:txBody>
      </p:sp>
      <p:sp>
        <p:nvSpPr>
          <p:cNvPr id="40" name="Shape 28"/>
          <p:cNvSpPr/>
          <p:nvPr/>
        </p:nvSpPr>
        <p:spPr>
          <a:xfrm>
            <a:off x="857707" y="3792371"/>
            <a:ext cx="2895905" cy="400507"/>
          </a:xfrm>
          <a:prstGeom prst="roundRect">
            <a:avLst>
              <a:gd name="adj" fmla="val 32616"/>
            </a:avLst>
          </a:prstGeom>
          <a:solidFill>
            <a:srgbClr val="FFFFFF"/>
          </a:solidFill>
          <a:ln w="12700">
            <a:solidFill>
              <a:srgbClr val="E5E7EB"/>
            </a:solidFill>
            <a:prstDash val="solid"/>
          </a:ln>
        </p:spPr>
      </p:sp>
      <p:pic>
        <p:nvPicPr>
          <p:cNvPr id="41" name="Image 10" descr="preencoded.png"/>
          <p:cNvPicPr>
            <a:picLocks noChangeAspect="1"/>
          </p:cNvPicPr>
          <p:nvPr/>
        </p:nvPicPr>
        <p:blipFill>
          <a:blip r:embed="rId12"/>
          <a:srcRect l="-837" r="-837"/>
          <a:stretch/>
        </p:blipFill>
        <p:spPr>
          <a:xfrm>
            <a:off x="981151" y="3924959"/>
            <a:ext cx="152705" cy="133502"/>
          </a:xfrm>
          <a:prstGeom prst="rect">
            <a:avLst/>
          </a:prstGeom>
        </p:spPr>
      </p:pic>
      <p:sp>
        <p:nvSpPr>
          <p:cNvPr id="42" name="Text 29"/>
          <p:cNvSpPr txBox="1"/>
          <p:nvPr/>
        </p:nvSpPr>
        <p:spPr>
          <a:xfrm>
            <a:off x="1209751" y="3877410"/>
            <a:ext cx="1772107" cy="228600"/>
          </a:xfrm>
          <a:prstGeom prst="rect">
            <a:avLst/>
          </a:prstGeom>
          <a:noFill/>
          <a:ln/>
        </p:spPr>
        <p:txBody>
          <a:bodyPr wrap="square" lIns="0" tIns="0" rIns="0" bIns="0" rtlCol="0" anchor="ctr"/>
          <a:lstStyle/>
          <a:p>
            <a:pPr marL="0" indent="0" algn="l">
              <a:buNone/>
            </a:pPr>
            <a:r>
              <a:rPr lang="en-US" sz="1200" dirty="0">
                <a:solidFill>
                  <a:srgbClr val="4B5563"/>
                </a:solidFill>
                <a:latin typeface="Noto Sans KR" pitchFamily="34" charset="0"/>
                <a:ea typeface="Noto Sans KR" pitchFamily="34" charset="-122"/>
                <a:cs typeface="Noto Sans KR" pitchFamily="34" charset="-120"/>
              </a:rPr>
              <a:t>Semiconductor (반도체)</a:t>
            </a:r>
            <a:endParaRPr lang="en-US" sz="1200" dirty="0"/>
          </a:p>
        </p:txBody>
      </p:sp>
      <p:sp>
        <p:nvSpPr>
          <p:cNvPr id="43" name="Shape 30"/>
          <p:cNvSpPr/>
          <p:nvPr/>
        </p:nvSpPr>
        <p:spPr>
          <a:xfrm>
            <a:off x="3843223" y="3792371"/>
            <a:ext cx="2895905" cy="400507"/>
          </a:xfrm>
          <a:prstGeom prst="roundRect">
            <a:avLst>
              <a:gd name="adj" fmla="val 32616"/>
            </a:avLst>
          </a:prstGeom>
          <a:solidFill>
            <a:srgbClr val="FFFFFF"/>
          </a:solidFill>
          <a:ln w="12700">
            <a:solidFill>
              <a:srgbClr val="E5E7EB"/>
            </a:solidFill>
            <a:prstDash val="solid"/>
          </a:ln>
        </p:spPr>
      </p:sp>
      <p:pic>
        <p:nvPicPr>
          <p:cNvPr id="44" name="Image 11" descr="preencoded.png"/>
          <p:cNvPicPr>
            <a:picLocks noChangeAspect="1"/>
          </p:cNvPicPr>
          <p:nvPr/>
        </p:nvPicPr>
        <p:blipFill>
          <a:blip r:embed="rId13"/>
          <a:srcRect l="-837" r="-837"/>
          <a:stretch/>
        </p:blipFill>
        <p:spPr>
          <a:xfrm>
            <a:off x="3967582" y="3924959"/>
            <a:ext cx="152705" cy="133502"/>
          </a:xfrm>
          <a:prstGeom prst="rect">
            <a:avLst/>
          </a:prstGeom>
        </p:spPr>
      </p:pic>
      <p:sp>
        <p:nvSpPr>
          <p:cNvPr id="45" name="Text 31"/>
          <p:cNvSpPr txBox="1"/>
          <p:nvPr/>
        </p:nvSpPr>
        <p:spPr>
          <a:xfrm>
            <a:off x="4196182" y="3877410"/>
            <a:ext cx="1286561" cy="228600"/>
          </a:xfrm>
          <a:prstGeom prst="rect">
            <a:avLst/>
          </a:prstGeom>
          <a:noFill/>
          <a:ln/>
        </p:spPr>
        <p:txBody>
          <a:bodyPr wrap="square" lIns="0" tIns="0" rIns="0" bIns="0" rtlCol="0" anchor="ctr"/>
          <a:lstStyle/>
          <a:p>
            <a:pPr marL="0" indent="0" algn="l">
              <a:buNone/>
            </a:pPr>
            <a:r>
              <a:rPr lang="en-US" sz="1200" dirty="0">
                <a:solidFill>
                  <a:srgbClr val="4B5563"/>
                </a:solidFill>
                <a:latin typeface="Noto Sans KR" pitchFamily="34" charset="0"/>
                <a:ea typeface="Noto Sans KR" pitchFamily="34" charset="-122"/>
                <a:cs typeface="Noto Sans KR" pitchFamily="34" charset="-120"/>
              </a:rPr>
              <a:t>Battery (2차전지)</a:t>
            </a:r>
            <a:endParaRPr lang="en-US" sz="1200" dirty="0"/>
          </a:p>
        </p:txBody>
      </p:sp>
      <p:sp>
        <p:nvSpPr>
          <p:cNvPr id="46" name="Shape 32"/>
          <p:cNvSpPr/>
          <p:nvPr/>
        </p:nvSpPr>
        <p:spPr>
          <a:xfrm>
            <a:off x="857707" y="4330494"/>
            <a:ext cx="2895905" cy="400507"/>
          </a:xfrm>
          <a:prstGeom prst="roundRect">
            <a:avLst>
              <a:gd name="adj" fmla="val 32616"/>
            </a:avLst>
          </a:prstGeom>
          <a:solidFill>
            <a:srgbClr val="FFFFFF"/>
          </a:solidFill>
          <a:ln w="12700">
            <a:solidFill>
              <a:srgbClr val="E5E7EB"/>
            </a:solidFill>
            <a:prstDash val="solid"/>
          </a:ln>
        </p:spPr>
      </p:sp>
      <p:pic>
        <p:nvPicPr>
          <p:cNvPr id="47" name="Image 12" descr="preencoded.png"/>
          <p:cNvPicPr>
            <a:picLocks noChangeAspect="1"/>
          </p:cNvPicPr>
          <p:nvPr/>
        </p:nvPicPr>
        <p:blipFill>
          <a:blip r:embed="rId14"/>
          <a:srcRect/>
          <a:stretch/>
        </p:blipFill>
        <p:spPr>
          <a:xfrm>
            <a:off x="981151" y="4463996"/>
            <a:ext cx="133502" cy="133502"/>
          </a:xfrm>
          <a:prstGeom prst="rect">
            <a:avLst/>
          </a:prstGeom>
        </p:spPr>
      </p:pic>
      <p:sp>
        <p:nvSpPr>
          <p:cNvPr id="48" name="Text 33"/>
          <p:cNvSpPr txBox="1"/>
          <p:nvPr/>
        </p:nvSpPr>
        <p:spPr>
          <a:xfrm>
            <a:off x="1190549" y="4416447"/>
            <a:ext cx="1114654" cy="228600"/>
          </a:xfrm>
          <a:prstGeom prst="rect">
            <a:avLst/>
          </a:prstGeom>
          <a:noFill/>
          <a:ln/>
        </p:spPr>
        <p:txBody>
          <a:bodyPr wrap="square" lIns="0" tIns="0" rIns="0" bIns="0" rtlCol="0" anchor="ctr"/>
          <a:lstStyle/>
          <a:p>
            <a:pPr marL="0" indent="0" algn="l">
              <a:buNone/>
            </a:pPr>
            <a:r>
              <a:rPr lang="en-US" sz="1200" dirty="0">
                <a:solidFill>
                  <a:srgbClr val="4B5563"/>
                </a:solidFill>
                <a:latin typeface="Noto Sans KR" pitchFamily="34" charset="0"/>
                <a:ea typeface="Noto Sans KR" pitchFamily="34" charset="-122"/>
                <a:cs typeface="Noto Sans KR" pitchFamily="34" charset="-120"/>
              </a:rPr>
              <a:t>Defense (방산)</a:t>
            </a:r>
            <a:endParaRPr lang="en-US" sz="1200" dirty="0"/>
          </a:p>
        </p:txBody>
      </p:sp>
      <p:sp>
        <p:nvSpPr>
          <p:cNvPr id="49" name="Shape 34"/>
          <p:cNvSpPr/>
          <p:nvPr/>
        </p:nvSpPr>
        <p:spPr>
          <a:xfrm>
            <a:off x="3843223" y="4330494"/>
            <a:ext cx="2895905" cy="400507"/>
          </a:xfrm>
          <a:prstGeom prst="roundRect">
            <a:avLst>
              <a:gd name="adj" fmla="val 32616"/>
            </a:avLst>
          </a:prstGeom>
          <a:solidFill>
            <a:srgbClr val="FFFFFF"/>
          </a:solidFill>
          <a:ln w="12700">
            <a:solidFill>
              <a:srgbClr val="E5E7EB"/>
            </a:solidFill>
            <a:prstDash val="solid"/>
          </a:ln>
        </p:spPr>
      </p:sp>
      <p:pic>
        <p:nvPicPr>
          <p:cNvPr id="50" name="Image 13" descr="preencoded.png"/>
          <p:cNvPicPr>
            <a:picLocks noChangeAspect="1"/>
          </p:cNvPicPr>
          <p:nvPr/>
        </p:nvPicPr>
        <p:blipFill>
          <a:blip r:embed="rId15"/>
          <a:srcRect t="-1100" b="-1100"/>
          <a:stretch/>
        </p:blipFill>
        <p:spPr>
          <a:xfrm>
            <a:off x="3967582" y="4463996"/>
            <a:ext cx="114300" cy="133502"/>
          </a:xfrm>
          <a:prstGeom prst="rect">
            <a:avLst/>
          </a:prstGeom>
        </p:spPr>
      </p:pic>
      <p:sp>
        <p:nvSpPr>
          <p:cNvPr id="51" name="Text 35"/>
          <p:cNvSpPr txBox="1"/>
          <p:nvPr/>
        </p:nvSpPr>
        <p:spPr>
          <a:xfrm>
            <a:off x="4157777" y="4416447"/>
            <a:ext cx="924458" cy="228600"/>
          </a:xfrm>
          <a:prstGeom prst="rect">
            <a:avLst/>
          </a:prstGeom>
          <a:noFill/>
          <a:ln/>
        </p:spPr>
        <p:txBody>
          <a:bodyPr wrap="square" lIns="0" tIns="0" rIns="0" bIns="0" rtlCol="0" anchor="ctr"/>
          <a:lstStyle/>
          <a:p>
            <a:pPr marL="0" indent="0" algn="l">
              <a:buNone/>
            </a:pPr>
            <a:r>
              <a:rPr lang="en-US" sz="1200" dirty="0">
                <a:solidFill>
                  <a:srgbClr val="4B5563"/>
                </a:solidFill>
                <a:latin typeface="Noto Sans KR" pitchFamily="34" charset="0"/>
                <a:ea typeface="Noto Sans KR" pitchFamily="34" charset="-122"/>
                <a:cs typeface="Noto Sans KR" pitchFamily="34" charset="-120"/>
              </a:rPr>
              <a:t>Bio (바이오)</a:t>
            </a:r>
            <a:endParaRPr lang="en-US" sz="1200" dirty="0"/>
          </a:p>
        </p:txBody>
      </p:sp>
      <p:sp>
        <p:nvSpPr>
          <p:cNvPr id="62" name="Shape 44"/>
          <p:cNvSpPr/>
          <p:nvPr/>
        </p:nvSpPr>
        <p:spPr>
          <a:xfrm>
            <a:off x="7353605" y="4192878"/>
            <a:ext cx="4267505" cy="1933956"/>
          </a:xfrm>
          <a:prstGeom prst="roundRect">
            <a:avLst>
              <a:gd name="adj" fmla="val 2795"/>
            </a:avLst>
          </a:prstGeom>
          <a:solidFill>
            <a:srgbClr val="F9FAFB"/>
          </a:solidFill>
          <a:ln w="12700">
            <a:solidFill>
              <a:srgbClr val="E5E7EB"/>
            </a:solidFill>
            <a:prstDash val="solid"/>
          </a:ln>
        </p:spPr>
      </p:sp>
      <p:sp>
        <p:nvSpPr>
          <p:cNvPr id="63" name="Shape 45"/>
          <p:cNvSpPr/>
          <p:nvPr/>
        </p:nvSpPr>
        <p:spPr>
          <a:xfrm>
            <a:off x="7591349" y="4773522"/>
            <a:ext cx="3791102" cy="9144"/>
          </a:xfrm>
          <a:prstGeom prst="rect">
            <a:avLst/>
          </a:prstGeom>
          <a:solidFill>
            <a:srgbClr val="E5E7EB"/>
          </a:solidFill>
          <a:ln/>
        </p:spPr>
      </p:sp>
      <p:sp>
        <p:nvSpPr>
          <p:cNvPr id="64" name="Text 46"/>
          <p:cNvSpPr txBox="1"/>
          <p:nvPr/>
        </p:nvSpPr>
        <p:spPr>
          <a:xfrm>
            <a:off x="7591349" y="4440681"/>
            <a:ext cx="1281989" cy="247802"/>
          </a:xfrm>
          <a:prstGeom prst="rect">
            <a:avLst/>
          </a:prstGeom>
          <a:noFill/>
          <a:ln/>
        </p:spPr>
        <p:txBody>
          <a:bodyPr wrap="square" lIns="0" tIns="0" rIns="0" bIns="0" rtlCol="0" anchor="ctr"/>
          <a:lstStyle/>
          <a:p>
            <a:pPr marL="0" indent="0" algn="l">
              <a:buNone/>
            </a:pPr>
            <a:r>
              <a:rPr lang="en-US" sz="1300" b="1" dirty="0">
                <a:solidFill>
                  <a:srgbClr val="374151"/>
                </a:solidFill>
                <a:latin typeface="Noto Sans KR" pitchFamily="34" charset="0"/>
                <a:ea typeface="Noto Sans KR" pitchFamily="34" charset="-122"/>
                <a:cs typeface="Noto Sans KR" pitchFamily="34" charset="-120"/>
              </a:rPr>
              <a:t>포트폴리오 요약</a:t>
            </a:r>
            <a:endParaRPr lang="en-US" sz="1300" dirty="0"/>
          </a:p>
        </p:txBody>
      </p:sp>
      <p:sp>
        <p:nvSpPr>
          <p:cNvPr id="65" name="Text 47"/>
          <p:cNvSpPr txBox="1"/>
          <p:nvPr/>
        </p:nvSpPr>
        <p:spPr>
          <a:xfrm>
            <a:off x="7591349" y="4954573"/>
            <a:ext cx="762610" cy="228600"/>
          </a:xfrm>
          <a:prstGeom prst="rect">
            <a:avLst/>
          </a:prstGeom>
          <a:noFill/>
          <a:ln/>
        </p:spPr>
        <p:txBody>
          <a:bodyPr wrap="square" lIns="0" tIns="0" rIns="0" bIns="0" rtlCol="0" anchor="ctr"/>
          <a:lstStyle/>
          <a:p>
            <a:pPr marL="0" indent="0" algn="l">
              <a:buNone/>
            </a:pPr>
            <a:r>
              <a:rPr lang="en-US" sz="1200" dirty="0">
                <a:solidFill>
                  <a:srgbClr val="4B5563"/>
                </a:solidFill>
                <a:latin typeface="Noto Sans KR" pitchFamily="34" charset="0"/>
                <a:ea typeface="Noto Sans KR" pitchFamily="34" charset="-122"/>
                <a:cs typeface="Noto Sans KR" pitchFamily="34" charset="-120"/>
              </a:rPr>
              <a:t>총 자산 수</a:t>
            </a:r>
            <a:endParaRPr lang="en-US" sz="1200" dirty="0"/>
          </a:p>
        </p:txBody>
      </p:sp>
      <p:sp>
        <p:nvSpPr>
          <p:cNvPr id="66" name="Text 48"/>
          <p:cNvSpPr txBox="1"/>
          <p:nvPr/>
        </p:nvSpPr>
        <p:spPr>
          <a:xfrm>
            <a:off x="10981944" y="4926227"/>
            <a:ext cx="543154" cy="277063"/>
          </a:xfrm>
          <a:prstGeom prst="rect">
            <a:avLst/>
          </a:prstGeom>
          <a:noFill/>
          <a:ln/>
        </p:spPr>
        <p:txBody>
          <a:bodyPr wrap="square" lIns="0" tIns="0" rIns="0" bIns="0" rtlCol="0" anchor="ctr"/>
          <a:lstStyle/>
          <a:p>
            <a:pPr marL="0" indent="0" algn="l">
              <a:buNone/>
            </a:pPr>
            <a:r>
              <a:rPr lang="en-US" sz="1500" b="1" dirty="0">
                <a:solidFill>
                  <a:srgbClr val="2563EB"/>
                </a:solidFill>
                <a:latin typeface="Noto Sans KR" pitchFamily="34" charset="0"/>
                <a:ea typeface="Noto Sans KR" pitchFamily="34" charset="-122"/>
                <a:cs typeface="Noto Sans KR" pitchFamily="34" charset="-120"/>
              </a:rPr>
              <a:t>13개</a:t>
            </a:r>
            <a:endParaRPr lang="en-US" sz="1500" dirty="0"/>
          </a:p>
        </p:txBody>
      </p:sp>
      <p:sp>
        <p:nvSpPr>
          <p:cNvPr id="67" name="Text 49"/>
          <p:cNvSpPr txBox="1"/>
          <p:nvPr/>
        </p:nvSpPr>
        <p:spPr>
          <a:xfrm>
            <a:off x="7591349" y="5316676"/>
            <a:ext cx="1133856" cy="228600"/>
          </a:xfrm>
          <a:prstGeom prst="rect">
            <a:avLst/>
          </a:prstGeom>
          <a:noFill/>
          <a:ln/>
        </p:spPr>
        <p:txBody>
          <a:bodyPr wrap="square" lIns="0" tIns="0" rIns="0" bIns="0" rtlCol="0" anchor="ctr"/>
          <a:lstStyle/>
          <a:p>
            <a:pPr marL="0" indent="0" algn="l">
              <a:buNone/>
            </a:pPr>
            <a:r>
              <a:rPr lang="en-US" sz="1200" dirty="0">
                <a:solidFill>
                  <a:srgbClr val="4B5563"/>
                </a:solidFill>
                <a:latin typeface="Noto Sans KR" pitchFamily="34" charset="0"/>
                <a:ea typeface="Noto Sans KR" pitchFamily="34" charset="-122"/>
                <a:cs typeface="Noto Sans KR" pitchFamily="34" charset="-120"/>
              </a:rPr>
              <a:t>위험 자산 (ETF)</a:t>
            </a:r>
            <a:endParaRPr lang="en-US" sz="1200" dirty="0"/>
          </a:p>
        </p:txBody>
      </p:sp>
      <p:sp>
        <p:nvSpPr>
          <p:cNvPr id="68" name="Text 50"/>
          <p:cNvSpPr txBox="1"/>
          <p:nvPr/>
        </p:nvSpPr>
        <p:spPr>
          <a:xfrm>
            <a:off x="11065154" y="5316676"/>
            <a:ext cx="438912" cy="228600"/>
          </a:xfrm>
          <a:prstGeom prst="rect">
            <a:avLst/>
          </a:prstGeom>
          <a:noFill/>
          <a:ln/>
        </p:spPr>
        <p:txBody>
          <a:bodyPr wrap="square" lIns="0" tIns="0" rIns="0" bIns="0" rtlCol="0" anchor="ctr"/>
          <a:lstStyle/>
          <a:p>
            <a:pPr marL="0" indent="0" algn="l">
              <a:buNone/>
            </a:pPr>
            <a:r>
              <a:rPr lang="en-US" sz="1200" b="1" dirty="0">
                <a:solidFill>
                  <a:srgbClr val="1F2937"/>
                </a:solidFill>
                <a:latin typeface="Noto Sans KR" pitchFamily="34" charset="0"/>
                <a:ea typeface="Noto Sans KR" pitchFamily="34" charset="-122"/>
                <a:cs typeface="Noto Sans KR" pitchFamily="34" charset="-120"/>
              </a:rPr>
              <a:t>12개</a:t>
            </a:r>
            <a:endParaRPr lang="en-US" sz="1200" dirty="0"/>
          </a:p>
        </p:txBody>
      </p:sp>
      <p:sp>
        <p:nvSpPr>
          <p:cNvPr id="69" name="Text 51"/>
          <p:cNvSpPr txBox="1"/>
          <p:nvPr/>
        </p:nvSpPr>
        <p:spPr>
          <a:xfrm>
            <a:off x="7591349" y="5659576"/>
            <a:ext cx="866851" cy="228600"/>
          </a:xfrm>
          <a:prstGeom prst="rect">
            <a:avLst/>
          </a:prstGeom>
          <a:noFill/>
          <a:ln/>
        </p:spPr>
        <p:txBody>
          <a:bodyPr wrap="square" lIns="0" tIns="0" rIns="0" bIns="0" rtlCol="0" anchor="ctr"/>
          <a:lstStyle/>
          <a:p>
            <a:pPr marL="0" indent="0" algn="l">
              <a:buNone/>
            </a:pPr>
            <a:r>
              <a:rPr lang="en-US" sz="1200" dirty="0">
                <a:solidFill>
                  <a:srgbClr val="4B5563"/>
                </a:solidFill>
                <a:latin typeface="Noto Sans KR" pitchFamily="34" charset="0"/>
                <a:ea typeface="Noto Sans KR" pitchFamily="34" charset="-122"/>
                <a:cs typeface="Noto Sans KR" pitchFamily="34" charset="-120"/>
              </a:rPr>
              <a:t>무위험 자산</a:t>
            </a:r>
            <a:endParaRPr lang="en-US" sz="1200" dirty="0"/>
          </a:p>
        </p:txBody>
      </p:sp>
      <p:sp>
        <p:nvSpPr>
          <p:cNvPr id="70" name="Text 52"/>
          <p:cNvSpPr txBox="1"/>
          <p:nvPr/>
        </p:nvSpPr>
        <p:spPr>
          <a:xfrm>
            <a:off x="10718597" y="5659576"/>
            <a:ext cx="781812" cy="228600"/>
          </a:xfrm>
          <a:prstGeom prst="rect">
            <a:avLst/>
          </a:prstGeom>
          <a:noFill/>
          <a:ln/>
        </p:spPr>
        <p:txBody>
          <a:bodyPr wrap="square" lIns="0" tIns="0" rIns="0" bIns="0" rtlCol="0" anchor="ctr"/>
          <a:lstStyle/>
          <a:p>
            <a:pPr marL="0" indent="0" algn="l">
              <a:buNone/>
            </a:pPr>
            <a:r>
              <a:rPr lang="en-US" sz="1200" b="1" dirty="0">
                <a:solidFill>
                  <a:srgbClr val="1F2937"/>
                </a:solidFill>
                <a:latin typeface="Noto Sans KR" pitchFamily="34" charset="0"/>
                <a:ea typeface="Noto Sans KR" pitchFamily="34" charset="-122"/>
                <a:cs typeface="Noto Sans KR" pitchFamily="34" charset="-120"/>
              </a:rPr>
              <a:t>1개 (현금)</a:t>
            </a:r>
            <a:endParaRPr lang="en-US" sz="1200" dirty="0"/>
          </a:p>
        </p:txBody>
      </p:sp>
      <p:sp>
        <p:nvSpPr>
          <p:cNvPr id="72" name="Text 8">
            <a:extLst>
              <a:ext uri="{FF2B5EF4-FFF2-40B4-BE49-F238E27FC236}">
                <a16:creationId xmlns:a16="http://schemas.microsoft.com/office/drawing/2014/main" id="{31C6B780-F8D2-ED49-A70D-CAB8DE63B6DB}"/>
              </a:ext>
            </a:extLst>
          </p:cNvPr>
          <p:cNvSpPr txBox="1"/>
          <p:nvPr/>
        </p:nvSpPr>
        <p:spPr>
          <a:xfrm>
            <a:off x="1190549" y="5026862"/>
            <a:ext cx="4044391" cy="305410"/>
          </a:xfrm>
          <a:prstGeom prst="rect">
            <a:avLst/>
          </a:prstGeom>
          <a:noFill/>
          <a:ln/>
        </p:spPr>
        <p:txBody>
          <a:bodyPr wrap="square" lIns="0" tIns="0" rIns="0" bIns="0" rtlCol="0" anchor="ctr"/>
          <a:lstStyle/>
          <a:p>
            <a:pPr marL="0" indent="0" algn="l">
              <a:buNone/>
            </a:pPr>
            <a:r>
              <a:rPr lang="ko-KR" altLang="en-US" sz="1600" b="1" dirty="0" err="1">
                <a:solidFill>
                  <a:srgbClr val="1F2937"/>
                </a:solidFill>
                <a:latin typeface="Noto Sans KR" pitchFamily="34" charset="0"/>
                <a:ea typeface="Noto Sans KR" pitchFamily="34" charset="-122"/>
              </a:rPr>
              <a:t>무위험</a:t>
            </a:r>
            <a:r>
              <a:rPr lang="ko-KR" altLang="en-US" sz="1600" b="1" dirty="0">
                <a:solidFill>
                  <a:srgbClr val="1F2937"/>
                </a:solidFill>
                <a:latin typeface="Noto Sans KR" pitchFamily="34" charset="0"/>
                <a:ea typeface="Noto Sans KR" pitchFamily="34" charset="-122"/>
              </a:rPr>
              <a:t> 자산 </a:t>
            </a:r>
            <a:r>
              <a:rPr lang="en-US" altLang="ko-KR" sz="1600" b="1" dirty="0">
                <a:solidFill>
                  <a:srgbClr val="1F2937"/>
                </a:solidFill>
                <a:latin typeface="Noto Sans KR" pitchFamily="34" charset="0"/>
                <a:ea typeface="Noto Sans KR" pitchFamily="34" charset="-122"/>
              </a:rPr>
              <a:t>: </a:t>
            </a:r>
            <a:r>
              <a:rPr lang="ko-KR" altLang="en-US" sz="1600" b="1" dirty="0">
                <a:solidFill>
                  <a:srgbClr val="1F2937"/>
                </a:solidFill>
                <a:latin typeface="Noto Sans KR" pitchFamily="34" charset="0"/>
                <a:ea typeface="Noto Sans KR" pitchFamily="34" charset="-122"/>
              </a:rPr>
              <a:t>현금</a:t>
            </a:r>
            <a:endParaRPr lang="en-US" sz="1600" dirty="0"/>
          </a:p>
        </p:txBody>
      </p:sp>
      <p:sp>
        <p:nvSpPr>
          <p:cNvPr id="73" name="Shape 32">
            <a:extLst>
              <a:ext uri="{FF2B5EF4-FFF2-40B4-BE49-F238E27FC236}">
                <a16:creationId xmlns:a16="http://schemas.microsoft.com/office/drawing/2014/main" id="{BD04AAF8-A5CF-9641-8859-4B71B2363C81}"/>
              </a:ext>
            </a:extLst>
          </p:cNvPr>
          <p:cNvSpPr/>
          <p:nvPr/>
        </p:nvSpPr>
        <p:spPr>
          <a:xfrm>
            <a:off x="857707" y="5471769"/>
            <a:ext cx="2895905" cy="400507"/>
          </a:xfrm>
          <a:prstGeom prst="roundRect">
            <a:avLst>
              <a:gd name="adj" fmla="val 32616"/>
            </a:avLst>
          </a:prstGeom>
          <a:solidFill>
            <a:srgbClr val="FFFFFF"/>
          </a:solidFill>
          <a:ln w="12700">
            <a:solidFill>
              <a:srgbClr val="E5E7EB"/>
            </a:solidFill>
            <a:prstDash val="solid"/>
          </a:ln>
        </p:spPr>
      </p:sp>
      <p:sp>
        <p:nvSpPr>
          <p:cNvPr id="75" name="Text 33">
            <a:extLst>
              <a:ext uri="{FF2B5EF4-FFF2-40B4-BE49-F238E27FC236}">
                <a16:creationId xmlns:a16="http://schemas.microsoft.com/office/drawing/2014/main" id="{8E738A02-9A66-2B40-93CE-6D53B5DD57E6}"/>
              </a:ext>
            </a:extLst>
          </p:cNvPr>
          <p:cNvSpPr txBox="1"/>
          <p:nvPr/>
        </p:nvSpPr>
        <p:spPr>
          <a:xfrm>
            <a:off x="1190549" y="5557722"/>
            <a:ext cx="1114654" cy="228600"/>
          </a:xfrm>
          <a:prstGeom prst="rect">
            <a:avLst/>
          </a:prstGeom>
          <a:noFill/>
          <a:ln/>
        </p:spPr>
        <p:txBody>
          <a:bodyPr wrap="square" lIns="0" tIns="0" rIns="0" bIns="0" rtlCol="0" anchor="ctr"/>
          <a:lstStyle/>
          <a:p>
            <a:pPr marL="0" indent="0" algn="l">
              <a:buNone/>
            </a:pPr>
            <a:r>
              <a:rPr lang="en-US" sz="1200" dirty="0">
                <a:solidFill>
                  <a:srgbClr val="4B5563"/>
                </a:solidFill>
                <a:latin typeface="Noto Sans KR" pitchFamily="34" charset="0"/>
                <a:ea typeface="Noto Sans KR" pitchFamily="34" charset="-122"/>
              </a:rPr>
              <a:t>Cash (</a:t>
            </a:r>
            <a:r>
              <a:rPr lang="en-US" sz="1200" dirty="0" err="1">
                <a:solidFill>
                  <a:srgbClr val="4B5563"/>
                </a:solidFill>
                <a:latin typeface="Noto Sans KR" pitchFamily="34" charset="0"/>
                <a:ea typeface="Noto Sans KR" pitchFamily="34" charset="-122"/>
              </a:rPr>
              <a:t>현금</a:t>
            </a:r>
            <a:r>
              <a:rPr lang="en-US" altLang="ko-KR" sz="1200" dirty="0">
                <a:solidFill>
                  <a:srgbClr val="4B5563"/>
                </a:solidFill>
                <a:latin typeface="Noto Sans KR" pitchFamily="34" charset="0"/>
                <a:ea typeface="Noto Sans KR" pitchFamily="34" charset="-122"/>
              </a:rPr>
              <a:t>)</a:t>
            </a:r>
            <a:endParaRPr lang="en-US" sz="1200" dirty="0"/>
          </a:p>
        </p:txBody>
      </p:sp>
      <p:sp>
        <p:nvSpPr>
          <p:cNvPr id="55" name="Shape 38"/>
          <p:cNvSpPr/>
          <p:nvPr/>
        </p:nvSpPr>
        <p:spPr>
          <a:xfrm>
            <a:off x="2428189" y="5556807"/>
            <a:ext cx="1228954" cy="225239"/>
          </a:xfrm>
          <a:prstGeom prst="roundRect">
            <a:avLst>
              <a:gd name="adj" fmla="val 228362"/>
            </a:avLst>
          </a:prstGeom>
          <a:solidFill>
            <a:schemeClr val="accent5">
              <a:lumMod val="40000"/>
              <a:lumOff val="60000"/>
            </a:schemeClr>
          </a:solidFill>
          <a:ln/>
        </p:spPr>
      </p:sp>
      <p:sp>
        <p:nvSpPr>
          <p:cNvPr id="56" name="Text 39"/>
          <p:cNvSpPr txBox="1"/>
          <p:nvPr/>
        </p:nvSpPr>
        <p:spPr>
          <a:xfrm>
            <a:off x="2516741" y="5590936"/>
            <a:ext cx="1138428" cy="191110"/>
          </a:xfrm>
          <a:prstGeom prst="rect">
            <a:avLst/>
          </a:prstGeom>
          <a:noFill/>
          <a:ln/>
        </p:spPr>
        <p:txBody>
          <a:bodyPr wrap="square" lIns="0" tIns="0" rIns="0" bIns="0" rtlCol="0" anchor="ctr"/>
          <a:lstStyle/>
          <a:p>
            <a:pPr marL="0" indent="0" algn="l">
              <a:buNone/>
            </a:pPr>
            <a:r>
              <a:rPr lang="en-US" sz="1000" dirty="0">
                <a:solidFill>
                  <a:schemeClr val="tx1">
                    <a:lumMod val="65000"/>
                    <a:lumOff val="35000"/>
                  </a:schemeClr>
                </a:solidFill>
                <a:latin typeface="Noto Sans KR" pitchFamily="34" charset="0"/>
                <a:ea typeface="Noto Sans KR" pitchFamily="34" charset="-122"/>
                <a:cs typeface="Noto Sans KR" pitchFamily="34" charset="-120"/>
              </a:rPr>
              <a:t>연 2.0% 고정 수익</a:t>
            </a:r>
            <a:endParaRPr lang="en-US" sz="1000" dirty="0">
              <a:solidFill>
                <a:schemeClr val="tx1">
                  <a:lumMod val="65000"/>
                  <a:lumOff val="35000"/>
                </a:schemeClr>
              </a:solidFill>
            </a:endParaRPr>
          </a:p>
        </p:txBody>
      </p:sp>
      <p:pic>
        <p:nvPicPr>
          <p:cNvPr id="53" name="Image 14" descr="preencoded.png"/>
          <p:cNvPicPr>
            <a:picLocks noChangeAspect="1"/>
          </p:cNvPicPr>
          <p:nvPr/>
        </p:nvPicPr>
        <p:blipFill>
          <a:blip r:embed="rId16"/>
          <a:srcRect l="-266" r="-266"/>
          <a:stretch/>
        </p:blipFill>
        <p:spPr>
          <a:xfrm>
            <a:off x="948690" y="5581039"/>
            <a:ext cx="176004" cy="155618"/>
          </a:xfrm>
          <a:prstGeom prst="rect">
            <a:avLst/>
          </a:prstGeom>
        </p:spPr>
      </p:pic>
      <p:pic>
        <p:nvPicPr>
          <p:cNvPr id="76" name="Image 0" descr="preencoded.png">
            <a:extLst>
              <a:ext uri="{FF2B5EF4-FFF2-40B4-BE49-F238E27FC236}">
                <a16:creationId xmlns:a16="http://schemas.microsoft.com/office/drawing/2014/main" id="{2C32E667-AB30-5D4F-BB39-248ACC392A58}"/>
              </a:ext>
            </a:extLst>
          </p:cNvPr>
          <p:cNvPicPr>
            <a:picLocks noChangeAspect="1"/>
          </p:cNvPicPr>
          <p:nvPr/>
        </p:nvPicPr>
        <p:blipFill>
          <a:blip r:embed="rId3"/>
          <a:srcRect l="-461" r="-461"/>
          <a:stretch/>
        </p:blipFill>
        <p:spPr>
          <a:xfrm>
            <a:off x="857707" y="5082358"/>
            <a:ext cx="237744" cy="20939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6" name="Text 4"/>
          <p:cNvSpPr txBox="1"/>
          <p:nvPr/>
        </p:nvSpPr>
        <p:spPr>
          <a:xfrm>
            <a:off x="571500" y="234950"/>
            <a:ext cx="3010205" cy="457200"/>
          </a:xfrm>
          <a:prstGeom prst="rect">
            <a:avLst/>
          </a:prstGeom>
          <a:noFill/>
          <a:ln/>
        </p:spPr>
        <p:txBody>
          <a:bodyPr wrap="square" lIns="0" tIns="0" rIns="0" bIns="0" rtlCol="0" anchor="ctr"/>
          <a:lstStyle/>
          <a:p>
            <a:pPr marL="0" indent="0" algn="l">
              <a:buNone/>
            </a:pPr>
            <a:r>
              <a:rPr lang="en-US" sz="2400" b="1" dirty="0">
                <a:solidFill>
                  <a:srgbClr val="111827"/>
                </a:solidFill>
                <a:latin typeface="Noto Sans KR" pitchFamily="34" charset="0"/>
                <a:ea typeface="Noto Sans KR" pitchFamily="34" charset="-122"/>
                <a:cs typeface="Noto Sans KR" pitchFamily="34" charset="-120"/>
              </a:rPr>
              <a:t>데이터 기간 및 전처리</a:t>
            </a:r>
            <a:endParaRPr lang="en-US" sz="2400" dirty="0"/>
          </a:p>
        </p:txBody>
      </p:sp>
      <p:sp>
        <p:nvSpPr>
          <p:cNvPr id="8" name="Shape 6"/>
          <p:cNvSpPr/>
          <p:nvPr/>
        </p:nvSpPr>
        <p:spPr>
          <a:xfrm>
            <a:off x="571500" y="836613"/>
            <a:ext cx="5820156" cy="2409444"/>
          </a:xfrm>
          <a:prstGeom prst="roundRect">
            <a:avLst>
              <a:gd name="adj" fmla="val 1800"/>
            </a:avLst>
          </a:prstGeom>
          <a:solidFill>
            <a:srgbClr val="F9FAFB"/>
          </a:solidFill>
          <a:ln/>
          <a:effectLst>
            <a:outerShdw blurRad="38100" dist="25400" dir="5400000" algn="bl" rotWithShape="0">
              <a:srgbClr val="000000">
                <a:alpha val="5000"/>
              </a:srgbClr>
            </a:outerShdw>
          </a:effectLst>
        </p:spPr>
      </p:sp>
      <p:sp>
        <p:nvSpPr>
          <p:cNvPr id="9" name="Shape 7"/>
          <p:cNvSpPr/>
          <p:nvPr/>
        </p:nvSpPr>
        <p:spPr>
          <a:xfrm>
            <a:off x="571500" y="836613"/>
            <a:ext cx="47549" cy="2409444"/>
          </a:xfrm>
          <a:prstGeom prst="rect">
            <a:avLst/>
          </a:prstGeom>
          <a:solidFill>
            <a:srgbClr val="2563EB"/>
          </a:solidFill>
          <a:ln/>
        </p:spPr>
      </p:sp>
      <p:pic>
        <p:nvPicPr>
          <p:cNvPr id="10" name="Image 0" descr="preencoded.png"/>
          <p:cNvPicPr>
            <a:picLocks noChangeAspect="1"/>
          </p:cNvPicPr>
          <p:nvPr/>
        </p:nvPicPr>
        <p:blipFill>
          <a:blip r:embed="rId3"/>
          <a:srcRect/>
          <a:stretch/>
        </p:blipFill>
        <p:spPr>
          <a:xfrm>
            <a:off x="857707" y="1127392"/>
            <a:ext cx="209398" cy="209398"/>
          </a:xfrm>
          <a:prstGeom prst="rect">
            <a:avLst/>
          </a:prstGeom>
        </p:spPr>
      </p:pic>
      <p:sp>
        <p:nvSpPr>
          <p:cNvPr id="11" name="Text 8"/>
          <p:cNvSpPr txBox="1"/>
          <p:nvPr/>
        </p:nvSpPr>
        <p:spPr>
          <a:xfrm>
            <a:off x="1181405" y="1075272"/>
            <a:ext cx="1634033" cy="305410"/>
          </a:xfrm>
          <a:prstGeom prst="rect">
            <a:avLst/>
          </a:prstGeom>
          <a:noFill/>
          <a:ln/>
        </p:spPr>
        <p:txBody>
          <a:bodyPr wrap="square" lIns="0" tIns="0" rIns="0" bIns="0" rtlCol="0" anchor="ctr"/>
          <a:lstStyle/>
          <a:p>
            <a:pPr marL="0" indent="0" algn="l">
              <a:buNone/>
            </a:pPr>
            <a:r>
              <a:rPr lang="en-US" sz="1600" b="1" dirty="0">
                <a:solidFill>
                  <a:srgbClr val="1F2937"/>
                </a:solidFill>
                <a:latin typeface="Noto Sans KR" pitchFamily="34" charset="0"/>
                <a:ea typeface="Noto Sans KR" pitchFamily="34" charset="-122"/>
                <a:cs typeface="Noto Sans KR" pitchFamily="34" charset="-120"/>
              </a:rPr>
              <a:t>데이터 수집 기간</a:t>
            </a:r>
            <a:endParaRPr lang="en-US" sz="1600" dirty="0"/>
          </a:p>
        </p:txBody>
      </p:sp>
      <p:sp>
        <p:nvSpPr>
          <p:cNvPr id="12" name="Shape 9"/>
          <p:cNvSpPr/>
          <p:nvPr/>
        </p:nvSpPr>
        <p:spPr>
          <a:xfrm>
            <a:off x="857707" y="1532472"/>
            <a:ext cx="2333549" cy="428854"/>
          </a:xfrm>
          <a:prstGeom prst="roundRect">
            <a:avLst>
              <a:gd name="adj" fmla="val 37906"/>
            </a:avLst>
          </a:prstGeom>
          <a:solidFill>
            <a:srgbClr val="EFF6FF"/>
          </a:solidFill>
          <a:ln w="12700">
            <a:solidFill>
              <a:srgbClr val="BFDBFE"/>
            </a:solidFill>
            <a:prstDash val="solid"/>
          </a:ln>
        </p:spPr>
      </p:sp>
      <p:sp>
        <p:nvSpPr>
          <p:cNvPr id="13" name="Text 10"/>
          <p:cNvSpPr txBox="1"/>
          <p:nvPr/>
        </p:nvSpPr>
        <p:spPr>
          <a:xfrm>
            <a:off x="1019556" y="1618425"/>
            <a:ext cx="2138782" cy="247802"/>
          </a:xfrm>
          <a:prstGeom prst="rect">
            <a:avLst/>
          </a:prstGeom>
          <a:noFill/>
          <a:ln/>
        </p:spPr>
        <p:txBody>
          <a:bodyPr wrap="square" lIns="0" tIns="0" rIns="0" bIns="0" rtlCol="0" anchor="ctr"/>
          <a:lstStyle/>
          <a:p>
            <a:pPr marL="0" indent="0" algn="l">
              <a:buNone/>
            </a:pPr>
            <a:r>
              <a:rPr lang="en-US" sz="1300" b="1" dirty="0">
                <a:solidFill>
                  <a:srgbClr val="1E40AF"/>
                </a:solidFill>
                <a:latin typeface="Noto Sans KR" pitchFamily="34" charset="0"/>
                <a:ea typeface="Noto Sans KR" pitchFamily="34" charset="-122"/>
                <a:cs typeface="Noto Sans KR" pitchFamily="34" charset="-120"/>
              </a:rPr>
              <a:t>2024.01.01 ~ 2025.11.30</a:t>
            </a:r>
            <a:endParaRPr lang="en-US" sz="1300" dirty="0"/>
          </a:p>
        </p:txBody>
      </p:sp>
      <p:sp>
        <p:nvSpPr>
          <p:cNvPr id="14" name="Shape 11"/>
          <p:cNvSpPr/>
          <p:nvPr/>
        </p:nvSpPr>
        <p:spPr>
          <a:xfrm>
            <a:off x="857707" y="2113116"/>
            <a:ext cx="2553005" cy="895198"/>
          </a:xfrm>
          <a:prstGeom prst="roundRect">
            <a:avLst>
              <a:gd name="adj" fmla="val 8693"/>
            </a:avLst>
          </a:prstGeom>
          <a:solidFill>
            <a:srgbClr val="FFFFFF"/>
          </a:solidFill>
          <a:ln w="12700">
            <a:solidFill>
              <a:srgbClr val="E5E7EB"/>
            </a:solidFill>
            <a:prstDash val="solid"/>
          </a:ln>
        </p:spPr>
      </p:sp>
      <p:sp>
        <p:nvSpPr>
          <p:cNvPr id="15" name="Text 12"/>
          <p:cNvSpPr txBox="1"/>
          <p:nvPr/>
        </p:nvSpPr>
        <p:spPr>
          <a:xfrm>
            <a:off x="1993392" y="2265820"/>
            <a:ext cx="457200" cy="333756"/>
          </a:xfrm>
          <a:prstGeom prst="rect">
            <a:avLst/>
          </a:prstGeom>
          <a:noFill/>
          <a:ln/>
        </p:spPr>
        <p:txBody>
          <a:bodyPr wrap="square" lIns="0" tIns="0" rIns="0" bIns="0" rtlCol="0" anchor="ctr"/>
          <a:lstStyle/>
          <a:p>
            <a:pPr marL="0" indent="0" algn="ctr">
              <a:buNone/>
            </a:pPr>
            <a:r>
              <a:rPr lang="en-US" sz="1800" b="1" dirty="0">
                <a:solidFill>
                  <a:srgbClr val="2563EB"/>
                </a:solidFill>
                <a:latin typeface="Noto Sans KR" pitchFamily="34" charset="0"/>
                <a:ea typeface="Noto Sans KR" pitchFamily="34" charset="-122"/>
                <a:cs typeface="Noto Sans KR" pitchFamily="34" charset="-120"/>
              </a:rPr>
              <a:t>23</a:t>
            </a:r>
            <a:endParaRPr lang="en-US" sz="1800" dirty="0"/>
          </a:p>
        </p:txBody>
      </p:sp>
      <p:sp>
        <p:nvSpPr>
          <p:cNvPr id="16" name="Text 13"/>
          <p:cNvSpPr txBox="1"/>
          <p:nvPr/>
        </p:nvSpPr>
        <p:spPr>
          <a:xfrm>
            <a:off x="1713586" y="2656269"/>
            <a:ext cx="939089" cy="191110"/>
          </a:xfrm>
          <a:prstGeom prst="rect">
            <a:avLst/>
          </a:prstGeom>
          <a:noFill/>
          <a:ln/>
        </p:spPr>
        <p:txBody>
          <a:bodyPr wrap="square" lIns="0" tIns="0" rIns="0" bIns="0" rtlCol="0" anchor="ctr"/>
          <a:lstStyle/>
          <a:p>
            <a:pPr marL="0" indent="0" algn="ctr">
              <a:buNone/>
            </a:pPr>
            <a:r>
              <a:rPr lang="en-US" sz="1000" dirty="0">
                <a:solidFill>
                  <a:srgbClr val="6B7280"/>
                </a:solidFill>
                <a:latin typeface="Noto Sans KR" pitchFamily="34" charset="0"/>
                <a:ea typeface="Noto Sans KR" pitchFamily="34" charset="-122"/>
                <a:cs typeface="Noto Sans KR" pitchFamily="34" charset="-120"/>
              </a:rPr>
              <a:t>개월 (Months)</a:t>
            </a:r>
            <a:endParaRPr lang="en-US" sz="1000" dirty="0"/>
          </a:p>
        </p:txBody>
      </p:sp>
      <p:sp>
        <p:nvSpPr>
          <p:cNvPr id="17" name="Shape 14"/>
          <p:cNvSpPr/>
          <p:nvPr/>
        </p:nvSpPr>
        <p:spPr>
          <a:xfrm>
            <a:off x="3598164" y="2113116"/>
            <a:ext cx="2553005" cy="895198"/>
          </a:xfrm>
          <a:prstGeom prst="roundRect">
            <a:avLst>
              <a:gd name="adj" fmla="val 8693"/>
            </a:avLst>
          </a:prstGeom>
          <a:solidFill>
            <a:srgbClr val="FFFFFF"/>
          </a:solidFill>
          <a:ln w="12700">
            <a:solidFill>
              <a:srgbClr val="E5E7EB"/>
            </a:solidFill>
            <a:prstDash val="solid"/>
          </a:ln>
        </p:spPr>
      </p:sp>
      <p:sp>
        <p:nvSpPr>
          <p:cNvPr id="18" name="Text 15"/>
          <p:cNvSpPr txBox="1"/>
          <p:nvPr/>
        </p:nvSpPr>
        <p:spPr>
          <a:xfrm>
            <a:off x="4664354" y="2265820"/>
            <a:ext cx="590702" cy="333756"/>
          </a:xfrm>
          <a:prstGeom prst="rect">
            <a:avLst/>
          </a:prstGeom>
          <a:noFill/>
          <a:ln/>
        </p:spPr>
        <p:txBody>
          <a:bodyPr wrap="square" lIns="0" tIns="0" rIns="0" bIns="0" rtlCol="0" anchor="ctr"/>
          <a:lstStyle/>
          <a:p>
            <a:pPr marL="0" indent="0" algn="ctr">
              <a:buNone/>
            </a:pPr>
            <a:r>
              <a:rPr lang="en-US" sz="1800" b="1" dirty="0">
                <a:solidFill>
                  <a:srgbClr val="2563EB"/>
                </a:solidFill>
                <a:latin typeface="Noto Sans KR" pitchFamily="34" charset="0"/>
                <a:ea typeface="Noto Sans KR" pitchFamily="34" charset="-122"/>
                <a:cs typeface="Noto Sans KR" pitchFamily="34" charset="-120"/>
              </a:rPr>
              <a:t>465</a:t>
            </a:r>
            <a:endParaRPr lang="en-US" sz="1800" dirty="0"/>
          </a:p>
        </p:txBody>
      </p:sp>
      <p:sp>
        <p:nvSpPr>
          <p:cNvPr id="19" name="Text 16"/>
          <p:cNvSpPr txBox="1"/>
          <p:nvPr/>
        </p:nvSpPr>
        <p:spPr>
          <a:xfrm>
            <a:off x="4221785" y="2656269"/>
            <a:ext cx="1405433" cy="191110"/>
          </a:xfrm>
          <a:prstGeom prst="rect">
            <a:avLst/>
          </a:prstGeom>
          <a:noFill/>
          <a:ln/>
        </p:spPr>
        <p:txBody>
          <a:bodyPr wrap="square" lIns="0" tIns="0" rIns="0" bIns="0" rtlCol="0" anchor="ctr"/>
          <a:lstStyle/>
          <a:p>
            <a:pPr marL="0" indent="0" algn="ctr">
              <a:buNone/>
            </a:pPr>
            <a:r>
              <a:rPr lang="en-US" sz="1000" dirty="0">
                <a:solidFill>
                  <a:srgbClr val="6B7280"/>
                </a:solidFill>
                <a:latin typeface="Noto Sans KR" pitchFamily="34" charset="0"/>
                <a:ea typeface="Noto Sans KR" pitchFamily="34" charset="-122"/>
                <a:cs typeface="Noto Sans KR" pitchFamily="34" charset="-120"/>
              </a:rPr>
              <a:t>거래일 (Trading Days)</a:t>
            </a:r>
            <a:endParaRPr lang="en-US" sz="1000" dirty="0"/>
          </a:p>
        </p:txBody>
      </p:sp>
      <p:sp>
        <p:nvSpPr>
          <p:cNvPr id="20" name="Shape 17"/>
          <p:cNvSpPr/>
          <p:nvPr/>
        </p:nvSpPr>
        <p:spPr>
          <a:xfrm>
            <a:off x="571500" y="3675825"/>
            <a:ext cx="5820156" cy="2553005"/>
          </a:xfrm>
          <a:prstGeom prst="roundRect">
            <a:avLst>
              <a:gd name="adj" fmla="val 1604"/>
            </a:avLst>
          </a:prstGeom>
          <a:solidFill>
            <a:srgbClr val="F9FAFB"/>
          </a:solidFill>
          <a:ln/>
          <a:effectLst>
            <a:outerShdw blurRad="38100" dist="25400" dir="5400000" algn="bl" rotWithShape="0">
              <a:srgbClr val="000000">
                <a:alpha val="5000"/>
              </a:srgbClr>
            </a:outerShdw>
          </a:effectLst>
        </p:spPr>
      </p:sp>
      <p:sp>
        <p:nvSpPr>
          <p:cNvPr id="21" name="Shape 18"/>
          <p:cNvSpPr/>
          <p:nvPr/>
        </p:nvSpPr>
        <p:spPr>
          <a:xfrm>
            <a:off x="571500" y="3675825"/>
            <a:ext cx="47549" cy="2553005"/>
          </a:xfrm>
          <a:prstGeom prst="rect">
            <a:avLst/>
          </a:prstGeom>
          <a:solidFill>
            <a:srgbClr val="10B981"/>
          </a:solidFill>
          <a:ln/>
        </p:spPr>
      </p:sp>
      <p:pic>
        <p:nvPicPr>
          <p:cNvPr id="22" name="Image 1" descr="preencoded.png"/>
          <p:cNvPicPr>
            <a:picLocks noChangeAspect="1"/>
          </p:cNvPicPr>
          <p:nvPr/>
        </p:nvPicPr>
        <p:blipFill>
          <a:blip r:embed="rId4"/>
          <a:srcRect l="-461" r="-461"/>
          <a:stretch/>
        </p:blipFill>
        <p:spPr>
          <a:xfrm>
            <a:off x="857707" y="3965690"/>
            <a:ext cx="237744" cy="209398"/>
          </a:xfrm>
          <a:prstGeom prst="rect">
            <a:avLst/>
          </a:prstGeom>
        </p:spPr>
      </p:pic>
      <p:sp>
        <p:nvSpPr>
          <p:cNvPr id="23" name="Text 19"/>
          <p:cNvSpPr txBox="1"/>
          <p:nvPr/>
        </p:nvSpPr>
        <p:spPr>
          <a:xfrm>
            <a:off x="1209751" y="3913569"/>
            <a:ext cx="2157984" cy="305410"/>
          </a:xfrm>
          <a:prstGeom prst="rect">
            <a:avLst/>
          </a:prstGeom>
          <a:noFill/>
          <a:ln/>
        </p:spPr>
        <p:txBody>
          <a:bodyPr wrap="square" lIns="0" tIns="0" rIns="0" bIns="0" rtlCol="0" anchor="ctr"/>
          <a:lstStyle/>
          <a:p>
            <a:pPr marL="0" indent="0" algn="l">
              <a:buNone/>
            </a:pPr>
            <a:r>
              <a:rPr lang="en-US" sz="1600" b="1" dirty="0">
                <a:solidFill>
                  <a:srgbClr val="1F2937"/>
                </a:solidFill>
                <a:latin typeface="Noto Sans KR" pitchFamily="34" charset="0"/>
                <a:ea typeface="Noto Sans KR" pitchFamily="34" charset="-122"/>
                <a:cs typeface="Noto Sans KR" pitchFamily="34" charset="-120"/>
              </a:rPr>
              <a:t>데이터셋 분할 (80:20)</a:t>
            </a:r>
            <a:endParaRPr lang="en-US" sz="1600" dirty="0"/>
          </a:p>
        </p:txBody>
      </p:sp>
      <p:sp>
        <p:nvSpPr>
          <p:cNvPr id="24" name="Shape 20"/>
          <p:cNvSpPr/>
          <p:nvPr/>
        </p:nvSpPr>
        <p:spPr>
          <a:xfrm>
            <a:off x="857707" y="4370769"/>
            <a:ext cx="5296205" cy="1314907"/>
          </a:xfrm>
          <a:prstGeom prst="roundRect">
            <a:avLst>
              <a:gd name="adj" fmla="val 6047"/>
            </a:avLst>
          </a:prstGeom>
          <a:solidFill>
            <a:srgbClr val="FFFFFF"/>
          </a:solidFill>
          <a:ln w="12700">
            <a:solidFill>
              <a:srgbClr val="E5E7EB"/>
            </a:solidFill>
            <a:prstDash val="solid"/>
          </a:ln>
        </p:spPr>
      </p:sp>
      <p:sp>
        <p:nvSpPr>
          <p:cNvPr id="25" name="Shape 21"/>
          <p:cNvSpPr/>
          <p:nvPr/>
        </p:nvSpPr>
        <p:spPr>
          <a:xfrm>
            <a:off x="1104595" y="4618572"/>
            <a:ext cx="4800600" cy="381305"/>
          </a:xfrm>
          <a:prstGeom prst="roundRect">
            <a:avLst>
              <a:gd name="adj" fmla="val 119904"/>
            </a:avLst>
          </a:prstGeom>
          <a:solidFill>
            <a:srgbClr val="F3F4F6"/>
          </a:solidFill>
          <a:ln/>
        </p:spPr>
      </p:sp>
      <p:sp>
        <p:nvSpPr>
          <p:cNvPr id="26" name="Shape 22"/>
          <p:cNvSpPr/>
          <p:nvPr/>
        </p:nvSpPr>
        <p:spPr>
          <a:xfrm>
            <a:off x="1104595" y="4618572"/>
            <a:ext cx="3738067" cy="381305"/>
          </a:xfrm>
          <a:prstGeom prst="rect">
            <a:avLst/>
          </a:prstGeom>
          <a:solidFill>
            <a:srgbClr val="2563EB"/>
          </a:solidFill>
          <a:ln/>
        </p:spPr>
      </p:sp>
      <p:sp>
        <p:nvSpPr>
          <p:cNvPr id="27" name="Text 23"/>
          <p:cNvSpPr txBox="1"/>
          <p:nvPr/>
        </p:nvSpPr>
        <p:spPr>
          <a:xfrm>
            <a:off x="2425903" y="4709097"/>
            <a:ext cx="1300277" cy="200254"/>
          </a:xfrm>
          <a:prstGeom prst="rect">
            <a:avLst/>
          </a:prstGeom>
          <a:noFill/>
          <a:ln/>
        </p:spPr>
        <p:txBody>
          <a:bodyPr wrap="square" lIns="0" tIns="0" rIns="0" bIns="0" rtlCol="0" anchor="ctr"/>
          <a:lstStyle/>
          <a:p>
            <a:pPr marL="0" indent="0" algn="l">
              <a:buNone/>
            </a:pPr>
            <a:r>
              <a:rPr lang="en-US" sz="1000" b="1" dirty="0">
                <a:solidFill>
                  <a:srgbClr val="FFFFFF"/>
                </a:solidFill>
                <a:latin typeface="Noto Sans KR" pitchFamily="34" charset="0"/>
                <a:ea typeface="Noto Sans KR" pitchFamily="34" charset="-122"/>
                <a:cs typeface="Noto Sans KR" pitchFamily="34" charset="-120"/>
              </a:rPr>
              <a:t>Training Set (80%)</a:t>
            </a:r>
            <a:endParaRPr lang="en-US" sz="1000" dirty="0"/>
          </a:p>
        </p:txBody>
      </p:sp>
      <p:sp>
        <p:nvSpPr>
          <p:cNvPr id="28" name="Shape 24"/>
          <p:cNvSpPr/>
          <p:nvPr/>
        </p:nvSpPr>
        <p:spPr>
          <a:xfrm>
            <a:off x="4808830" y="4618572"/>
            <a:ext cx="1094537" cy="381305"/>
          </a:xfrm>
          <a:prstGeom prst="rect">
            <a:avLst/>
          </a:prstGeom>
          <a:solidFill>
            <a:srgbClr val="10B981"/>
          </a:solidFill>
          <a:ln/>
        </p:spPr>
      </p:sp>
      <p:sp>
        <p:nvSpPr>
          <p:cNvPr id="29" name="Text 25"/>
          <p:cNvSpPr txBox="1"/>
          <p:nvPr/>
        </p:nvSpPr>
        <p:spPr>
          <a:xfrm>
            <a:off x="4841748" y="4608513"/>
            <a:ext cx="1062533" cy="400507"/>
          </a:xfrm>
          <a:prstGeom prst="rect">
            <a:avLst/>
          </a:prstGeom>
          <a:noFill/>
          <a:ln/>
        </p:spPr>
        <p:txBody>
          <a:bodyPr wrap="square" lIns="0" tIns="0" rIns="0" bIns="0" rtlCol="0" anchor="ctr"/>
          <a:lstStyle/>
          <a:p>
            <a:pPr marL="0" indent="0" algn="ctr">
              <a:buNone/>
            </a:pPr>
            <a:r>
              <a:rPr lang="en-US" sz="1000" b="1" dirty="0">
                <a:solidFill>
                  <a:srgbClr val="FFFFFF"/>
                </a:solidFill>
                <a:latin typeface="Noto Sans KR" pitchFamily="34" charset="0"/>
                <a:ea typeface="Noto Sans KR" pitchFamily="34" charset="-122"/>
                <a:cs typeface="Noto Sans KR" pitchFamily="34" charset="-120"/>
              </a:rPr>
              <a:t>Validation Set (20%)</a:t>
            </a:r>
            <a:endParaRPr lang="en-US" sz="1000" dirty="0"/>
          </a:p>
        </p:txBody>
      </p:sp>
      <p:sp>
        <p:nvSpPr>
          <p:cNvPr id="30" name="Shape 26"/>
          <p:cNvSpPr/>
          <p:nvPr/>
        </p:nvSpPr>
        <p:spPr>
          <a:xfrm>
            <a:off x="1922983" y="5280597"/>
            <a:ext cx="114300" cy="114300"/>
          </a:xfrm>
          <a:prstGeom prst="ellipse">
            <a:avLst/>
          </a:prstGeom>
          <a:solidFill>
            <a:srgbClr val="2563EB"/>
          </a:solidFill>
          <a:ln/>
        </p:spPr>
      </p:sp>
      <p:sp>
        <p:nvSpPr>
          <p:cNvPr id="31" name="Text 27"/>
          <p:cNvSpPr txBox="1"/>
          <p:nvPr/>
        </p:nvSpPr>
        <p:spPr>
          <a:xfrm>
            <a:off x="2114093" y="5237620"/>
            <a:ext cx="1386230" cy="191110"/>
          </a:xfrm>
          <a:prstGeom prst="rect">
            <a:avLst/>
          </a:prstGeom>
          <a:noFill/>
          <a:ln/>
        </p:spPr>
        <p:txBody>
          <a:bodyPr wrap="square" lIns="0" tIns="0" rIns="0" bIns="0" rtlCol="0" anchor="ctr"/>
          <a:lstStyle/>
          <a:p>
            <a:pPr marL="0" indent="0" algn="l">
              <a:buNone/>
            </a:pPr>
            <a:r>
              <a:rPr lang="en-US" sz="1000" dirty="0">
                <a:solidFill>
                  <a:srgbClr val="4B5563"/>
                </a:solidFill>
                <a:latin typeface="Noto Sans KR" pitchFamily="34" charset="0"/>
                <a:ea typeface="Noto Sans KR" pitchFamily="34" charset="-122"/>
                <a:cs typeface="Noto Sans KR" pitchFamily="34" charset="-120"/>
              </a:rPr>
              <a:t>학습 데이터 (약 372일)</a:t>
            </a:r>
            <a:endParaRPr lang="en-US" sz="1000" dirty="0"/>
          </a:p>
        </p:txBody>
      </p:sp>
      <p:sp>
        <p:nvSpPr>
          <p:cNvPr id="32" name="Shape 28"/>
          <p:cNvSpPr/>
          <p:nvPr/>
        </p:nvSpPr>
        <p:spPr>
          <a:xfrm>
            <a:off x="3682289" y="5280597"/>
            <a:ext cx="114300" cy="114300"/>
          </a:xfrm>
          <a:prstGeom prst="ellipse">
            <a:avLst/>
          </a:prstGeom>
          <a:solidFill>
            <a:srgbClr val="10B981"/>
          </a:solidFill>
          <a:ln/>
        </p:spPr>
      </p:sp>
      <p:sp>
        <p:nvSpPr>
          <p:cNvPr id="33" name="Text 29"/>
          <p:cNvSpPr txBox="1"/>
          <p:nvPr/>
        </p:nvSpPr>
        <p:spPr>
          <a:xfrm>
            <a:off x="3873398" y="5237620"/>
            <a:ext cx="1310335" cy="191110"/>
          </a:xfrm>
          <a:prstGeom prst="rect">
            <a:avLst/>
          </a:prstGeom>
          <a:noFill/>
          <a:ln/>
        </p:spPr>
        <p:txBody>
          <a:bodyPr wrap="square" lIns="0" tIns="0" rIns="0" bIns="0" rtlCol="0" anchor="ctr"/>
          <a:lstStyle/>
          <a:p>
            <a:pPr marL="0" indent="0" algn="l">
              <a:buNone/>
            </a:pPr>
            <a:r>
              <a:rPr lang="en-US" sz="1000" dirty="0">
                <a:solidFill>
                  <a:srgbClr val="4B5563"/>
                </a:solidFill>
                <a:latin typeface="Noto Sans KR" pitchFamily="34" charset="0"/>
                <a:ea typeface="Noto Sans KR" pitchFamily="34" charset="-122"/>
                <a:cs typeface="Noto Sans KR" pitchFamily="34" charset="-120"/>
              </a:rPr>
              <a:t>검증 데이터 (약 93일)</a:t>
            </a:r>
            <a:endParaRPr lang="en-US" sz="1000" dirty="0"/>
          </a:p>
        </p:txBody>
      </p:sp>
      <p:pic>
        <p:nvPicPr>
          <p:cNvPr id="34" name="Image 2" descr="preencoded.png"/>
          <p:cNvPicPr>
            <a:picLocks noChangeAspect="1"/>
          </p:cNvPicPr>
          <p:nvPr/>
        </p:nvPicPr>
        <p:blipFill>
          <a:blip r:embed="rId5"/>
          <a:srcRect/>
          <a:stretch/>
        </p:blipFill>
        <p:spPr>
          <a:xfrm>
            <a:off x="1752905" y="5834724"/>
            <a:ext cx="133502" cy="133502"/>
          </a:xfrm>
          <a:prstGeom prst="rect">
            <a:avLst/>
          </a:prstGeom>
        </p:spPr>
      </p:pic>
      <p:sp>
        <p:nvSpPr>
          <p:cNvPr id="35" name="Text 30"/>
          <p:cNvSpPr txBox="1"/>
          <p:nvPr/>
        </p:nvSpPr>
        <p:spPr>
          <a:xfrm>
            <a:off x="1923898" y="5799062"/>
            <a:ext cx="3434486" cy="191110"/>
          </a:xfrm>
          <a:prstGeom prst="rect">
            <a:avLst/>
          </a:prstGeom>
          <a:noFill/>
          <a:ln/>
        </p:spPr>
        <p:txBody>
          <a:bodyPr wrap="square" lIns="0" tIns="0" rIns="0" bIns="0" rtlCol="0" anchor="ctr"/>
          <a:lstStyle/>
          <a:p>
            <a:pPr marL="0" indent="0" algn="ctr">
              <a:buNone/>
            </a:pPr>
            <a:r>
              <a:rPr lang="en-US" sz="1000" dirty="0">
                <a:solidFill>
                  <a:srgbClr val="6B7280"/>
                </a:solidFill>
                <a:latin typeface="Noto Sans KR" pitchFamily="34" charset="0"/>
                <a:ea typeface="Noto Sans KR" pitchFamily="34" charset="-122"/>
                <a:cs typeface="Noto Sans KR" pitchFamily="34" charset="-120"/>
              </a:rPr>
              <a:t>시계열 순서를 유지하여 미래 데이터를 학습하지 않도록 분할</a:t>
            </a:r>
            <a:endParaRPr lang="en-US" sz="1000" dirty="0"/>
          </a:p>
        </p:txBody>
      </p:sp>
      <p:sp>
        <p:nvSpPr>
          <p:cNvPr id="36" name="Shape 31"/>
          <p:cNvSpPr/>
          <p:nvPr/>
        </p:nvSpPr>
        <p:spPr>
          <a:xfrm>
            <a:off x="6862572" y="836613"/>
            <a:ext cx="4762195" cy="5581498"/>
          </a:xfrm>
          <a:prstGeom prst="roundRect">
            <a:avLst>
              <a:gd name="adj" fmla="val 461"/>
            </a:avLst>
          </a:prstGeom>
          <a:solidFill>
            <a:srgbClr val="FFFFFF"/>
          </a:solidFill>
          <a:ln w="12700">
            <a:solidFill>
              <a:srgbClr val="E5E7EB"/>
            </a:solidFill>
            <a:prstDash val="solid"/>
          </a:ln>
        </p:spPr>
      </p:sp>
      <p:pic>
        <p:nvPicPr>
          <p:cNvPr id="37" name="Image 3" descr="preencoded.png"/>
          <p:cNvPicPr>
            <a:picLocks noChangeAspect="1"/>
          </p:cNvPicPr>
          <p:nvPr/>
        </p:nvPicPr>
        <p:blipFill>
          <a:blip r:embed="rId6"/>
          <a:srcRect/>
          <a:stretch/>
        </p:blipFill>
        <p:spPr>
          <a:xfrm>
            <a:off x="7101230" y="1112762"/>
            <a:ext cx="190195" cy="190195"/>
          </a:xfrm>
          <a:prstGeom prst="rect">
            <a:avLst/>
          </a:prstGeom>
        </p:spPr>
      </p:pic>
      <p:sp>
        <p:nvSpPr>
          <p:cNvPr id="38" name="Text 32"/>
          <p:cNvSpPr txBox="1"/>
          <p:nvPr/>
        </p:nvSpPr>
        <p:spPr>
          <a:xfrm>
            <a:off x="7367321" y="1075272"/>
            <a:ext cx="2009851" cy="267005"/>
          </a:xfrm>
          <a:prstGeom prst="rect">
            <a:avLst/>
          </a:prstGeom>
          <a:noFill/>
          <a:ln/>
        </p:spPr>
        <p:txBody>
          <a:bodyPr wrap="square" lIns="0" tIns="0" rIns="0" bIns="0" rtlCol="0" anchor="ctr"/>
          <a:lstStyle/>
          <a:p>
            <a:pPr marL="0" indent="0" algn="l">
              <a:buNone/>
            </a:pPr>
            <a:r>
              <a:rPr lang="en-US" sz="1500" b="1" dirty="0">
                <a:solidFill>
                  <a:srgbClr val="1F2937"/>
                </a:solidFill>
                <a:latin typeface="Noto Sans KR" pitchFamily="34" charset="0"/>
                <a:ea typeface="Noto Sans KR" pitchFamily="34" charset="-122"/>
                <a:cs typeface="Noto Sans KR" pitchFamily="34" charset="-120"/>
              </a:rPr>
              <a:t>데이터 전처리 프로세스</a:t>
            </a:r>
            <a:endParaRPr lang="en-US" sz="1500" dirty="0"/>
          </a:p>
        </p:txBody>
      </p:sp>
      <p:sp>
        <p:nvSpPr>
          <p:cNvPr id="39" name="Shape 33"/>
          <p:cNvSpPr/>
          <p:nvPr/>
        </p:nvSpPr>
        <p:spPr>
          <a:xfrm>
            <a:off x="7091172" y="1789418"/>
            <a:ext cx="19202" cy="800100"/>
          </a:xfrm>
          <a:prstGeom prst="rect">
            <a:avLst/>
          </a:prstGeom>
          <a:solidFill>
            <a:srgbClr val="E5E7EB"/>
          </a:solidFill>
          <a:ln/>
        </p:spPr>
      </p:sp>
      <p:sp>
        <p:nvSpPr>
          <p:cNvPr id="40" name="Text 34"/>
          <p:cNvSpPr txBox="1"/>
          <p:nvPr/>
        </p:nvSpPr>
        <p:spPr>
          <a:xfrm>
            <a:off x="7576718" y="1569962"/>
            <a:ext cx="1748333" cy="247802"/>
          </a:xfrm>
          <a:prstGeom prst="rect">
            <a:avLst/>
          </a:prstGeom>
          <a:noFill/>
          <a:ln/>
        </p:spPr>
        <p:txBody>
          <a:bodyPr wrap="square" lIns="0" tIns="0" rIns="0" bIns="0" rtlCol="0" anchor="ctr"/>
          <a:lstStyle/>
          <a:p>
            <a:pPr marL="0" indent="0" algn="l">
              <a:buNone/>
            </a:pPr>
            <a:r>
              <a:rPr lang="en-US" sz="1300" b="1" dirty="0">
                <a:solidFill>
                  <a:srgbClr val="1F2937"/>
                </a:solidFill>
                <a:latin typeface="Noto Sans KR" pitchFamily="34" charset="0"/>
                <a:ea typeface="Noto Sans KR" pitchFamily="34" charset="-122"/>
                <a:cs typeface="Noto Sans KR" pitchFamily="34" charset="-120"/>
              </a:rPr>
              <a:t>1. 데이터 정렬 및 정제</a:t>
            </a:r>
            <a:endParaRPr lang="en-US" sz="1300" dirty="0"/>
          </a:p>
        </p:txBody>
      </p:sp>
      <p:sp>
        <p:nvSpPr>
          <p:cNvPr id="41" name="Text 35"/>
          <p:cNvSpPr txBox="1"/>
          <p:nvPr/>
        </p:nvSpPr>
        <p:spPr>
          <a:xfrm>
            <a:off x="7576718" y="1899436"/>
            <a:ext cx="3822192" cy="419710"/>
          </a:xfrm>
          <a:prstGeom prst="rect">
            <a:avLst/>
          </a:prstGeom>
          <a:noFill/>
          <a:ln/>
        </p:spPr>
        <p:txBody>
          <a:bodyPr wrap="square" lIns="0" tIns="0" rIns="0" bIns="0" rtlCol="0" anchor="t"/>
          <a:lstStyle/>
          <a:p>
            <a:pPr marL="171450" indent="-171450" algn="l">
              <a:buFont typeface="Arial" panose="020B0604020202020204" pitchFamily="34" charset="0"/>
              <a:buChar char="•"/>
            </a:pPr>
            <a:r>
              <a:rPr lang="en-US" sz="1100" dirty="0">
                <a:solidFill>
                  <a:srgbClr val="4B5563"/>
                </a:solidFill>
                <a:latin typeface="Noto Sans KR" pitchFamily="34" charset="0"/>
                <a:ea typeface="Noto Sans KR" pitchFamily="34" charset="-122"/>
                <a:cs typeface="Noto Sans KR" pitchFamily="34" charset="-120"/>
              </a:rPr>
              <a:t>모든 자산의 OHLCV 데이터를 날짜 </a:t>
            </a:r>
            <a:r>
              <a:rPr lang="en-US" sz="1100" dirty="0" err="1">
                <a:solidFill>
                  <a:srgbClr val="4B5563"/>
                </a:solidFill>
                <a:latin typeface="Noto Sans KR" pitchFamily="34" charset="0"/>
                <a:ea typeface="Noto Sans KR" pitchFamily="34" charset="-122"/>
                <a:cs typeface="Noto Sans KR" pitchFamily="34" charset="-120"/>
              </a:rPr>
              <a:t>기준으로</a:t>
            </a:r>
            <a:r>
              <a:rPr lang="en-US" sz="1100" dirty="0">
                <a:solidFill>
                  <a:srgbClr val="4B5563"/>
                </a:solidFill>
                <a:latin typeface="Noto Sans KR" pitchFamily="34" charset="0"/>
                <a:ea typeface="Noto Sans KR" pitchFamily="34" charset="-122"/>
                <a:cs typeface="Noto Sans KR" pitchFamily="34" charset="-120"/>
              </a:rPr>
              <a:t> </a:t>
            </a:r>
            <a:r>
              <a:rPr lang="en-US" sz="1100" dirty="0" err="1">
                <a:solidFill>
                  <a:srgbClr val="4B5563"/>
                </a:solidFill>
                <a:latin typeface="Noto Sans KR" pitchFamily="34" charset="0"/>
                <a:ea typeface="Noto Sans KR" pitchFamily="34" charset="-122"/>
                <a:cs typeface="Noto Sans KR" pitchFamily="34" charset="-120"/>
              </a:rPr>
              <a:t>정렬</a:t>
            </a:r>
            <a:r>
              <a:rPr lang="en-US" sz="1100" dirty="0">
                <a:solidFill>
                  <a:srgbClr val="4B5563"/>
                </a:solidFill>
                <a:latin typeface="Noto Sans KR" pitchFamily="34" charset="0"/>
                <a:ea typeface="Noto Sans KR" pitchFamily="34" charset="-122"/>
                <a:cs typeface="Noto Sans KR" pitchFamily="34" charset="-120"/>
              </a:rPr>
              <a:t> </a:t>
            </a:r>
          </a:p>
          <a:p>
            <a:pPr marL="171450" indent="-171450" algn="l">
              <a:buFont typeface="Arial" panose="020B0604020202020204" pitchFamily="34" charset="0"/>
              <a:buChar char="•"/>
            </a:pPr>
            <a:r>
              <a:rPr lang="en-US" sz="1100" dirty="0" err="1">
                <a:solidFill>
                  <a:srgbClr val="4B5563"/>
                </a:solidFill>
                <a:latin typeface="Noto Sans KR" pitchFamily="34" charset="0"/>
                <a:ea typeface="Noto Sans KR" pitchFamily="34" charset="-122"/>
                <a:cs typeface="Noto Sans KR" pitchFamily="34" charset="-120"/>
              </a:rPr>
              <a:t>중복</a:t>
            </a:r>
            <a:r>
              <a:rPr lang="en-US" sz="1100" dirty="0">
                <a:solidFill>
                  <a:srgbClr val="4B5563"/>
                </a:solidFill>
                <a:latin typeface="Noto Sans KR" pitchFamily="34" charset="0"/>
                <a:ea typeface="Noto Sans KR" pitchFamily="34" charset="-122"/>
                <a:cs typeface="Noto Sans KR" pitchFamily="34" charset="-120"/>
              </a:rPr>
              <a:t> </a:t>
            </a:r>
            <a:r>
              <a:rPr lang="en-US" sz="1100" dirty="0" err="1">
                <a:solidFill>
                  <a:srgbClr val="4B5563"/>
                </a:solidFill>
                <a:latin typeface="Noto Sans KR" pitchFamily="34" charset="0"/>
                <a:ea typeface="Noto Sans KR" pitchFamily="34" charset="-122"/>
                <a:cs typeface="Noto Sans KR" pitchFamily="34" charset="-120"/>
              </a:rPr>
              <a:t>데이터</a:t>
            </a:r>
            <a:r>
              <a:rPr lang="en-US" sz="1100" dirty="0">
                <a:solidFill>
                  <a:srgbClr val="4B5563"/>
                </a:solidFill>
                <a:latin typeface="Noto Sans KR" pitchFamily="34" charset="0"/>
                <a:ea typeface="Noto Sans KR" pitchFamily="34" charset="-122"/>
                <a:cs typeface="Noto Sans KR" pitchFamily="34" charset="-120"/>
              </a:rPr>
              <a:t> 제거하여 일관성 확보</a:t>
            </a:r>
            <a:endParaRPr lang="en-US" sz="1100" dirty="0"/>
          </a:p>
        </p:txBody>
      </p:sp>
      <p:sp>
        <p:nvSpPr>
          <p:cNvPr id="42" name="Shape 36"/>
          <p:cNvSpPr/>
          <p:nvPr/>
        </p:nvSpPr>
        <p:spPr>
          <a:xfrm>
            <a:off x="7091172" y="2712962"/>
            <a:ext cx="19202" cy="800100"/>
          </a:xfrm>
          <a:prstGeom prst="rect">
            <a:avLst/>
          </a:prstGeom>
          <a:solidFill>
            <a:srgbClr val="E5E7EB"/>
          </a:solidFill>
          <a:ln/>
        </p:spPr>
      </p:sp>
      <p:sp>
        <p:nvSpPr>
          <p:cNvPr id="43" name="Text 37"/>
          <p:cNvSpPr txBox="1"/>
          <p:nvPr/>
        </p:nvSpPr>
        <p:spPr>
          <a:xfrm>
            <a:off x="7576718" y="2494420"/>
            <a:ext cx="2472538" cy="247802"/>
          </a:xfrm>
          <a:prstGeom prst="rect">
            <a:avLst/>
          </a:prstGeom>
          <a:noFill/>
          <a:ln/>
        </p:spPr>
        <p:txBody>
          <a:bodyPr wrap="square" lIns="0" tIns="0" rIns="0" bIns="0" rtlCol="0" anchor="ctr"/>
          <a:lstStyle/>
          <a:p>
            <a:pPr marL="0" indent="0" algn="l">
              <a:buNone/>
            </a:pPr>
            <a:r>
              <a:rPr lang="en-US" sz="1300" b="1" dirty="0">
                <a:solidFill>
                  <a:srgbClr val="1F2937"/>
                </a:solidFill>
                <a:latin typeface="Noto Sans KR" pitchFamily="34" charset="0"/>
                <a:ea typeface="Noto Sans KR" pitchFamily="34" charset="-122"/>
                <a:cs typeface="Noto Sans KR" pitchFamily="34" charset="-120"/>
              </a:rPr>
              <a:t>2. 결측치 처리 (Zero Padding)</a:t>
            </a:r>
            <a:endParaRPr lang="en-US" sz="1300" dirty="0"/>
          </a:p>
        </p:txBody>
      </p:sp>
      <p:sp>
        <p:nvSpPr>
          <p:cNvPr id="44" name="Text 38"/>
          <p:cNvSpPr txBox="1"/>
          <p:nvPr/>
        </p:nvSpPr>
        <p:spPr>
          <a:xfrm>
            <a:off x="7576718" y="2822980"/>
            <a:ext cx="3879799" cy="419710"/>
          </a:xfrm>
          <a:prstGeom prst="rect">
            <a:avLst/>
          </a:prstGeom>
          <a:noFill/>
          <a:ln/>
        </p:spPr>
        <p:txBody>
          <a:bodyPr wrap="square" lIns="0" tIns="0" rIns="0" bIns="0" rtlCol="0" anchor="t"/>
          <a:lstStyle/>
          <a:p>
            <a:pPr marL="171450" indent="-171450" algn="l">
              <a:buFont typeface="Arial" panose="020B0604020202020204" pitchFamily="34" charset="0"/>
              <a:buChar char="•"/>
            </a:pPr>
            <a:r>
              <a:rPr lang="en-US" sz="1100" dirty="0">
                <a:solidFill>
                  <a:srgbClr val="4B5563"/>
                </a:solidFill>
                <a:latin typeface="Noto Sans KR" pitchFamily="34" charset="0"/>
                <a:ea typeface="Noto Sans KR" pitchFamily="34" charset="-122"/>
                <a:cs typeface="Noto Sans KR" pitchFamily="34" charset="-120"/>
              </a:rPr>
              <a:t>상장 폐지나 거래 정지 등으로 인한 결측 구간은 0으로 </a:t>
            </a:r>
            <a:r>
              <a:rPr lang="en-US" sz="1100" dirty="0" err="1">
                <a:solidFill>
                  <a:srgbClr val="4B5563"/>
                </a:solidFill>
                <a:latin typeface="Noto Sans KR" pitchFamily="34" charset="0"/>
                <a:ea typeface="Noto Sans KR" pitchFamily="34" charset="-122"/>
                <a:cs typeface="Noto Sans KR" pitchFamily="34" charset="-120"/>
              </a:rPr>
              <a:t>채워</a:t>
            </a:r>
            <a:r>
              <a:rPr lang="en-US" sz="1100" dirty="0">
                <a:solidFill>
                  <a:srgbClr val="4B5563"/>
                </a:solidFill>
                <a:latin typeface="Noto Sans KR" pitchFamily="34" charset="0"/>
                <a:ea typeface="Noto Sans KR" pitchFamily="34" charset="-122"/>
                <a:cs typeface="Noto Sans KR" pitchFamily="34" charset="-120"/>
              </a:rPr>
              <a:t> </a:t>
            </a:r>
            <a:br>
              <a:rPr lang="en-US" sz="1100" dirty="0">
                <a:solidFill>
                  <a:srgbClr val="4B5563"/>
                </a:solidFill>
                <a:latin typeface="Noto Sans KR" pitchFamily="34" charset="0"/>
                <a:ea typeface="Noto Sans KR" pitchFamily="34" charset="-122"/>
                <a:cs typeface="Noto Sans KR" pitchFamily="34" charset="-120"/>
              </a:rPr>
            </a:br>
            <a:r>
              <a:rPr lang="en-US" sz="1100" dirty="0" err="1">
                <a:solidFill>
                  <a:srgbClr val="4B5563"/>
                </a:solidFill>
                <a:latin typeface="Noto Sans KR" pitchFamily="34" charset="0"/>
                <a:ea typeface="Noto Sans KR" pitchFamily="34" charset="-122"/>
                <a:cs typeface="Noto Sans KR" pitchFamily="34" charset="-120"/>
              </a:rPr>
              <a:t>데이터</a:t>
            </a:r>
            <a:r>
              <a:rPr lang="en-US" sz="1100" dirty="0">
                <a:solidFill>
                  <a:srgbClr val="4B5563"/>
                </a:solidFill>
                <a:latin typeface="Noto Sans KR" pitchFamily="34" charset="0"/>
                <a:ea typeface="Noto Sans KR" pitchFamily="34" charset="-122"/>
                <a:cs typeface="Noto Sans KR" pitchFamily="34" charset="-120"/>
              </a:rPr>
              <a:t> 차원 유지 (Lookback Window 부족 시 등)</a:t>
            </a:r>
            <a:endParaRPr lang="en-US" sz="1100" dirty="0"/>
          </a:p>
        </p:txBody>
      </p:sp>
      <p:sp>
        <p:nvSpPr>
          <p:cNvPr id="45" name="Shape 39"/>
          <p:cNvSpPr/>
          <p:nvPr/>
        </p:nvSpPr>
        <p:spPr>
          <a:xfrm>
            <a:off x="7091172" y="3637420"/>
            <a:ext cx="19202" cy="800100"/>
          </a:xfrm>
          <a:prstGeom prst="rect">
            <a:avLst/>
          </a:prstGeom>
          <a:solidFill>
            <a:srgbClr val="E5E7EB"/>
          </a:solidFill>
          <a:ln/>
        </p:spPr>
      </p:sp>
      <p:sp>
        <p:nvSpPr>
          <p:cNvPr id="46" name="Text 40"/>
          <p:cNvSpPr txBox="1"/>
          <p:nvPr/>
        </p:nvSpPr>
        <p:spPr>
          <a:xfrm>
            <a:off x="7576718" y="3417964"/>
            <a:ext cx="1538935" cy="247802"/>
          </a:xfrm>
          <a:prstGeom prst="rect">
            <a:avLst/>
          </a:prstGeom>
          <a:noFill/>
          <a:ln/>
        </p:spPr>
        <p:txBody>
          <a:bodyPr wrap="square" lIns="0" tIns="0" rIns="0" bIns="0" rtlCol="0" anchor="ctr"/>
          <a:lstStyle/>
          <a:p>
            <a:pPr marL="0" indent="0" algn="l">
              <a:buNone/>
            </a:pPr>
            <a:r>
              <a:rPr lang="en-US" sz="1300" b="1" dirty="0">
                <a:solidFill>
                  <a:srgbClr val="1F2937"/>
                </a:solidFill>
                <a:latin typeface="Noto Sans KR" pitchFamily="34" charset="0"/>
                <a:ea typeface="Noto Sans KR" pitchFamily="34" charset="-122"/>
                <a:cs typeface="Noto Sans KR" pitchFamily="34" charset="-120"/>
              </a:rPr>
              <a:t>3. </a:t>
            </a:r>
            <a:r>
              <a:rPr lang="en-US" altLang="ko-KR" sz="1300" b="1" dirty="0">
                <a:solidFill>
                  <a:srgbClr val="1F2937"/>
                </a:solidFill>
                <a:latin typeface="Noto Sans KR" pitchFamily="34" charset="0"/>
                <a:ea typeface="Noto Sans KR" pitchFamily="34" charset="-122"/>
                <a:cs typeface="Noto Sans KR" pitchFamily="34" charset="-120"/>
              </a:rPr>
              <a:t>Feature </a:t>
            </a:r>
            <a:r>
              <a:rPr lang="ko-KR" altLang="en-US" sz="1300" b="1" dirty="0">
                <a:solidFill>
                  <a:srgbClr val="1F2937"/>
                </a:solidFill>
                <a:latin typeface="Noto Sans KR" pitchFamily="34" charset="0"/>
                <a:ea typeface="Noto Sans KR" pitchFamily="34" charset="-122"/>
                <a:cs typeface="Noto Sans KR" pitchFamily="34" charset="-120"/>
              </a:rPr>
              <a:t>생성</a:t>
            </a:r>
            <a:endParaRPr lang="en-US" sz="1300" dirty="0"/>
          </a:p>
        </p:txBody>
      </p:sp>
      <p:sp>
        <p:nvSpPr>
          <p:cNvPr id="47" name="Text 41"/>
          <p:cNvSpPr txBox="1"/>
          <p:nvPr/>
        </p:nvSpPr>
        <p:spPr>
          <a:xfrm>
            <a:off x="7576718" y="3747438"/>
            <a:ext cx="3813048" cy="419710"/>
          </a:xfrm>
          <a:prstGeom prst="rect">
            <a:avLst/>
          </a:prstGeom>
          <a:noFill/>
          <a:ln/>
        </p:spPr>
        <p:txBody>
          <a:bodyPr wrap="square" lIns="0" tIns="0" rIns="0" bIns="0" rtlCol="0" anchor="t"/>
          <a:lstStyle/>
          <a:p>
            <a:pPr marL="171450" indent="-171450" algn="l">
              <a:buFont typeface="Arial" panose="020B0604020202020204" pitchFamily="34" charset="0"/>
              <a:buChar char="•"/>
            </a:pPr>
            <a:r>
              <a:rPr lang="en-US" sz="1100" dirty="0">
                <a:solidFill>
                  <a:srgbClr val="4B5563"/>
                </a:solidFill>
                <a:latin typeface="Noto Sans KR" pitchFamily="34" charset="0"/>
                <a:ea typeface="Noto Sans KR" pitchFamily="34" charset="-122"/>
                <a:cs typeface="Noto Sans KR" pitchFamily="34" charset="-120"/>
              </a:rPr>
              <a:t>MA5, MA20, RSI, MACD 등 기술적 분석 지표를 사전에 계산하여 Feature로 활용</a:t>
            </a:r>
            <a:endParaRPr lang="en-US" sz="1100" dirty="0"/>
          </a:p>
        </p:txBody>
      </p:sp>
      <p:sp>
        <p:nvSpPr>
          <p:cNvPr id="48" name="Text 42"/>
          <p:cNvSpPr txBox="1"/>
          <p:nvPr/>
        </p:nvSpPr>
        <p:spPr>
          <a:xfrm>
            <a:off x="7576718" y="4342423"/>
            <a:ext cx="2196389" cy="247802"/>
          </a:xfrm>
          <a:prstGeom prst="rect">
            <a:avLst/>
          </a:prstGeom>
          <a:noFill/>
          <a:ln/>
        </p:spPr>
        <p:txBody>
          <a:bodyPr wrap="square" lIns="0" tIns="0" rIns="0" bIns="0" rtlCol="0" anchor="ctr"/>
          <a:lstStyle/>
          <a:p>
            <a:pPr marL="0" indent="0" algn="l">
              <a:buNone/>
            </a:pPr>
            <a:r>
              <a:rPr lang="en-US" sz="1300" b="1" dirty="0">
                <a:solidFill>
                  <a:srgbClr val="1F2937"/>
                </a:solidFill>
                <a:latin typeface="Noto Sans KR" pitchFamily="34" charset="0"/>
                <a:ea typeface="Noto Sans KR" pitchFamily="34" charset="-122"/>
                <a:cs typeface="Noto Sans KR" pitchFamily="34" charset="-120"/>
              </a:rPr>
              <a:t>4. 정규화 (Normalization)</a:t>
            </a:r>
            <a:endParaRPr lang="en-US" sz="1300" dirty="0"/>
          </a:p>
        </p:txBody>
      </p:sp>
      <p:sp>
        <p:nvSpPr>
          <p:cNvPr id="49" name="Text 43"/>
          <p:cNvSpPr txBox="1"/>
          <p:nvPr/>
        </p:nvSpPr>
        <p:spPr>
          <a:xfrm>
            <a:off x="7576718" y="4670982"/>
            <a:ext cx="3850538" cy="641120"/>
          </a:xfrm>
          <a:prstGeom prst="rect">
            <a:avLst/>
          </a:prstGeom>
          <a:noFill/>
          <a:ln/>
        </p:spPr>
        <p:txBody>
          <a:bodyPr wrap="square" lIns="0" tIns="0" rIns="0" bIns="0" rtlCol="0" anchor="t"/>
          <a:lstStyle/>
          <a:p>
            <a:pPr marL="171450" indent="-171450" algn="l">
              <a:buFont typeface="Arial" panose="020B0604020202020204" pitchFamily="34" charset="0"/>
              <a:buChar char="•"/>
            </a:pPr>
            <a:r>
              <a:rPr lang="ko-KR" altLang="en-US" sz="1100" dirty="0">
                <a:solidFill>
                  <a:srgbClr val="4B5563"/>
                </a:solidFill>
                <a:latin typeface="Noto Sans KR" pitchFamily="34" charset="0"/>
                <a:ea typeface="Noto Sans KR" pitchFamily="34" charset="-122"/>
                <a:cs typeface="Noto Sans KR" pitchFamily="34" charset="-120"/>
              </a:rPr>
              <a:t>모델의 효율적인 학습을 위해 자산 데이터 가격대 </a:t>
            </a:r>
            <a:r>
              <a:rPr lang="en-US" altLang="ko-KR" sz="1100" dirty="0" err="1">
                <a:solidFill>
                  <a:srgbClr val="4B5563"/>
                </a:solidFill>
                <a:latin typeface="Noto Sans KR" pitchFamily="34" charset="0"/>
                <a:ea typeface="Noto Sans KR" pitchFamily="34" charset="-122"/>
                <a:cs typeface="Noto Sans KR" pitchFamily="34" charset="-120"/>
              </a:rPr>
              <a:t>스케일링</a:t>
            </a:r>
            <a:r>
              <a:rPr lang="en-US" altLang="ko-KR" sz="1100" dirty="0">
                <a:solidFill>
                  <a:srgbClr val="4B5563"/>
                </a:solidFill>
                <a:latin typeface="Noto Sans KR" pitchFamily="34" charset="0"/>
                <a:ea typeface="Noto Sans KR" pitchFamily="34" charset="-122"/>
                <a:cs typeface="Noto Sans KR" pitchFamily="34" charset="-120"/>
              </a:rPr>
              <a:t> </a:t>
            </a:r>
            <a:r>
              <a:rPr lang="en-US" altLang="ko-KR" sz="1100" dirty="0" err="1">
                <a:solidFill>
                  <a:srgbClr val="4B5563"/>
                </a:solidFill>
                <a:latin typeface="Noto Sans KR" pitchFamily="34" charset="0"/>
                <a:ea typeface="Noto Sans KR" pitchFamily="34" charset="-122"/>
                <a:cs typeface="Noto Sans KR" pitchFamily="34" charset="-120"/>
              </a:rPr>
              <a:t>처리</a:t>
            </a:r>
            <a:r>
              <a:rPr lang="en-US" altLang="ko-KR" sz="1100" dirty="0">
                <a:solidFill>
                  <a:srgbClr val="4B5563"/>
                </a:solidFill>
                <a:latin typeface="Noto Sans KR" pitchFamily="34" charset="0"/>
                <a:ea typeface="Noto Sans KR" pitchFamily="34" charset="-122"/>
                <a:cs typeface="Noto Sans KR" pitchFamily="34" charset="-120"/>
              </a:rPr>
              <a:t>  : </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5" name="Shape 3"/>
          <p:cNvSpPr/>
          <p:nvPr/>
        </p:nvSpPr>
        <p:spPr>
          <a:xfrm>
            <a:off x="-476402" y="4476902"/>
            <a:ext cx="1904695" cy="1904695"/>
          </a:xfrm>
          <a:prstGeom prst="ellipse">
            <a:avLst/>
          </a:prstGeom>
          <a:solidFill>
            <a:srgbClr val="2563EB">
              <a:alpha val="3000"/>
            </a:srgbClr>
          </a:solidFill>
          <a:ln/>
        </p:spPr>
      </p:sp>
      <p:sp>
        <p:nvSpPr>
          <p:cNvPr id="8" name="Text 6"/>
          <p:cNvSpPr txBox="1"/>
          <p:nvPr/>
        </p:nvSpPr>
        <p:spPr>
          <a:xfrm>
            <a:off x="571500" y="199918"/>
            <a:ext cx="4353458" cy="514807"/>
          </a:xfrm>
          <a:prstGeom prst="rect">
            <a:avLst/>
          </a:prstGeom>
          <a:noFill/>
          <a:ln/>
        </p:spPr>
        <p:txBody>
          <a:bodyPr wrap="square" lIns="0" tIns="0" rIns="0" bIns="0" rtlCol="0" anchor="ctr"/>
          <a:lstStyle/>
          <a:p>
            <a:pPr marL="0" indent="0" algn="l">
              <a:buNone/>
            </a:pPr>
            <a:r>
              <a:rPr lang="en-US" sz="2400" b="1" dirty="0">
                <a:solidFill>
                  <a:srgbClr val="111827"/>
                </a:solidFill>
                <a:latin typeface="Noto Sans KR" pitchFamily="34" charset="0"/>
                <a:ea typeface="Noto Sans KR" pitchFamily="34" charset="-122"/>
                <a:cs typeface="Noto Sans KR" pitchFamily="34" charset="-120"/>
              </a:rPr>
              <a:t>State 설계 (Multi-Modal)</a:t>
            </a:r>
            <a:endParaRPr lang="en-US" sz="2400" dirty="0"/>
          </a:p>
        </p:txBody>
      </p:sp>
      <p:sp>
        <p:nvSpPr>
          <p:cNvPr id="10" name="Shape 8"/>
          <p:cNvSpPr/>
          <p:nvPr/>
        </p:nvSpPr>
        <p:spPr>
          <a:xfrm>
            <a:off x="571500" y="1134674"/>
            <a:ext cx="10668305" cy="875995"/>
          </a:xfrm>
          <a:prstGeom prst="roundRect">
            <a:avLst>
              <a:gd name="adj" fmla="val 9077"/>
            </a:avLst>
          </a:prstGeom>
          <a:solidFill>
            <a:srgbClr val="EFF6FF"/>
          </a:solidFill>
          <a:ln/>
        </p:spPr>
      </p:sp>
      <p:sp>
        <p:nvSpPr>
          <p:cNvPr id="11" name="Shape 9"/>
          <p:cNvSpPr/>
          <p:nvPr/>
        </p:nvSpPr>
        <p:spPr>
          <a:xfrm>
            <a:off x="571500" y="1134674"/>
            <a:ext cx="47549" cy="875995"/>
          </a:xfrm>
          <a:prstGeom prst="rect">
            <a:avLst/>
          </a:prstGeom>
          <a:solidFill>
            <a:srgbClr val="2563EB"/>
          </a:solidFill>
          <a:ln/>
        </p:spPr>
      </p:sp>
      <p:sp>
        <p:nvSpPr>
          <p:cNvPr id="12" name="Text 10"/>
          <p:cNvSpPr txBox="1"/>
          <p:nvPr/>
        </p:nvSpPr>
        <p:spPr>
          <a:xfrm>
            <a:off x="810159" y="1325784"/>
            <a:ext cx="10316261" cy="476402"/>
          </a:xfrm>
          <a:prstGeom prst="rect">
            <a:avLst/>
          </a:prstGeom>
          <a:noFill/>
          <a:ln/>
        </p:spPr>
        <p:txBody>
          <a:bodyPr wrap="square" lIns="0" tIns="0" rIns="0" bIns="0" rtlCol="0" anchor="ctr"/>
          <a:lstStyle/>
          <a:p>
            <a:pPr marL="0" indent="0" algn="l">
              <a:buNone/>
            </a:pPr>
            <a:r>
              <a:rPr lang="en-US" sz="1400" dirty="0" err="1">
                <a:solidFill>
                  <a:srgbClr val="1E40AF"/>
                </a:solidFill>
                <a:latin typeface="Noto Sans KR" pitchFamily="34" charset="0"/>
                <a:ea typeface="Noto Sans KR" pitchFamily="34" charset="-122"/>
                <a:cs typeface="Noto Sans KR" pitchFamily="34" charset="-120"/>
              </a:rPr>
              <a:t>에이전트가</a:t>
            </a:r>
            <a:r>
              <a:rPr lang="en-US" sz="1400" dirty="0">
                <a:solidFill>
                  <a:srgbClr val="1E40AF"/>
                </a:solidFill>
                <a:latin typeface="Noto Sans KR" pitchFamily="34" charset="0"/>
                <a:ea typeface="Noto Sans KR" pitchFamily="34" charset="-122"/>
                <a:cs typeface="Noto Sans KR" pitchFamily="34" charset="-120"/>
              </a:rPr>
              <a:t> </a:t>
            </a:r>
            <a:r>
              <a:rPr lang="en-US" sz="1400" dirty="0" err="1">
                <a:solidFill>
                  <a:srgbClr val="1E40AF"/>
                </a:solidFill>
                <a:latin typeface="Noto Sans KR" pitchFamily="34" charset="0"/>
                <a:ea typeface="Noto Sans KR" pitchFamily="34" charset="-122"/>
                <a:cs typeface="Noto Sans KR" pitchFamily="34" charset="-120"/>
              </a:rPr>
              <a:t>가격</a:t>
            </a:r>
            <a:r>
              <a:rPr lang="en-US" sz="1400" dirty="0">
                <a:solidFill>
                  <a:srgbClr val="1E40AF"/>
                </a:solidFill>
                <a:latin typeface="Noto Sans KR" pitchFamily="34" charset="0"/>
                <a:ea typeface="Noto Sans KR" pitchFamily="34" charset="-122"/>
                <a:cs typeface="Noto Sans KR" pitchFamily="34" charset="-120"/>
              </a:rPr>
              <a:t> 추세, 기술적 지표, 그리고 현재 포트폴리오 상태를 </a:t>
            </a:r>
            <a:r>
              <a:rPr lang="en-US" sz="1400" dirty="0" err="1">
                <a:solidFill>
                  <a:srgbClr val="1E40AF"/>
                </a:solidFill>
                <a:latin typeface="Noto Sans KR" pitchFamily="34" charset="0"/>
                <a:ea typeface="Noto Sans KR" pitchFamily="34" charset="-122"/>
                <a:cs typeface="Noto Sans KR" pitchFamily="34" charset="-120"/>
              </a:rPr>
              <a:t>종합적으로</a:t>
            </a:r>
            <a:r>
              <a:rPr lang="en-US" sz="1400" dirty="0">
                <a:solidFill>
                  <a:srgbClr val="1E40AF"/>
                </a:solidFill>
                <a:latin typeface="Noto Sans KR" pitchFamily="34" charset="0"/>
                <a:ea typeface="Noto Sans KR" pitchFamily="34" charset="-122"/>
                <a:cs typeface="Noto Sans KR" pitchFamily="34" charset="-120"/>
              </a:rPr>
              <a:t> </a:t>
            </a:r>
            <a:r>
              <a:rPr lang="en-US" sz="1400" dirty="0" err="1">
                <a:solidFill>
                  <a:srgbClr val="1E40AF"/>
                </a:solidFill>
                <a:latin typeface="Noto Sans KR" pitchFamily="34" charset="0"/>
                <a:ea typeface="Noto Sans KR" pitchFamily="34" charset="-122"/>
                <a:cs typeface="Noto Sans KR" pitchFamily="34" charset="-120"/>
              </a:rPr>
              <a:t>고려하도록</a:t>
            </a:r>
            <a:endParaRPr lang="en-US" sz="1400" dirty="0">
              <a:solidFill>
                <a:srgbClr val="1E40AF"/>
              </a:solidFill>
              <a:latin typeface="Noto Sans KR" pitchFamily="34" charset="0"/>
              <a:ea typeface="Noto Sans KR" pitchFamily="34" charset="-122"/>
              <a:cs typeface="Noto Sans KR" pitchFamily="34" charset="-120"/>
            </a:endParaRPr>
          </a:p>
          <a:p>
            <a:pPr marL="0" indent="0" algn="l">
              <a:buNone/>
            </a:pPr>
            <a:r>
              <a:rPr lang="en-US" altLang="ko-KR" sz="1400" dirty="0">
                <a:solidFill>
                  <a:srgbClr val="1E40AF"/>
                </a:solidFill>
                <a:latin typeface="Noto Sans KR" pitchFamily="34" charset="0"/>
                <a:ea typeface="Noto Sans KR" pitchFamily="34" charset="-122"/>
                <a:cs typeface="Noto Sans KR" pitchFamily="34" charset="-120"/>
              </a:rPr>
              <a:t>3가지 </a:t>
            </a:r>
            <a:r>
              <a:rPr lang="en-US" altLang="ko-KR" sz="1400" dirty="0" err="1">
                <a:solidFill>
                  <a:srgbClr val="1E40AF"/>
                </a:solidFill>
                <a:latin typeface="Noto Sans KR" pitchFamily="34" charset="0"/>
                <a:ea typeface="Noto Sans KR" pitchFamily="34" charset="-122"/>
                <a:cs typeface="Noto Sans KR" pitchFamily="34" charset="-120"/>
              </a:rPr>
              <a:t>다른</a:t>
            </a:r>
            <a:r>
              <a:rPr lang="en-US" altLang="ko-KR" sz="1400" dirty="0">
                <a:solidFill>
                  <a:srgbClr val="1E40AF"/>
                </a:solidFill>
                <a:latin typeface="Noto Sans KR" pitchFamily="34" charset="0"/>
                <a:ea typeface="Noto Sans KR" pitchFamily="34" charset="-122"/>
                <a:cs typeface="Noto Sans KR" pitchFamily="34" charset="-120"/>
              </a:rPr>
              <a:t> </a:t>
            </a:r>
            <a:r>
              <a:rPr lang="en-US" altLang="ko-KR" sz="1400" dirty="0" err="1">
                <a:solidFill>
                  <a:srgbClr val="1E40AF"/>
                </a:solidFill>
                <a:latin typeface="Noto Sans KR" pitchFamily="34" charset="0"/>
                <a:ea typeface="Noto Sans KR" pitchFamily="34" charset="-122"/>
                <a:cs typeface="Noto Sans KR" pitchFamily="34" charset="-120"/>
              </a:rPr>
              <a:t>형태</a:t>
            </a:r>
            <a:r>
              <a:rPr lang="en-US" altLang="ko-KR" sz="1400" dirty="0">
                <a:solidFill>
                  <a:srgbClr val="1E40AF"/>
                </a:solidFill>
                <a:latin typeface="Noto Sans KR" pitchFamily="34" charset="0"/>
                <a:ea typeface="Noto Sans KR" pitchFamily="34" charset="-122"/>
                <a:cs typeface="Noto Sans KR" pitchFamily="34" charset="-120"/>
              </a:rPr>
              <a:t>(Modality)</a:t>
            </a:r>
            <a:r>
              <a:rPr lang="en-US" altLang="ko-KR" sz="1400" dirty="0" err="1">
                <a:solidFill>
                  <a:srgbClr val="1E40AF"/>
                </a:solidFill>
                <a:latin typeface="Noto Sans KR" pitchFamily="34" charset="0"/>
                <a:ea typeface="Noto Sans KR" pitchFamily="34" charset="-122"/>
                <a:cs typeface="Noto Sans KR" pitchFamily="34" charset="-120"/>
              </a:rPr>
              <a:t>의</a:t>
            </a:r>
            <a:r>
              <a:rPr lang="en-US" altLang="ko-KR" sz="1400" dirty="0">
                <a:solidFill>
                  <a:srgbClr val="1E40AF"/>
                </a:solidFill>
                <a:latin typeface="Noto Sans KR" pitchFamily="34" charset="0"/>
                <a:ea typeface="Noto Sans KR" pitchFamily="34" charset="-122"/>
                <a:cs typeface="Noto Sans KR" pitchFamily="34" charset="-120"/>
              </a:rPr>
              <a:t> </a:t>
            </a:r>
            <a:r>
              <a:rPr lang="en-US" altLang="ko-KR" sz="1400" dirty="0" err="1">
                <a:solidFill>
                  <a:srgbClr val="1E40AF"/>
                </a:solidFill>
                <a:latin typeface="Noto Sans KR" pitchFamily="34" charset="0"/>
                <a:ea typeface="Noto Sans KR" pitchFamily="34" charset="-122"/>
                <a:cs typeface="Noto Sans KR" pitchFamily="34" charset="-120"/>
              </a:rPr>
              <a:t>정보를</a:t>
            </a:r>
            <a:r>
              <a:rPr lang="en-US" altLang="ko-KR" sz="1400" dirty="0">
                <a:solidFill>
                  <a:srgbClr val="1E40AF"/>
                </a:solidFill>
                <a:latin typeface="Noto Sans KR" pitchFamily="34" charset="0"/>
                <a:ea typeface="Noto Sans KR" pitchFamily="34" charset="-122"/>
                <a:cs typeface="Noto Sans KR" pitchFamily="34" charset="-120"/>
              </a:rPr>
              <a:t> </a:t>
            </a:r>
            <a:r>
              <a:rPr lang="en-US" altLang="ko-KR" sz="1400" dirty="0" err="1">
                <a:solidFill>
                  <a:srgbClr val="1E40AF"/>
                </a:solidFill>
                <a:latin typeface="Noto Sans KR" pitchFamily="34" charset="0"/>
                <a:ea typeface="Noto Sans KR" pitchFamily="34" charset="-122"/>
                <a:cs typeface="Noto Sans KR" pitchFamily="34" charset="-120"/>
              </a:rPr>
              <a:t>동시에</a:t>
            </a:r>
            <a:r>
              <a:rPr lang="en-US" altLang="ko-KR" sz="1400" dirty="0">
                <a:solidFill>
                  <a:srgbClr val="1E40AF"/>
                </a:solidFill>
                <a:latin typeface="Noto Sans KR" pitchFamily="34" charset="0"/>
                <a:ea typeface="Noto Sans KR" pitchFamily="34" charset="-122"/>
                <a:cs typeface="Noto Sans KR" pitchFamily="34" charset="-120"/>
              </a:rPr>
              <a:t> </a:t>
            </a:r>
            <a:r>
              <a:rPr lang="en-US" altLang="ko-KR" sz="1400" dirty="0" err="1">
                <a:solidFill>
                  <a:srgbClr val="1E40AF"/>
                </a:solidFill>
                <a:latin typeface="Noto Sans KR" pitchFamily="34" charset="0"/>
                <a:ea typeface="Noto Sans KR" pitchFamily="34" charset="-122"/>
                <a:cs typeface="Noto Sans KR" pitchFamily="34" charset="-120"/>
              </a:rPr>
              <a:t>관찰하</a:t>
            </a:r>
            <a:r>
              <a:rPr lang="ko-KR" altLang="en-US" sz="1400" dirty="0">
                <a:solidFill>
                  <a:srgbClr val="1E40AF"/>
                </a:solidFill>
                <a:latin typeface="Noto Sans KR" pitchFamily="34" charset="0"/>
                <a:ea typeface="Noto Sans KR" pitchFamily="34" charset="-122"/>
                <a:cs typeface="Noto Sans KR" pitchFamily="34" charset="-120"/>
              </a:rPr>
              <a:t>도록 설계함</a:t>
            </a:r>
            <a:endParaRPr lang="en-US" sz="1400" dirty="0"/>
          </a:p>
        </p:txBody>
      </p:sp>
      <p:sp>
        <p:nvSpPr>
          <p:cNvPr id="13" name="Shape 11"/>
          <p:cNvSpPr/>
          <p:nvPr/>
        </p:nvSpPr>
        <p:spPr>
          <a:xfrm>
            <a:off x="571500" y="2289561"/>
            <a:ext cx="3400654" cy="3467405"/>
          </a:xfrm>
          <a:prstGeom prst="roundRect">
            <a:avLst>
              <a:gd name="adj" fmla="val 1205"/>
            </a:avLst>
          </a:prstGeom>
          <a:solidFill>
            <a:srgbClr val="FFFFFF"/>
          </a:solidFill>
          <a:ln w="12700">
            <a:solidFill>
              <a:srgbClr val="E5E7EB"/>
            </a:solidFill>
            <a:prstDash val="solid"/>
          </a:ln>
          <a:effectLst>
            <a:outerShdw blurRad="63500" dist="38100" dir="5400000" algn="bl" rotWithShape="0">
              <a:srgbClr val="000000">
                <a:alpha val="5000"/>
              </a:srgbClr>
            </a:outerShdw>
          </a:effectLst>
        </p:spPr>
      </p:sp>
      <p:sp>
        <p:nvSpPr>
          <p:cNvPr id="14" name="Shape 12"/>
          <p:cNvSpPr/>
          <p:nvPr/>
        </p:nvSpPr>
        <p:spPr>
          <a:xfrm>
            <a:off x="581559" y="2298705"/>
            <a:ext cx="3381451" cy="771754"/>
          </a:xfrm>
          <a:prstGeom prst="rect">
            <a:avLst/>
          </a:prstGeom>
          <a:solidFill>
            <a:srgbClr val="EFF6FF"/>
          </a:solidFill>
          <a:ln/>
        </p:spPr>
      </p:sp>
      <p:sp>
        <p:nvSpPr>
          <p:cNvPr id="15" name="Shape 13"/>
          <p:cNvSpPr/>
          <p:nvPr/>
        </p:nvSpPr>
        <p:spPr>
          <a:xfrm>
            <a:off x="581559" y="3061315"/>
            <a:ext cx="3381451" cy="9144"/>
          </a:xfrm>
          <a:prstGeom prst="rect">
            <a:avLst/>
          </a:prstGeom>
          <a:solidFill>
            <a:srgbClr val="F3F4F6"/>
          </a:solidFill>
          <a:ln/>
        </p:spPr>
      </p:sp>
      <p:sp>
        <p:nvSpPr>
          <p:cNvPr id="16" name="Shape 14"/>
          <p:cNvSpPr/>
          <p:nvPr/>
        </p:nvSpPr>
        <p:spPr>
          <a:xfrm>
            <a:off x="771754" y="2488901"/>
            <a:ext cx="381305" cy="381305"/>
          </a:xfrm>
          <a:prstGeom prst="roundRect">
            <a:avLst>
              <a:gd name="adj" fmla="val 59952"/>
            </a:avLst>
          </a:prstGeom>
          <a:solidFill>
            <a:srgbClr val="DBEAFE"/>
          </a:solidFill>
          <a:ln/>
        </p:spPr>
      </p:sp>
      <p:pic>
        <p:nvPicPr>
          <p:cNvPr id="17" name="Image 0" descr="preencoded.png"/>
          <p:cNvPicPr>
            <a:picLocks noChangeAspect="1"/>
          </p:cNvPicPr>
          <p:nvPr/>
        </p:nvPicPr>
        <p:blipFill>
          <a:blip r:embed="rId3"/>
          <a:srcRect/>
          <a:stretch/>
        </p:blipFill>
        <p:spPr>
          <a:xfrm>
            <a:off x="866851" y="2584913"/>
            <a:ext cx="190195" cy="190195"/>
          </a:xfrm>
          <a:prstGeom prst="rect">
            <a:avLst/>
          </a:prstGeom>
        </p:spPr>
      </p:pic>
      <p:sp>
        <p:nvSpPr>
          <p:cNvPr id="18" name="Text 15"/>
          <p:cNvSpPr txBox="1"/>
          <p:nvPr/>
        </p:nvSpPr>
        <p:spPr>
          <a:xfrm>
            <a:off x="1267359" y="2537364"/>
            <a:ext cx="1353312" cy="277063"/>
          </a:xfrm>
          <a:prstGeom prst="rect">
            <a:avLst/>
          </a:prstGeom>
          <a:noFill/>
          <a:ln/>
        </p:spPr>
        <p:txBody>
          <a:bodyPr wrap="square" lIns="0" tIns="0" rIns="0" bIns="0" rtlCol="0" anchor="ctr"/>
          <a:lstStyle/>
          <a:p>
            <a:pPr marL="0" indent="0" algn="l">
              <a:buNone/>
            </a:pPr>
            <a:r>
              <a:rPr lang="en-US" sz="1500" b="1" dirty="0">
                <a:solidFill>
                  <a:srgbClr val="1F2937"/>
                </a:solidFill>
                <a:latin typeface="Noto Sans KR" pitchFamily="34" charset="0"/>
                <a:ea typeface="Noto Sans KR" pitchFamily="34" charset="-122"/>
                <a:cs typeface="Noto Sans KR" pitchFamily="34" charset="-120"/>
              </a:rPr>
              <a:t>Price History</a:t>
            </a:r>
            <a:endParaRPr lang="en-US" sz="1500" dirty="0"/>
          </a:p>
        </p:txBody>
      </p:sp>
      <p:sp>
        <p:nvSpPr>
          <p:cNvPr id="19" name="Shape 16"/>
          <p:cNvSpPr/>
          <p:nvPr/>
        </p:nvSpPr>
        <p:spPr>
          <a:xfrm>
            <a:off x="819303" y="3308203"/>
            <a:ext cx="2076602" cy="342900"/>
          </a:xfrm>
          <a:prstGeom prst="roundRect">
            <a:avLst>
              <a:gd name="adj" fmla="val 59259"/>
            </a:avLst>
          </a:prstGeom>
          <a:solidFill>
            <a:srgbClr val="F3F4F6"/>
          </a:solidFill>
          <a:ln/>
        </p:spPr>
      </p:sp>
      <p:pic>
        <p:nvPicPr>
          <p:cNvPr id="20" name="Image 1" descr="preencoded.png"/>
          <p:cNvPicPr>
            <a:picLocks noChangeAspect="1"/>
          </p:cNvPicPr>
          <p:nvPr/>
        </p:nvPicPr>
        <p:blipFill>
          <a:blip r:embed="rId4"/>
          <a:srcRect/>
          <a:stretch/>
        </p:blipFill>
        <p:spPr>
          <a:xfrm>
            <a:off x="933603" y="3422503"/>
            <a:ext cx="114300" cy="114300"/>
          </a:xfrm>
          <a:prstGeom prst="rect">
            <a:avLst/>
          </a:prstGeom>
        </p:spPr>
      </p:pic>
      <p:sp>
        <p:nvSpPr>
          <p:cNvPr id="21" name="Text 17"/>
          <p:cNvSpPr txBox="1"/>
          <p:nvPr/>
        </p:nvSpPr>
        <p:spPr>
          <a:xfrm>
            <a:off x="1124712" y="3365810"/>
            <a:ext cx="1772107" cy="228600"/>
          </a:xfrm>
          <a:prstGeom prst="rect">
            <a:avLst/>
          </a:prstGeom>
          <a:noFill/>
          <a:ln/>
        </p:spPr>
        <p:txBody>
          <a:bodyPr wrap="square" lIns="0" tIns="0" rIns="0" bIns="0" rtlCol="0" anchor="ctr"/>
          <a:lstStyle/>
          <a:p>
            <a:pPr marL="0" indent="0" algn="l">
              <a:buNone/>
            </a:pPr>
            <a:r>
              <a:rPr lang="en-US" sz="1200" b="1" dirty="0">
                <a:solidFill>
                  <a:srgbClr val="4B5563"/>
                </a:solidFill>
                <a:latin typeface="Courier New" pitchFamily="34" charset="0"/>
                <a:ea typeface="Courier New" pitchFamily="34" charset="-122"/>
                <a:cs typeface="Courier New" pitchFamily="34" charset="-120"/>
              </a:rPr>
              <a:t>Shape: (12, 20, 5)</a:t>
            </a:r>
            <a:endParaRPr lang="en-US" sz="1200" dirty="0"/>
          </a:p>
        </p:txBody>
      </p:sp>
      <p:sp>
        <p:nvSpPr>
          <p:cNvPr id="22" name="Text 18"/>
          <p:cNvSpPr txBox="1"/>
          <p:nvPr/>
        </p:nvSpPr>
        <p:spPr>
          <a:xfrm>
            <a:off x="819303" y="3889761"/>
            <a:ext cx="2124151" cy="228600"/>
          </a:xfrm>
          <a:prstGeom prst="rect">
            <a:avLst/>
          </a:prstGeom>
          <a:noFill/>
          <a:ln/>
        </p:spPr>
        <p:txBody>
          <a:bodyPr wrap="square" lIns="0" tIns="0" rIns="0" bIns="0" rtlCol="0" anchor="ctr"/>
          <a:lstStyle/>
          <a:p>
            <a:pPr marL="0" indent="0" algn="l">
              <a:buNone/>
            </a:pPr>
            <a:r>
              <a:rPr lang="en-US" sz="1200" dirty="0">
                <a:solidFill>
                  <a:srgbClr val="4B5563"/>
                </a:solidFill>
                <a:latin typeface="Noto Sans KR" pitchFamily="34" charset="0"/>
                <a:ea typeface="Noto Sans KR" pitchFamily="34" charset="-122"/>
                <a:cs typeface="Noto Sans KR" pitchFamily="34" charset="-120"/>
              </a:rPr>
              <a:t>12개 ETF 자산별 시계열 데이터</a:t>
            </a:r>
            <a:endParaRPr lang="en-US" sz="1200" dirty="0"/>
          </a:p>
        </p:txBody>
      </p:sp>
      <p:sp>
        <p:nvSpPr>
          <p:cNvPr id="23" name="Text 19"/>
          <p:cNvSpPr txBox="1"/>
          <p:nvPr/>
        </p:nvSpPr>
        <p:spPr>
          <a:xfrm>
            <a:off x="819303" y="4213459"/>
            <a:ext cx="2134210" cy="228600"/>
          </a:xfrm>
          <a:prstGeom prst="rect">
            <a:avLst/>
          </a:prstGeom>
          <a:noFill/>
          <a:ln/>
        </p:spPr>
        <p:txBody>
          <a:bodyPr wrap="square" lIns="0" tIns="0" rIns="0" bIns="0" rtlCol="0" anchor="ctr"/>
          <a:lstStyle/>
          <a:p>
            <a:pPr marL="0" indent="0" algn="l">
              <a:buNone/>
            </a:pPr>
            <a:r>
              <a:rPr lang="en-US" sz="1200" dirty="0">
                <a:solidFill>
                  <a:srgbClr val="4B5563"/>
                </a:solidFill>
                <a:latin typeface="Noto Sans KR" pitchFamily="34" charset="0"/>
                <a:ea typeface="Noto Sans KR" pitchFamily="34" charset="-122"/>
                <a:cs typeface="Noto Sans KR" pitchFamily="34" charset="-120"/>
              </a:rPr>
              <a:t>20일 룩백 윈도우 (과거 20일치)</a:t>
            </a:r>
            <a:endParaRPr lang="en-US" sz="1200" dirty="0"/>
          </a:p>
        </p:txBody>
      </p:sp>
      <p:sp>
        <p:nvSpPr>
          <p:cNvPr id="24" name="Text 20"/>
          <p:cNvSpPr txBox="1"/>
          <p:nvPr/>
        </p:nvSpPr>
        <p:spPr>
          <a:xfrm>
            <a:off x="819303" y="4537157"/>
            <a:ext cx="3020263" cy="457200"/>
          </a:xfrm>
          <a:prstGeom prst="rect">
            <a:avLst/>
          </a:prstGeom>
          <a:noFill/>
          <a:ln/>
        </p:spPr>
        <p:txBody>
          <a:bodyPr wrap="square" lIns="0" tIns="0" rIns="0" bIns="0" rtlCol="0" anchor="ctr"/>
          <a:lstStyle/>
          <a:p>
            <a:pPr marL="0" indent="0" algn="l">
              <a:buNone/>
            </a:pPr>
            <a:r>
              <a:rPr lang="en-US" sz="1200" dirty="0">
                <a:solidFill>
                  <a:srgbClr val="4B5563"/>
                </a:solidFill>
                <a:latin typeface="Noto Sans KR" pitchFamily="34" charset="0"/>
                <a:ea typeface="Noto Sans KR" pitchFamily="34" charset="-122"/>
                <a:cs typeface="Noto Sans KR" pitchFamily="34" charset="-120"/>
              </a:rPr>
              <a:t>OHLCV 5개 </a:t>
            </a:r>
            <a:r>
              <a:rPr lang="en-US" sz="1200" dirty="0" err="1">
                <a:solidFill>
                  <a:srgbClr val="4B5563"/>
                </a:solidFill>
                <a:latin typeface="Noto Sans KR" pitchFamily="34" charset="0"/>
                <a:ea typeface="Noto Sans KR" pitchFamily="34" charset="-122"/>
                <a:cs typeface="Noto Sans KR" pitchFamily="34" charset="-120"/>
              </a:rPr>
              <a:t>피처</a:t>
            </a:r>
            <a:br>
              <a:rPr lang="en-US" sz="1200" dirty="0">
                <a:solidFill>
                  <a:srgbClr val="4B5563"/>
                </a:solidFill>
                <a:latin typeface="Noto Sans KR" pitchFamily="34" charset="0"/>
                <a:ea typeface="Noto Sans KR" pitchFamily="34" charset="-122"/>
                <a:cs typeface="Noto Sans KR" pitchFamily="34" charset="-120"/>
              </a:rPr>
            </a:br>
            <a:r>
              <a:rPr lang="en-US" altLang="ko-KR" sz="1200" dirty="0">
                <a:solidFill>
                  <a:srgbClr val="4B5563"/>
                </a:solidFill>
                <a:latin typeface="Noto Sans KR" pitchFamily="34" charset="0"/>
                <a:ea typeface="Noto Sans KR" pitchFamily="34" charset="-122"/>
                <a:cs typeface="Noto Sans KR" pitchFamily="34" charset="-120"/>
              </a:rPr>
              <a:t>: </a:t>
            </a:r>
            <a:r>
              <a:rPr lang="ko-KR" altLang="en-US" sz="1200" dirty="0">
                <a:solidFill>
                  <a:srgbClr val="4B5563"/>
                </a:solidFill>
                <a:latin typeface="Noto Sans KR" pitchFamily="34" charset="0"/>
                <a:ea typeface="Noto Sans KR" pitchFamily="34" charset="-122"/>
                <a:cs typeface="Noto Sans KR" pitchFamily="34" charset="-120"/>
              </a:rPr>
              <a:t>시가</a:t>
            </a:r>
            <a:r>
              <a:rPr lang="en-US" altLang="ko-KR" sz="1200" dirty="0">
                <a:solidFill>
                  <a:srgbClr val="4B5563"/>
                </a:solidFill>
                <a:latin typeface="Noto Sans KR" pitchFamily="34" charset="0"/>
                <a:ea typeface="Noto Sans KR" pitchFamily="34" charset="-122"/>
                <a:cs typeface="Noto Sans KR" pitchFamily="34" charset="-120"/>
              </a:rPr>
              <a:t>, </a:t>
            </a:r>
            <a:r>
              <a:rPr lang="ko-KR" altLang="en-US" sz="1200" dirty="0">
                <a:solidFill>
                  <a:srgbClr val="4B5563"/>
                </a:solidFill>
                <a:latin typeface="Noto Sans KR" pitchFamily="34" charset="0"/>
                <a:ea typeface="Noto Sans KR" pitchFamily="34" charset="-122"/>
                <a:cs typeface="Noto Sans KR" pitchFamily="34" charset="-120"/>
              </a:rPr>
              <a:t>고가</a:t>
            </a:r>
            <a:r>
              <a:rPr lang="en-US" altLang="ko-KR" sz="1200" dirty="0">
                <a:solidFill>
                  <a:srgbClr val="4B5563"/>
                </a:solidFill>
                <a:latin typeface="Noto Sans KR" pitchFamily="34" charset="0"/>
                <a:ea typeface="Noto Sans KR" pitchFamily="34" charset="-122"/>
                <a:cs typeface="Noto Sans KR" pitchFamily="34" charset="-120"/>
              </a:rPr>
              <a:t>, </a:t>
            </a:r>
            <a:r>
              <a:rPr lang="ko-KR" altLang="en-US" sz="1200" dirty="0">
                <a:solidFill>
                  <a:srgbClr val="4B5563"/>
                </a:solidFill>
                <a:latin typeface="Noto Sans KR" pitchFamily="34" charset="0"/>
                <a:ea typeface="Noto Sans KR" pitchFamily="34" charset="-122"/>
                <a:cs typeface="Noto Sans KR" pitchFamily="34" charset="-120"/>
              </a:rPr>
              <a:t>저가</a:t>
            </a:r>
            <a:r>
              <a:rPr lang="en-US" altLang="ko-KR" sz="1200" dirty="0">
                <a:solidFill>
                  <a:srgbClr val="4B5563"/>
                </a:solidFill>
                <a:latin typeface="Noto Sans KR" pitchFamily="34" charset="0"/>
                <a:ea typeface="Noto Sans KR" pitchFamily="34" charset="-122"/>
                <a:cs typeface="Noto Sans KR" pitchFamily="34" charset="-120"/>
              </a:rPr>
              <a:t>, </a:t>
            </a:r>
            <a:r>
              <a:rPr lang="ko-KR" altLang="en-US" sz="1200" dirty="0">
                <a:solidFill>
                  <a:srgbClr val="4B5563"/>
                </a:solidFill>
                <a:latin typeface="Noto Sans KR" pitchFamily="34" charset="0"/>
                <a:ea typeface="Noto Sans KR" pitchFamily="34" charset="-122"/>
                <a:cs typeface="Noto Sans KR" pitchFamily="34" charset="-120"/>
              </a:rPr>
              <a:t>종가</a:t>
            </a:r>
            <a:r>
              <a:rPr lang="en-US" altLang="ko-KR" sz="1200" dirty="0">
                <a:solidFill>
                  <a:srgbClr val="4B5563"/>
                </a:solidFill>
                <a:latin typeface="Noto Sans KR" pitchFamily="34" charset="0"/>
                <a:ea typeface="Noto Sans KR" pitchFamily="34" charset="-122"/>
                <a:cs typeface="Noto Sans KR" pitchFamily="34" charset="-120"/>
              </a:rPr>
              <a:t>, </a:t>
            </a:r>
            <a:r>
              <a:rPr lang="ko-KR" altLang="en-US" sz="1200" dirty="0">
                <a:solidFill>
                  <a:srgbClr val="4B5563"/>
                </a:solidFill>
                <a:latin typeface="Noto Sans KR" pitchFamily="34" charset="0"/>
                <a:ea typeface="Noto Sans KR" pitchFamily="34" charset="-122"/>
                <a:cs typeface="Noto Sans KR" pitchFamily="34" charset="-120"/>
              </a:rPr>
              <a:t>거래량</a:t>
            </a:r>
            <a:endParaRPr lang="en-US" sz="1200" dirty="0"/>
          </a:p>
        </p:txBody>
      </p:sp>
      <p:sp>
        <p:nvSpPr>
          <p:cNvPr id="25" name="Shape 21"/>
          <p:cNvSpPr/>
          <p:nvPr/>
        </p:nvSpPr>
        <p:spPr>
          <a:xfrm>
            <a:off x="4207155" y="2289561"/>
            <a:ext cx="3400654" cy="3467405"/>
          </a:xfrm>
          <a:prstGeom prst="roundRect">
            <a:avLst>
              <a:gd name="adj" fmla="val 1205"/>
            </a:avLst>
          </a:prstGeom>
          <a:solidFill>
            <a:srgbClr val="FFFFFF"/>
          </a:solidFill>
          <a:ln w="12700">
            <a:solidFill>
              <a:srgbClr val="E5E7EB"/>
            </a:solidFill>
            <a:prstDash val="solid"/>
          </a:ln>
          <a:effectLst>
            <a:outerShdw blurRad="63500" dist="38100" dir="5400000" algn="bl" rotWithShape="0">
              <a:srgbClr val="000000">
                <a:alpha val="5000"/>
              </a:srgbClr>
            </a:outerShdw>
          </a:effectLst>
        </p:spPr>
      </p:sp>
      <p:sp>
        <p:nvSpPr>
          <p:cNvPr id="26" name="Shape 22"/>
          <p:cNvSpPr/>
          <p:nvPr/>
        </p:nvSpPr>
        <p:spPr>
          <a:xfrm>
            <a:off x="4216299" y="2298705"/>
            <a:ext cx="3381451" cy="771754"/>
          </a:xfrm>
          <a:prstGeom prst="rect">
            <a:avLst/>
          </a:prstGeom>
          <a:solidFill>
            <a:srgbClr val="ECFDF5"/>
          </a:solidFill>
          <a:ln/>
        </p:spPr>
      </p:sp>
      <p:sp>
        <p:nvSpPr>
          <p:cNvPr id="27" name="Shape 23"/>
          <p:cNvSpPr/>
          <p:nvPr/>
        </p:nvSpPr>
        <p:spPr>
          <a:xfrm>
            <a:off x="4216299" y="3061315"/>
            <a:ext cx="3381451" cy="9144"/>
          </a:xfrm>
          <a:prstGeom prst="rect">
            <a:avLst/>
          </a:prstGeom>
          <a:solidFill>
            <a:srgbClr val="F3F4F6"/>
          </a:solidFill>
          <a:ln/>
        </p:spPr>
      </p:sp>
      <p:sp>
        <p:nvSpPr>
          <p:cNvPr id="28" name="Shape 24"/>
          <p:cNvSpPr/>
          <p:nvPr/>
        </p:nvSpPr>
        <p:spPr>
          <a:xfrm>
            <a:off x="4407408" y="2488901"/>
            <a:ext cx="381305" cy="381305"/>
          </a:xfrm>
          <a:prstGeom prst="roundRect">
            <a:avLst>
              <a:gd name="adj" fmla="val 59952"/>
            </a:avLst>
          </a:prstGeom>
          <a:solidFill>
            <a:srgbClr val="D1FAE5"/>
          </a:solidFill>
          <a:ln/>
        </p:spPr>
      </p:sp>
      <p:pic>
        <p:nvPicPr>
          <p:cNvPr id="29" name="Image 2" descr="preencoded.png"/>
          <p:cNvPicPr>
            <a:picLocks noChangeAspect="1"/>
          </p:cNvPicPr>
          <p:nvPr/>
        </p:nvPicPr>
        <p:blipFill>
          <a:blip r:embed="rId5"/>
          <a:srcRect/>
          <a:stretch/>
        </p:blipFill>
        <p:spPr>
          <a:xfrm>
            <a:off x="4502506" y="2584913"/>
            <a:ext cx="190195" cy="190195"/>
          </a:xfrm>
          <a:prstGeom prst="rect">
            <a:avLst/>
          </a:prstGeom>
        </p:spPr>
      </p:pic>
      <p:sp>
        <p:nvSpPr>
          <p:cNvPr id="30" name="Text 25"/>
          <p:cNvSpPr txBox="1"/>
          <p:nvPr/>
        </p:nvSpPr>
        <p:spPr>
          <a:xfrm>
            <a:off x="4902099" y="2537364"/>
            <a:ext cx="2029054" cy="277063"/>
          </a:xfrm>
          <a:prstGeom prst="rect">
            <a:avLst/>
          </a:prstGeom>
          <a:noFill/>
          <a:ln/>
        </p:spPr>
        <p:txBody>
          <a:bodyPr wrap="square" lIns="0" tIns="0" rIns="0" bIns="0" rtlCol="0" anchor="ctr"/>
          <a:lstStyle/>
          <a:p>
            <a:pPr marL="0" indent="0" algn="l">
              <a:buNone/>
            </a:pPr>
            <a:r>
              <a:rPr lang="en-US" sz="1500" b="1" dirty="0">
                <a:solidFill>
                  <a:srgbClr val="1F2937"/>
                </a:solidFill>
                <a:latin typeface="Noto Sans KR" pitchFamily="34" charset="0"/>
                <a:ea typeface="Noto Sans KR" pitchFamily="34" charset="-122"/>
                <a:cs typeface="Noto Sans KR" pitchFamily="34" charset="-120"/>
              </a:rPr>
              <a:t>Technical Indicators</a:t>
            </a:r>
            <a:endParaRPr lang="en-US" sz="1500" dirty="0"/>
          </a:p>
        </p:txBody>
      </p:sp>
      <p:sp>
        <p:nvSpPr>
          <p:cNvPr id="31" name="Shape 26"/>
          <p:cNvSpPr/>
          <p:nvPr/>
        </p:nvSpPr>
        <p:spPr>
          <a:xfrm>
            <a:off x="4454957" y="3308203"/>
            <a:ext cx="1705356" cy="342900"/>
          </a:xfrm>
          <a:prstGeom prst="roundRect">
            <a:avLst>
              <a:gd name="adj" fmla="val 59259"/>
            </a:avLst>
          </a:prstGeom>
          <a:solidFill>
            <a:srgbClr val="F3F4F6"/>
          </a:solidFill>
          <a:ln/>
        </p:spPr>
      </p:sp>
      <p:pic>
        <p:nvPicPr>
          <p:cNvPr id="32" name="Image 3" descr="preencoded.png"/>
          <p:cNvPicPr>
            <a:picLocks noChangeAspect="1"/>
          </p:cNvPicPr>
          <p:nvPr/>
        </p:nvPicPr>
        <p:blipFill>
          <a:blip r:embed="rId6"/>
          <a:srcRect/>
          <a:stretch/>
        </p:blipFill>
        <p:spPr>
          <a:xfrm>
            <a:off x="4569257" y="3422503"/>
            <a:ext cx="114300" cy="114300"/>
          </a:xfrm>
          <a:prstGeom prst="rect">
            <a:avLst/>
          </a:prstGeom>
        </p:spPr>
      </p:pic>
      <p:sp>
        <p:nvSpPr>
          <p:cNvPr id="33" name="Text 27"/>
          <p:cNvSpPr txBox="1"/>
          <p:nvPr/>
        </p:nvSpPr>
        <p:spPr>
          <a:xfrm>
            <a:off x="4759452" y="3365810"/>
            <a:ext cx="1400861" cy="228600"/>
          </a:xfrm>
          <a:prstGeom prst="rect">
            <a:avLst/>
          </a:prstGeom>
          <a:noFill/>
          <a:ln/>
        </p:spPr>
        <p:txBody>
          <a:bodyPr wrap="square" lIns="0" tIns="0" rIns="0" bIns="0" rtlCol="0" anchor="ctr"/>
          <a:lstStyle/>
          <a:p>
            <a:pPr marL="0" indent="0" algn="l">
              <a:buNone/>
            </a:pPr>
            <a:r>
              <a:rPr lang="en-US" sz="1200" b="1" dirty="0">
                <a:solidFill>
                  <a:srgbClr val="4B5563"/>
                </a:solidFill>
                <a:latin typeface="Courier New" pitchFamily="34" charset="0"/>
                <a:ea typeface="Courier New" pitchFamily="34" charset="-122"/>
                <a:cs typeface="Courier New" pitchFamily="34" charset="-120"/>
              </a:rPr>
              <a:t>Shape: (12, 6)</a:t>
            </a:r>
            <a:endParaRPr lang="en-US" sz="1200" dirty="0"/>
          </a:p>
        </p:txBody>
      </p:sp>
      <p:sp>
        <p:nvSpPr>
          <p:cNvPr id="34" name="Text 28"/>
          <p:cNvSpPr txBox="1"/>
          <p:nvPr/>
        </p:nvSpPr>
        <p:spPr>
          <a:xfrm>
            <a:off x="4454957" y="3889761"/>
            <a:ext cx="2200961" cy="228600"/>
          </a:xfrm>
          <a:prstGeom prst="rect">
            <a:avLst/>
          </a:prstGeom>
          <a:noFill/>
          <a:ln/>
        </p:spPr>
        <p:txBody>
          <a:bodyPr wrap="square" lIns="0" tIns="0" rIns="0" bIns="0" rtlCol="0" anchor="ctr"/>
          <a:lstStyle/>
          <a:p>
            <a:pPr marL="0" indent="0" algn="l">
              <a:buNone/>
            </a:pPr>
            <a:r>
              <a:rPr lang="en-US" sz="1200" dirty="0">
                <a:solidFill>
                  <a:srgbClr val="4B5563"/>
                </a:solidFill>
                <a:latin typeface="Noto Sans KR" pitchFamily="34" charset="0"/>
                <a:ea typeface="Noto Sans KR" pitchFamily="34" charset="-122"/>
                <a:cs typeface="Noto Sans KR" pitchFamily="34" charset="-120"/>
              </a:rPr>
              <a:t>MA5, MA20: 단기/중기 이동평균</a:t>
            </a:r>
            <a:endParaRPr lang="en-US" sz="1200" dirty="0"/>
          </a:p>
        </p:txBody>
      </p:sp>
      <p:sp>
        <p:nvSpPr>
          <p:cNvPr id="35" name="Text 29"/>
          <p:cNvSpPr txBox="1"/>
          <p:nvPr/>
        </p:nvSpPr>
        <p:spPr>
          <a:xfrm>
            <a:off x="4454957" y="4213459"/>
            <a:ext cx="1838858" cy="228600"/>
          </a:xfrm>
          <a:prstGeom prst="rect">
            <a:avLst/>
          </a:prstGeom>
          <a:noFill/>
          <a:ln/>
        </p:spPr>
        <p:txBody>
          <a:bodyPr wrap="square" lIns="0" tIns="0" rIns="0" bIns="0" rtlCol="0" anchor="ctr"/>
          <a:lstStyle/>
          <a:p>
            <a:pPr marL="0" indent="0" algn="l">
              <a:buNone/>
            </a:pPr>
            <a:r>
              <a:rPr lang="en-US" sz="1200" dirty="0">
                <a:solidFill>
                  <a:srgbClr val="4B5563"/>
                </a:solidFill>
                <a:latin typeface="Noto Sans KR" pitchFamily="34" charset="0"/>
                <a:ea typeface="Noto Sans KR" pitchFamily="34" charset="-122"/>
                <a:cs typeface="Noto Sans KR" pitchFamily="34" charset="-120"/>
              </a:rPr>
              <a:t>RSI: 상대강도지수 (모멘텀)</a:t>
            </a:r>
            <a:endParaRPr lang="en-US" sz="1200" dirty="0"/>
          </a:p>
        </p:txBody>
      </p:sp>
      <p:sp>
        <p:nvSpPr>
          <p:cNvPr id="36" name="Text 30"/>
          <p:cNvSpPr txBox="1"/>
          <p:nvPr/>
        </p:nvSpPr>
        <p:spPr>
          <a:xfrm>
            <a:off x="4454957" y="4537157"/>
            <a:ext cx="1733702" cy="228600"/>
          </a:xfrm>
          <a:prstGeom prst="rect">
            <a:avLst/>
          </a:prstGeom>
          <a:noFill/>
          <a:ln/>
        </p:spPr>
        <p:txBody>
          <a:bodyPr wrap="square" lIns="0" tIns="0" rIns="0" bIns="0" rtlCol="0" anchor="ctr"/>
          <a:lstStyle/>
          <a:p>
            <a:pPr marL="0" indent="0" algn="l">
              <a:buNone/>
            </a:pPr>
            <a:r>
              <a:rPr lang="en-US" sz="1200" dirty="0">
                <a:solidFill>
                  <a:srgbClr val="4B5563"/>
                </a:solidFill>
                <a:latin typeface="Noto Sans KR" pitchFamily="34" charset="0"/>
                <a:ea typeface="Noto Sans KR" pitchFamily="34" charset="-122"/>
                <a:cs typeface="Noto Sans KR" pitchFamily="34" charset="-120"/>
              </a:rPr>
              <a:t>MACD: 추세 및 발산 지표</a:t>
            </a:r>
            <a:endParaRPr lang="en-US" sz="1200" dirty="0"/>
          </a:p>
        </p:txBody>
      </p:sp>
      <p:sp>
        <p:nvSpPr>
          <p:cNvPr id="37" name="Text 31"/>
          <p:cNvSpPr txBox="1"/>
          <p:nvPr/>
        </p:nvSpPr>
        <p:spPr>
          <a:xfrm>
            <a:off x="4454957" y="4860854"/>
            <a:ext cx="2076602" cy="228600"/>
          </a:xfrm>
          <a:prstGeom prst="rect">
            <a:avLst/>
          </a:prstGeom>
          <a:noFill/>
          <a:ln/>
        </p:spPr>
        <p:txBody>
          <a:bodyPr wrap="square" lIns="0" tIns="0" rIns="0" bIns="0" rtlCol="0" anchor="ctr"/>
          <a:lstStyle/>
          <a:p>
            <a:pPr marL="0" indent="0" algn="l">
              <a:buNone/>
            </a:pPr>
            <a:r>
              <a:rPr lang="en-US" sz="1200" dirty="0">
                <a:solidFill>
                  <a:srgbClr val="4B5563"/>
                </a:solidFill>
                <a:latin typeface="Noto Sans KR" pitchFamily="34" charset="0"/>
                <a:ea typeface="Noto Sans KR" pitchFamily="34" charset="-122"/>
                <a:cs typeface="Noto Sans KR" pitchFamily="34" charset="-120"/>
              </a:rPr>
              <a:t>Bollinger Bands: 변동성 상단</a:t>
            </a:r>
            <a:endParaRPr lang="en-US" sz="1200" dirty="0"/>
          </a:p>
        </p:txBody>
      </p:sp>
      <p:sp>
        <p:nvSpPr>
          <p:cNvPr id="38" name="Text 32"/>
          <p:cNvSpPr txBox="1"/>
          <p:nvPr/>
        </p:nvSpPr>
        <p:spPr>
          <a:xfrm>
            <a:off x="4454957" y="5184552"/>
            <a:ext cx="1895551" cy="228600"/>
          </a:xfrm>
          <a:prstGeom prst="rect">
            <a:avLst/>
          </a:prstGeom>
          <a:noFill/>
          <a:ln/>
        </p:spPr>
        <p:txBody>
          <a:bodyPr wrap="square" lIns="0" tIns="0" rIns="0" bIns="0" rtlCol="0" anchor="ctr"/>
          <a:lstStyle/>
          <a:p>
            <a:pPr marL="0" indent="0" algn="l">
              <a:buNone/>
            </a:pPr>
            <a:r>
              <a:rPr lang="en-US" sz="1200" dirty="0">
                <a:solidFill>
                  <a:srgbClr val="4B5563"/>
                </a:solidFill>
                <a:latin typeface="Noto Sans KR" pitchFamily="34" charset="0"/>
                <a:ea typeface="Noto Sans KR" pitchFamily="34" charset="-122"/>
                <a:cs typeface="Noto Sans KR" pitchFamily="34" charset="-120"/>
              </a:rPr>
              <a:t>Volume Ratio: 거래량 변동</a:t>
            </a:r>
            <a:endParaRPr lang="en-US" sz="1200" dirty="0"/>
          </a:p>
        </p:txBody>
      </p:sp>
      <p:sp>
        <p:nvSpPr>
          <p:cNvPr id="39" name="Shape 33"/>
          <p:cNvSpPr/>
          <p:nvPr/>
        </p:nvSpPr>
        <p:spPr>
          <a:xfrm>
            <a:off x="7842809" y="2289561"/>
            <a:ext cx="3400654" cy="3467405"/>
          </a:xfrm>
          <a:prstGeom prst="roundRect">
            <a:avLst>
              <a:gd name="adj" fmla="val 1205"/>
            </a:avLst>
          </a:prstGeom>
          <a:solidFill>
            <a:srgbClr val="FFFFFF"/>
          </a:solidFill>
          <a:ln w="12700">
            <a:solidFill>
              <a:srgbClr val="E5E7EB"/>
            </a:solidFill>
            <a:prstDash val="solid"/>
          </a:ln>
          <a:effectLst>
            <a:outerShdw blurRad="63500" dist="38100" dir="5400000" algn="bl" rotWithShape="0">
              <a:srgbClr val="000000">
                <a:alpha val="5000"/>
              </a:srgbClr>
            </a:outerShdw>
          </a:effectLst>
        </p:spPr>
      </p:sp>
      <p:sp>
        <p:nvSpPr>
          <p:cNvPr id="40" name="Shape 34"/>
          <p:cNvSpPr/>
          <p:nvPr/>
        </p:nvSpPr>
        <p:spPr>
          <a:xfrm>
            <a:off x="7851953" y="2298705"/>
            <a:ext cx="3381451" cy="771754"/>
          </a:xfrm>
          <a:prstGeom prst="rect">
            <a:avLst/>
          </a:prstGeom>
          <a:solidFill>
            <a:srgbClr val="F5F3FF"/>
          </a:solidFill>
          <a:ln/>
        </p:spPr>
      </p:sp>
      <p:sp>
        <p:nvSpPr>
          <p:cNvPr id="41" name="Shape 35"/>
          <p:cNvSpPr/>
          <p:nvPr/>
        </p:nvSpPr>
        <p:spPr>
          <a:xfrm>
            <a:off x="7851953" y="3061315"/>
            <a:ext cx="3381451" cy="9144"/>
          </a:xfrm>
          <a:prstGeom prst="rect">
            <a:avLst/>
          </a:prstGeom>
          <a:solidFill>
            <a:srgbClr val="F3F4F6"/>
          </a:solidFill>
          <a:ln/>
        </p:spPr>
      </p:sp>
      <p:sp>
        <p:nvSpPr>
          <p:cNvPr id="42" name="Shape 36"/>
          <p:cNvSpPr/>
          <p:nvPr/>
        </p:nvSpPr>
        <p:spPr>
          <a:xfrm>
            <a:off x="8042148" y="2488901"/>
            <a:ext cx="381305" cy="381305"/>
          </a:xfrm>
          <a:prstGeom prst="roundRect">
            <a:avLst>
              <a:gd name="adj" fmla="val 59952"/>
            </a:avLst>
          </a:prstGeom>
          <a:solidFill>
            <a:srgbClr val="EDE9FE"/>
          </a:solidFill>
          <a:ln/>
        </p:spPr>
      </p:sp>
      <p:pic>
        <p:nvPicPr>
          <p:cNvPr id="43" name="Image 4" descr="preencoded.png"/>
          <p:cNvPicPr>
            <a:picLocks noChangeAspect="1"/>
          </p:cNvPicPr>
          <p:nvPr/>
        </p:nvPicPr>
        <p:blipFill>
          <a:blip r:embed="rId7"/>
          <a:srcRect/>
          <a:stretch/>
        </p:blipFill>
        <p:spPr>
          <a:xfrm>
            <a:off x="8138160" y="2584913"/>
            <a:ext cx="190195" cy="190195"/>
          </a:xfrm>
          <a:prstGeom prst="rect">
            <a:avLst/>
          </a:prstGeom>
        </p:spPr>
      </p:pic>
      <p:sp>
        <p:nvSpPr>
          <p:cNvPr id="44" name="Text 37"/>
          <p:cNvSpPr txBox="1"/>
          <p:nvPr/>
        </p:nvSpPr>
        <p:spPr>
          <a:xfrm>
            <a:off x="8537753" y="2537364"/>
            <a:ext cx="1505102" cy="277063"/>
          </a:xfrm>
          <a:prstGeom prst="rect">
            <a:avLst/>
          </a:prstGeom>
          <a:noFill/>
          <a:ln/>
        </p:spPr>
        <p:txBody>
          <a:bodyPr wrap="square" lIns="0" tIns="0" rIns="0" bIns="0" rtlCol="0" anchor="ctr"/>
          <a:lstStyle/>
          <a:p>
            <a:pPr marL="0" indent="0" algn="l">
              <a:buNone/>
            </a:pPr>
            <a:r>
              <a:rPr lang="en-US" sz="1500" b="1" dirty="0">
                <a:solidFill>
                  <a:srgbClr val="1F2937"/>
                </a:solidFill>
                <a:latin typeface="Noto Sans KR" pitchFamily="34" charset="0"/>
                <a:ea typeface="Noto Sans KR" pitchFamily="34" charset="-122"/>
                <a:cs typeface="Noto Sans KR" pitchFamily="34" charset="-120"/>
              </a:rPr>
              <a:t>Portfolio State</a:t>
            </a:r>
            <a:endParaRPr lang="en-US" sz="1500" dirty="0"/>
          </a:p>
        </p:txBody>
      </p:sp>
      <p:sp>
        <p:nvSpPr>
          <p:cNvPr id="45" name="Shape 38"/>
          <p:cNvSpPr/>
          <p:nvPr/>
        </p:nvSpPr>
        <p:spPr>
          <a:xfrm>
            <a:off x="8090611" y="3308203"/>
            <a:ext cx="1419149" cy="342900"/>
          </a:xfrm>
          <a:prstGeom prst="roundRect">
            <a:avLst>
              <a:gd name="adj" fmla="val 59259"/>
            </a:avLst>
          </a:prstGeom>
          <a:solidFill>
            <a:srgbClr val="F3F4F6"/>
          </a:solidFill>
          <a:ln/>
        </p:spPr>
      </p:sp>
      <p:pic>
        <p:nvPicPr>
          <p:cNvPr id="46" name="Image 5" descr="preencoded.png"/>
          <p:cNvPicPr>
            <a:picLocks noChangeAspect="1"/>
          </p:cNvPicPr>
          <p:nvPr/>
        </p:nvPicPr>
        <p:blipFill>
          <a:blip r:embed="rId8"/>
          <a:srcRect l="-2571" r="-2571"/>
          <a:stretch/>
        </p:blipFill>
        <p:spPr>
          <a:xfrm>
            <a:off x="8204911" y="3422503"/>
            <a:ext cx="105156" cy="114300"/>
          </a:xfrm>
          <a:prstGeom prst="rect">
            <a:avLst/>
          </a:prstGeom>
        </p:spPr>
      </p:pic>
      <p:sp>
        <p:nvSpPr>
          <p:cNvPr id="47" name="Text 39"/>
          <p:cNvSpPr txBox="1"/>
          <p:nvPr/>
        </p:nvSpPr>
        <p:spPr>
          <a:xfrm>
            <a:off x="8385048" y="3365810"/>
            <a:ext cx="1124712" cy="228600"/>
          </a:xfrm>
          <a:prstGeom prst="rect">
            <a:avLst/>
          </a:prstGeom>
          <a:noFill/>
          <a:ln/>
        </p:spPr>
        <p:txBody>
          <a:bodyPr wrap="square" lIns="0" tIns="0" rIns="0" bIns="0" rtlCol="0" anchor="ctr"/>
          <a:lstStyle/>
          <a:p>
            <a:pPr marL="0" indent="0" algn="l">
              <a:buNone/>
            </a:pPr>
            <a:r>
              <a:rPr lang="en-US" sz="1200" b="1" dirty="0">
                <a:solidFill>
                  <a:srgbClr val="4B5563"/>
                </a:solidFill>
                <a:latin typeface="Courier New" pitchFamily="34" charset="0"/>
                <a:ea typeface="Courier New" pitchFamily="34" charset="-122"/>
                <a:cs typeface="Courier New" pitchFamily="34" charset="-120"/>
              </a:rPr>
              <a:t>Shape: (3,)</a:t>
            </a:r>
            <a:endParaRPr lang="en-US" sz="1200" dirty="0"/>
          </a:p>
        </p:txBody>
      </p:sp>
      <p:sp>
        <p:nvSpPr>
          <p:cNvPr id="48" name="Text 40"/>
          <p:cNvSpPr txBox="1"/>
          <p:nvPr/>
        </p:nvSpPr>
        <p:spPr>
          <a:xfrm>
            <a:off x="8090611" y="3889761"/>
            <a:ext cx="2238451" cy="228600"/>
          </a:xfrm>
          <a:prstGeom prst="rect">
            <a:avLst/>
          </a:prstGeom>
          <a:noFill/>
          <a:ln/>
        </p:spPr>
        <p:txBody>
          <a:bodyPr wrap="square" lIns="0" tIns="0" rIns="0" bIns="0" rtlCol="0" anchor="ctr"/>
          <a:lstStyle/>
          <a:p>
            <a:pPr marL="0" indent="0" algn="l">
              <a:buNone/>
            </a:pPr>
            <a:r>
              <a:rPr lang="en-US" sz="1200" dirty="0">
                <a:solidFill>
                  <a:srgbClr val="4B5563"/>
                </a:solidFill>
                <a:latin typeface="Noto Sans KR" pitchFamily="34" charset="0"/>
                <a:ea typeface="Noto Sans KR" pitchFamily="34" charset="-122"/>
                <a:cs typeface="Noto Sans KR" pitchFamily="34" charset="-120"/>
              </a:rPr>
              <a:t>현금 비율: 현재 자산 중 현금 비중</a:t>
            </a:r>
            <a:endParaRPr lang="en-US" sz="1200" dirty="0"/>
          </a:p>
        </p:txBody>
      </p:sp>
      <p:sp>
        <p:nvSpPr>
          <p:cNvPr id="49" name="Text 41"/>
          <p:cNvSpPr txBox="1"/>
          <p:nvPr/>
        </p:nvSpPr>
        <p:spPr>
          <a:xfrm>
            <a:off x="8090611" y="4213459"/>
            <a:ext cx="1914754" cy="228600"/>
          </a:xfrm>
          <a:prstGeom prst="rect">
            <a:avLst/>
          </a:prstGeom>
          <a:noFill/>
          <a:ln/>
        </p:spPr>
        <p:txBody>
          <a:bodyPr wrap="square" lIns="0" tIns="0" rIns="0" bIns="0" rtlCol="0" anchor="ctr"/>
          <a:lstStyle/>
          <a:p>
            <a:pPr marL="0" indent="0" algn="l">
              <a:buNone/>
            </a:pPr>
            <a:r>
              <a:rPr lang="en-US" sz="1200" dirty="0">
                <a:solidFill>
                  <a:srgbClr val="4B5563"/>
                </a:solidFill>
                <a:latin typeface="Noto Sans KR" pitchFamily="34" charset="0"/>
                <a:ea typeface="Noto Sans KR" pitchFamily="34" charset="-122"/>
                <a:cs typeface="Noto Sans KR" pitchFamily="34" charset="-120"/>
              </a:rPr>
              <a:t>보유 종목 수: 분산 투자 정도</a:t>
            </a:r>
            <a:endParaRPr lang="en-US" sz="1200" dirty="0"/>
          </a:p>
        </p:txBody>
      </p:sp>
      <p:sp>
        <p:nvSpPr>
          <p:cNvPr id="50" name="Text 42"/>
          <p:cNvSpPr txBox="1"/>
          <p:nvPr/>
        </p:nvSpPr>
        <p:spPr>
          <a:xfrm>
            <a:off x="8090611" y="4537156"/>
            <a:ext cx="3020263" cy="552297"/>
          </a:xfrm>
          <a:prstGeom prst="rect">
            <a:avLst/>
          </a:prstGeom>
          <a:noFill/>
          <a:ln/>
        </p:spPr>
        <p:txBody>
          <a:bodyPr wrap="square" lIns="0" tIns="0" rIns="0" bIns="0" rtlCol="0" anchor="ctr"/>
          <a:lstStyle/>
          <a:p>
            <a:pPr marL="0" indent="0" algn="l">
              <a:buNone/>
            </a:pPr>
            <a:r>
              <a:rPr lang="en-US" sz="1200" dirty="0">
                <a:solidFill>
                  <a:srgbClr val="4B5563"/>
                </a:solidFill>
                <a:latin typeface="Noto Sans KR" pitchFamily="34" charset="0"/>
                <a:ea typeface="Noto Sans KR" pitchFamily="34" charset="-122"/>
                <a:cs typeface="Noto Sans KR" pitchFamily="34" charset="-120"/>
              </a:rPr>
              <a:t>Max Drawdown (MDD)</a:t>
            </a:r>
            <a:br>
              <a:rPr lang="en-US" sz="1200" dirty="0">
                <a:solidFill>
                  <a:srgbClr val="4B5563"/>
                </a:solidFill>
                <a:latin typeface="Noto Sans KR" pitchFamily="34" charset="0"/>
                <a:ea typeface="Noto Sans KR" pitchFamily="34" charset="-122"/>
                <a:cs typeface="Noto Sans KR" pitchFamily="34" charset="-120"/>
              </a:rPr>
            </a:br>
            <a:r>
              <a:rPr lang="en-US" sz="1200" dirty="0">
                <a:solidFill>
                  <a:srgbClr val="4B5563"/>
                </a:solidFill>
                <a:latin typeface="Noto Sans KR" pitchFamily="34" charset="0"/>
                <a:ea typeface="Noto Sans KR" pitchFamily="34" charset="-122"/>
                <a:cs typeface="Noto Sans KR" pitchFamily="34" charset="-120"/>
              </a:rPr>
              <a:t>: </a:t>
            </a:r>
            <a:r>
              <a:rPr lang="en-US" sz="1200" dirty="0" err="1">
                <a:solidFill>
                  <a:srgbClr val="4B5563"/>
                </a:solidFill>
                <a:latin typeface="Noto Sans KR" pitchFamily="34" charset="0"/>
                <a:ea typeface="Noto Sans KR" pitchFamily="34" charset="-122"/>
                <a:cs typeface="Noto Sans KR" pitchFamily="34" charset="-120"/>
              </a:rPr>
              <a:t>현재</a:t>
            </a:r>
            <a:r>
              <a:rPr lang="en-US" sz="1200" dirty="0">
                <a:solidFill>
                  <a:srgbClr val="4B5563"/>
                </a:solidFill>
                <a:latin typeface="Noto Sans KR" pitchFamily="34" charset="0"/>
                <a:ea typeface="Noto Sans KR" pitchFamily="34" charset="-122"/>
                <a:cs typeface="Noto Sans KR" pitchFamily="34" charset="-120"/>
              </a:rPr>
              <a:t> 포트폴리오의 최대 낙폭 </a:t>
            </a:r>
            <a:r>
              <a:rPr lang="en-US" sz="1200" dirty="0" err="1">
                <a:solidFill>
                  <a:srgbClr val="4B5563"/>
                </a:solidFill>
                <a:latin typeface="Noto Sans KR" pitchFamily="34" charset="0"/>
                <a:ea typeface="Noto Sans KR" pitchFamily="34" charset="-122"/>
                <a:cs typeface="Noto Sans KR" pitchFamily="34" charset="-120"/>
              </a:rPr>
              <a:t>상태</a:t>
            </a:r>
            <a:r>
              <a:rPr lang="en-US" sz="1200" dirty="0">
                <a:solidFill>
                  <a:srgbClr val="4B5563"/>
                </a:solidFill>
                <a:latin typeface="Noto Sans KR" pitchFamily="34" charset="0"/>
                <a:ea typeface="Noto Sans KR" pitchFamily="34" charset="-122"/>
                <a:cs typeface="Noto Sans KR" pitchFamily="34" charset="-120"/>
              </a:rPr>
              <a:t> </a:t>
            </a:r>
            <a:br>
              <a:rPr lang="en-US" sz="1200" dirty="0">
                <a:solidFill>
                  <a:srgbClr val="4B5563"/>
                </a:solidFill>
                <a:latin typeface="Noto Sans KR" pitchFamily="34" charset="0"/>
                <a:ea typeface="Noto Sans KR" pitchFamily="34" charset="-122"/>
                <a:cs typeface="Noto Sans KR" pitchFamily="34" charset="-120"/>
              </a:rPr>
            </a:br>
            <a:r>
              <a:rPr lang="en-US" sz="1200" dirty="0">
                <a:solidFill>
                  <a:srgbClr val="4B5563"/>
                </a:solidFill>
                <a:latin typeface="Noto Sans KR" pitchFamily="34" charset="0"/>
                <a:ea typeface="Noto Sans KR" pitchFamily="34" charset="-122"/>
                <a:cs typeface="Noto Sans KR" pitchFamily="34" charset="-120"/>
              </a:rPr>
              <a:t>(리스크 관리용)</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8" name="Text 6"/>
          <p:cNvSpPr txBox="1"/>
          <p:nvPr/>
        </p:nvSpPr>
        <p:spPr>
          <a:xfrm>
            <a:off x="571500" y="177343"/>
            <a:ext cx="3877056" cy="514807"/>
          </a:xfrm>
          <a:prstGeom prst="rect">
            <a:avLst/>
          </a:prstGeom>
          <a:noFill/>
          <a:ln/>
        </p:spPr>
        <p:txBody>
          <a:bodyPr wrap="square" lIns="0" tIns="0" rIns="0" bIns="0" rtlCol="0" anchor="ctr"/>
          <a:lstStyle/>
          <a:p>
            <a:pPr marL="0" indent="0" algn="l">
              <a:buNone/>
            </a:pPr>
            <a:r>
              <a:rPr lang="en-US" sz="2400" b="1" dirty="0">
                <a:solidFill>
                  <a:srgbClr val="111827"/>
                </a:solidFill>
                <a:latin typeface="Noto Sans KR" pitchFamily="34" charset="0"/>
                <a:ea typeface="Noto Sans KR" pitchFamily="34" charset="-122"/>
                <a:cs typeface="Noto Sans KR" pitchFamily="34" charset="-120"/>
              </a:rPr>
              <a:t>Action &amp; Reward 설계</a:t>
            </a:r>
            <a:endParaRPr lang="en-US" sz="2400" dirty="0"/>
          </a:p>
        </p:txBody>
      </p:sp>
      <p:sp>
        <p:nvSpPr>
          <p:cNvPr id="10" name="Shape 8"/>
          <p:cNvSpPr/>
          <p:nvPr/>
        </p:nvSpPr>
        <p:spPr>
          <a:xfrm>
            <a:off x="571500" y="1008530"/>
            <a:ext cx="5191049" cy="3869732"/>
          </a:xfrm>
          <a:prstGeom prst="roundRect">
            <a:avLst>
              <a:gd name="adj" fmla="val 765"/>
            </a:avLst>
          </a:prstGeom>
          <a:solidFill>
            <a:srgbClr val="F9FAFB"/>
          </a:solidFill>
          <a:ln/>
          <a:effectLst>
            <a:outerShdw blurRad="63500" dist="38100" dir="5400000" algn="bl" rotWithShape="0">
              <a:srgbClr val="000000">
                <a:alpha val="5000"/>
              </a:srgbClr>
            </a:outerShdw>
          </a:effectLst>
        </p:spPr>
      </p:sp>
      <p:sp>
        <p:nvSpPr>
          <p:cNvPr id="11" name="Shape 9"/>
          <p:cNvSpPr/>
          <p:nvPr/>
        </p:nvSpPr>
        <p:spPr>
          <a:xfrm>
            <a:off x="571500" y="1008530"/>
            <a:ext cx="57607" cy="3869732"/>
          </a:xfrm>
          <a:prstGeom prst="rect">
            <a:avLst/>
          </a:prstGeom>
          <a:solidFill>
            <a:srgbClr val="2563EB"/>
          </a:solidFill>
          <a:ln/>
        </p:spPr>
      </p:sp>
      <p:sp>
        <p:nvSpPr>
          <p:cNvPr id="12" name="Shape 10"/>
          <p:cNvSpPr/>
          <p:nvPr/>
        </p:nvSpPr>
        <p:spPr>
          <a:xfrm>
            <a:off x="914400" y="1122820"/>
            <a:ext cx="381305" cy="381305"/>
          </a:xfrm>
          <a:prstGeom prst="ellipse">
            <a:avLst/>
          </a:prstGeom>
          <a:solidFill>
            <a:srgbClr val="EFF6FF"/>
          </a:solidFill>
          <a:ln/>
        </p:spPr>
      </p:sp>
      <p:pic>
        <p:nvPicPr>
          <p:cNvPr id="13" name="Image 0" descr="preencoded.png"/>
          <p:cNvPicPr>
            <a:picLocks noChangeAspect="1"/>
          </p:cNvPicPr>
          <p:nvPr/>
        </p:nvPicPr>
        <p:blipFill>
          <a:blip r:embed="rId3"/>
          <a:srcRect l="-57" r="-57"/>
          <a:stretch/>
        </p:blipFill>
        <p:spPr>
          <a:xfrm>
            <a:off x="1004926" y="1198715"/>
            <a:ext cx="200254" cy="228600"/>
          </a:xfrm>
          <a:prstGeom prst="rect">
            <a:avLst/>
          </a:prstGeom>
        </p:spPr>
      </p:pic>
      <p:sp>
        <p:nvSpPr>
          <p:cNvPr id="14" name="Text 11"/>
          <p:cNvSpPr txBox="1"/>
          <p:nvPr/>
        </p:nvSpPr>
        <p:spPr>
          <a:xfrm>
            <a:off x="1533449" y="1142022"/>
            <a:ext cx="2286000" cy="333756"/>
          </a:xfrm>
          <a:prstGeom prst="rect">
            <a:avLst/>
          </a:prstGeom>
          <a:noFill/>
          <a:ln/>
        </p:spPr>
        <p:txBody>
          <a:bodyPr wrap="square" lIns="0" tIns="0" rIns="0" bIns="0" rtlCol="0" anchor="ctr"/>
          <a:lstStyle/>
          <a:p>
            <a:pPr marL="0" indent="0" algn="l">
              <a:buNone/>
            </a:pPr>
            <a:r>
              <a:rPr lang="en-US" sz="1800" b="1" dirty="0">
                <a:solidFill>
                  <a:srgbClr val="1F2937"/>
                </a:solidFill>
                <a:latin typeface="Noto Sans KR" pitchFamily="34" charset="0"/>
                <a:ea typeface="Noto Sans KR" pitchFamily="34" charset="-122"/>
                <a:cs typeface="Noto Sans KR" pitchFamily="34" charset="-120"/>
              </a:rPr>
              <a:t>Action Space (행동)</a:t>
            </a:r>
            <a:endParaRPr lang="en-US" sz="1800" dirty="0"/>
          </a:p>
        </p:txBody>
      </p:sp>
      <p:sp>
        <p:nvSpPr>
          <p:cNvPr id="15" name="Text 12"/>
          <p:cNvSpPr txBox="1"/>
          <p:nvPr/>
        </p:nvSpPr>
        <p:spPr>
          <a:xfrm>
            <a:off x="914400" y="1655915"/>
            <a:ext cx="4614977" cy="523951"/>
          </a:xfrm>
          <a:prstGeom prst="rect">
            <a:avLst/>
          </a:prstGeom>
          <a:noFill/>
          <a:ln/>
        </p:spPr>
        <p:txBody>
          <a:bodyPr wrap="square" lIns="0" tIns="0" rIns="0" bIns="0" rtlCol="0" anchor="ctr"/>
          <a:lstStyle/>
          <a:p>
            <a:pPr marL="0" indent="0" algn="l">
              <a:buNone/>
            </a:pPr>
            <a:r>
              <a:rPr lang="en-US" sz="1300" dirty="0">
                <a:solidFill>
                  <a:srgbClr val="4B5563"/>
                </a:solidFill>
                <a:latin typeface="Noto Sans KR" pitchFamily="34" charset="0"/>
                <a:ea typeface="Noto Sans KR" pitchFamily="34" charset="-122"/>
                <a:cs typeface="Noto Sans KR" pitchFamily="34" charset="-120"/>
              </a:rPr>
              <a:t>포트폴리오 내 각 자산의 목표 비중을 결정하는 연속적인 값입니다.</a:t>
            </a:r>
            <a:endParaRPr lang="en-US" sz="1300" dirty="0"/>
          </a:p>
        </p:txBody>
      </p:sp>
      <p:sp>
        <p:nvSpPr>
          <p:cNvPr id="16" name="Shape 13"/>
          <p:cNvSpPr/>
          <p:nvPr/>
        </p:nvSpPr>
        <p:spPr>
          <a:xfrm>
            <a:off x="914400" y="2365373"/>
            <a:ext cx="4562856" cy="836676"/>
          </a:xfrm>
          <a:prstGeom prst="roundRect">
            <a:avLst>
              <a:gd name="adj" fmla="val 6015"/>
            </a:avLst>
          </a:prstGeom>
          <a:solidFill>
            <a:srgbClr val="FFFFFF"/>
          </a:solidFill>
          <a:ln w="12700">
            <a:solidFill>
              <a:srgbClr val="E5E7EB"/>
            </a:solidFill>
            <a:prstDash val="solid"/>
          </a:ln>
          <a:effectLst>
            <a:outerShdw blurRad="50800" dist="25400" dir="2700000" algn="bl" rotWithShape="0">
              <a:srgbClr val="000000">
                <a:alpha val="2000"/>
              </a:srgbClr>
            </a:outerShdw>
          </a:effectLst>
        </p:spPr>
      </p:sp>
      <p:sp>
        <p:nvSpPr>
          <p:cNvPr id="17" name="Text 14"/>
          <p:cNvSpPr txBox="1"/>
          <p:nvPr/>
        </p:nvSpPr>
        <p:spPr>
          <a:xfrm>
            <a:off x="2678278" y="2493389"/>
            <a:ext cx="1196035" cy="238658"/>
          </a:xfrm>
          <a:prstGeom prst="rect">
            <a:avLst/>
          </a:prstGeom>
          <a:noFill/>
          <a:ln/>
        </p:spPr>
        <p:txBody>
          <a:bodyPr wrap="square" lIns="0" tIns="0" rIns="0" bIns="0" rtlCol="0" anchor="ctr"/>
          <a:lstStyle/>
          <a:p>
            <a:pPr marL="0" indent="0" algn="ctr">
              <a:buNone/>
            </a:pPr>
            <a:r>
              <a:rPr lang="en-US" sz="1600" i="1" dirty="0">
                <a:solidFill>
                  <a:srgbClr val="1F2937"/>
                </a:solidFill>
                <a:latin typeface="Times New Roman" pitchFamily="34" charset="0"/>
                <a:ea typeface="Times New Roman" pitchFamily="34" charset="-122"/>
                <a:cs typeface="Times New Roman" pitchFamily="34" charset="-120"/>
              </a:rPr>
              <a:t>Shape: (13,)</a:t>
            </a:r>
            <a:endParaRPr lang="en-US" sz="1600" dirty="0"/>
          </a:p>
        </p:txBody>
      </p:sp>
      <p:sp>
        <p:nvSpPr>
          <p:cNvPr id="18" name="Text 15"/>
          <p:cNvSpPr txBox="1"/>
          <p:nvPr/>
        </p:nvSpPr>
        <p:spPr>
          <a:xfrm>
            <a:off x="2561235" y="2866464"/>
            <a:ext cx="1405433" cy="191110"/>
          </a:xfrm>
          <a:prstGeom prst="rect">
            <a:avLst/>
          </a:prstGeom>
          <a:noFill/>
          <a:ln/>
        </p:spPr>
        <p:txBody>
          <a:bodyPr wrap="square" lIns="0" tIns="0" rIns="0" bIns="0" rtlCol="0" anchor="ctr"/>
          <a:lstStyle/>
          <a:p>
            <a:pPr marL="0" indent="0" algn="ctr">
              <a:buNone/>
            </a:pPr>
            <a:r>
              <a:rPr lang="en-US" sz="1300" i="1" dirty="0">
                <a:solidFill>
                  <a:srgbClr val="6B7280"/>
                </a:solidFill>
                <a:latin typeface="Times New Roman" pitchFamily="34" charset="0"/>
                <a:ea typeface="Times New Roman" pitchFamily="34" charset="-122"/>
                <a:cs typeface="Times New Roman" pitchFamily="34" charset="-120"/>
              </a:rPr>
              <a:t>12 ETFs + 1 Cash</a:t>
            </a:r>
            <a:endParaRPr lang="en-US" sz="1300" dirty="0"/>
          </a:p>
        </p:txBody>
      </p:sp>
      <p:sp>
        <p:nvSpPr>
          <p:cNvPr id="19" name="Text 16"/>
          <p:cNvSpPr txBox="1"/>
          <p:nvPr/>
        </p:nvSpPr>
        <p:spPr>
          <a:xfrm>
            <a:off x="1105510" y="3325493"/>
            <a:ext cx="2557577" cy="247802"/>
          </a:xfrm>
          <a:prstGeom prst="rect">
            <a:avLst/>
          </a:prstGeom>
          <a:noFill/>
          <a:ln/>
        </p:spPr>
        <p:txBody>
          <a:bodyPr wrap="square" lIns="0" tIns="0" rIns="0" bIns="0" rtlCol="0" anchor="ctr"/>
          <a:lstStyle/>
          <a:p>
            <a:pPr marL="0" indent="0" algn="l">
              <a:buNone/>
            </a:pPr>
            <a:r>
              <a:rPr lang="en-US" sz="1300" dirty="0">
                <a:solidFill>
                  <a:srgbClr val="4B5563"/>
                </a:solidFill>
                <a:latin typeface="Noto Sans KR" pitchFamily="34" charset="0"/>
                <a:ea typeface="Noto Sans KR" pitchFamily="34" charset="-122"/>
                <a:cs typeface="Noto Sans KR" pitchFamily="34" charset="-120"/>
              </a:rPr>
              <a:t>형태: Continuous Action Space</a:t>
            </a:r>
            <a:endParaRPr lang="en-US" sz="1300" dirty="0"/>
          </a:p>
        </p:txBody>
      </p:sp>
      <p:sp>
        <p:nvSpPr>
          <p:cNvPr id="20" name="Text 17"/>
          <p:cNvSpPr txBox="1"/>
          <p:nvPr/>
        </p:nvSpPr>
        <p:spPr>
          <a:xfrm>
            <a:off x="1105510" y="3675708"/>
            <a:ext cx="3024835" cy="247802"/>
          </a:xfrm>
          <a:prstGeom prst="rect">
            <a:avLst/>
          </a:prstGeom>
          <a:noFill/>
          <a:ln/>
        </p:spPr>
        <p:txBody>
          <a:bodyPr wrap="square" lIns="0" tIns="0" rIns="0" bIns="0" rtlCol="0" anchor="ctr"/>
          <a:lstStyle/>
          <a:p>
            <a:pPr marL="0" indent="0" algn="l">
              <a:buNone/>
            </a:pPr>
            <a:r>
              <a:rPr lang="en-US" sz="1300" dirty="0">
                <a:solidFill>
                  <a:srgbClr val="4B5563"/>
                </a:solidFill>
                <a:latin typeface="Noto Sans KR" pitchFamily="34" charset="0"/>
                <a:ea typeface="Noto Sans KR" pitchFamily="34" charset="-122"/>
                <a:cs typeface="Noto Sans KR" pitchFamily="34" charset="-120"/>
              </a:rPr>
              <a:t>범위: [0, 1] (Softmax 활성화 함수 적용)</a:t>
            </a:r>
            <a:endParaRPr lang="en-US" sz="1300" dirty="0"/>
          </a:p>
        </p:txBody>
      </p:sp>
      <p:sp>
        <p:nvSpPr>
          <p:cNvPr id="21" name="Text 18"/>
          <p:cNvSpPr txBox="1"/>
          <p:nvPr/>
        </p:nvSpPr>
        <p:spPr>
          <a:xfrm>
            <a:off x="1105510" y="4026838"/>
            <a:ext cx="3424428" cy="247802"/>
          </a:xfrm>
          <a:prstGeom prst="rect">
            <a:avLst/>
          </a:prstGeom>
          <a:noFill/>
          <a:ln/>
        </p:spPr>
        <p:txBody>
          <a:bodyPr wrap="square" lIns="0" tIns="0" rIns="0" bIns="0" rtlCol="0" anchor="ctr"/>
          <a:lstStyle/>
          <a:p>
            <a:pPr marL="0" indent="0" algn="l">
              <a:buNone/>
            </a:pPr>
            <a:r>
              <a:rPr lang="en-US" sz="1300" dirty="0">
                <a:solidFill>
                  <a:srgbClr val="4B5563"/>
                </a:solidFill>
                <a:latin typeface="Noto Sans KR" pitchFamily="34" charset="0"/>
                <a:ea typeface="Noto Sans KR" pitchFamily="34" charset="-122"/>
                <a:cs typeface="Noto Sans KR" pitchFamily="34" charset="-120"/>
              </a:rPr>
              <a:t>제약조건: $\sum w_i = 1$ (비중 합은 항상 1)</a:t>
            </a:r>
            <a:endParaRPr lang="en-US" sz="1300" dirty="0"/>
          </a:p>
        </p:txBody>
      </p:sp>
      <p:sp>
        <p:nvSpPr>
          <p:cNvPr id="22" name="Text 19"/>
          <p:cNvSpPr txBox="1"/>
          <p:nvPr/>
        </p:nvSpPr>
        <p:spPr>
          <a:xfrm>
            <a:off x="1105510" y="4377053"/>
            <a:ext cx="2824582" cy="247802"/>
          </a:xfrm>
          <a:prstGeom prst="rect">
            <a:avLst/>
          </a:prstGeom>
          <a:noFill/>
          <a:ln/>
        </p:spPr>
        <p:txBody>
          <a:bodyPr wrap="square" lIns="0" tIns="0" rIns="0" bIns="0" rtlCol="0" anchor="ctr"/>
          <a:lstStyle/>
          <a:p>
            <a:pPr marL="0" indent="0" algn="l">
              <a:buNone/>
            </a:pPr>
            <a:r>
              <a:rPr lang="en-US" sz="1300" dirty="0">
                <a:solidFill>
                  <a:srgbClr val="4B5563"/>
                </a:solidFill>
                <a:latin typeface="Noto Sans KR" pitchFamily="34" charset="0"/>
                <a:ea typeface="Noto Sans KR" pitchFamily="34" charset="-122"/>
                <a:cs typeface="Noto Sans KR" pitchFamily="34" charset="-120"/>
              </a:rPr>
              <a:t>빈도: Daily Rebalancing (매일 조정)</a:t>
            </a:r>
            <a:endParaRPr lang="en-US" sz="1300" dirty="0"/>
          </a:p>
        </p:txBody>
      </p:sp>
      <p:sp>
        <p:nvSpPr>
          <p:cNvPr id="23" name="Shape 20"/>
          <p:cNvSpPr/>
          <p:nvPr/>
        </p:nvSpPr>
        <p:spPr>
          <a:xfrm>
            <a:off x="6048756" y="1008530"/>
            <a:ext cx="5191049" cy="3869732"/>
          </a:xfrm>
          <a:prstGeom prst="roundRect">
            <a:avLst>
              <a:gd name="adj" fmla="val 765"/>
            </a:avLst>
          </a:prstGeom>
          <a:solidFill>
            <a:srgbClr val="F9FAFB"/>
          </a:solidFill>
          <a:ln/>
          <a:effectLst>
            <a:outerShdw blurRad="63500" dist="38100" dir="5400000" algn="bl" rotWithShape="0">
              <a:srgbClr val="000000">
                <a:alpha val="5000"/>
              </a:srgbClr>
            </a:outerShdw>
          </a:effectLst>
        </p:spPr>
      </p:sp>
      <p:sp>
        <p:nvSpPr>
          <p:cNvPr id="24" name="Shape 21"/>
          <p:cNvSpPr/>
          <p:nvPr/>
        </p:nvSpPr>
        <p:spPr>
          <a:xfrm>
            <a:off x="6048756" y="1008530"/>
            <a:ext cx="57607" cy="3869732"/>
          </a:xfrm>
          <a:prstGeom prst="rect">
            <a:avLst/>
          </a:prstGeom>
          <a:solidFill>
            <a:srgbClr val="10B981"/>
          </a:solidFill>
          <a:ln/>
        </p:spPr>
      </p:sp>
      <p:sp>
        <p:nvSpPr>
          <p:cNvPr id="25" name="Shape 22"/>
          <p:cNvSpPr/>
          <p:nvPr/>
        </p:nvSpPr>
        <p:spPr>
          <a:xfrm>
            <a:off x="6391656" y="1122820"/>
            <a:ext cx="381305" cy="381305"/>
          </a:xfrm>
          <a:prstGeom prst="ellipse">
            <a:avLst/>
          </a:prstGeom>
          <a:solidFill>
            <a:srgbClr val="ECFDF5"/>
          </a:solidFill>
          <a:ln/>
        </p:spPr>
      </p:sp>
      <p:pic>
        <p:nvPicPr>
          <p:cNvPr id="26" name="Image 1" descr="preencoded.png"/>
          <p:cNvPicPr>
            <a:picLocks noChangeAspect="1"/>
          </p:cNvPicPr>
          <p:nvPr/>
        </p:nvPicPr>
        <p:blipFill>
          <a:blip r:embed="rId4"/>
          <a:srcRect/>
          <a:stretch/>
        </p:blipFill>
        <p:spPr>
          <a:xfrm>
            <a:off x="6467551" y="1198715"/>
            <a:ext cx="228600" cy="228600"/>
          </a:xfrm>
          <a:prstGeom prst="rect">
            <a:avLst/>
          </a:prstGeom>
        </p:spPr>
      </p:pic>
      <p:sp>
        <p:nvSpPr>
          <p:cNvPr id="27" name="Text 23"/>
          <p:cNvSpPr txBox="1"/>
          <p:nvPr/>
        </p:nvSpPr>
        <p:spPr>
          <a:xfrm>
            <a:off x="7010705" y="1142022"/>
            <a:ext cx="2743200" cy="333756"/>
          </a:xfrm>
          <a:prstGeom prst="rect">
            <a:avLst/>
          </a:prstGeom>
          <a:noFill/>
          <a:ln/>
        </p:spPr>
        <p:txBody>
          <a:bodyPr wrap="square" lIns="0" tIns="0" rIns="0" bIns="0" rtlCol="0" anchor="ctr"/>
          <a:lstStyle/>
          <a:p>
            <a:pPr marL="0" indent="0" algn="l">
              <a:buNone/>
            </a:pPr>
            <a:r>
              <a:rPr lang="en-US" sz="1800" b="1" dirty="0">
                <a:solidFill>
                  <a:srgbClr val="1F2937"/>
                </a:solidFill>
                <a:latin typeface="Noto Sans KR" pitchFamily="34" charset="0"/>
                <a:ea typeface="Noto Sans KR" pitchFamily="34" charset="-122"/>
                <a:cs typeface="Noto Sans KR" pitchFamily="34" charset="-120"/>
              </a:rPr>
              <a:t>Reward Function (보상)</a:t>
            </a:r>
            <a:endParaRPr lang="en-US" sz="1800" dirty="0"/>
          </a:p>
        </p:txBody>
      </p:sp>
      <p:sp>
        <p:nvSpPr>
          <p:cNvPr id="28" name="Text 24"/>
          <p:cNvSpPr txBox="1"/>
          <p:nvPr/>
        </p:nvSpPr>
        <p:spPr>
          <a:xfrm>
            <a:off x="6391656" y="1655915"/>
            <a:ext cx="4614977" cy="523951"/>
          </a:xfrm>
          <a:prstGeom prst="rect">
            <a:avLst/>
          </a:prstGeom>
          <a:noFill/>
          <a:ln/>
        </p:spPr>
        <p:txBody>
          <a:bodyPr wrap="square" lIns="0" tIns="0" rIns="0" bIns="0" rtlCol="0" anchor="ctr"/>
          <a:lstStyle/>
          <a:p>
            <a:pPr marL="0" indent="0" algn="l">
              <a:buNone/>
            </a:pPr>
            <a:r>
              <a:rPr lang="en-US" sz="1300" dirty="0">
                <a:solidFill>
                  <a:srgbClr val="4B5563"/>
                </a:solidFill>
                <a:latin typeface="Noto Sans KR" pitchFamily="34" charset="0"/>
                <a:ea typeface="Noto Sans KR" pitchFamily="34" charset="-122"/>
                <a:cs typeface="Noto Sans KR" pitchFamily="34" charset="-120"/>
              </a:rPr>
              <a:t>에이전트가 학습할 목표 함수로, 거래 비용을 차감한 순수익률을 최대화합니다.</a:t>
            </a:r>
            <a:endParaRPr lang="en-US" sz="1300" dirty="0"/>
          </a:p>
        </p:txBody>
      </p:sp>
      <p:sp>
        <p:nvSpPr>
          <p:cNvPr id="29" name="Shape 25"/>
          <p:cNvSpPr/>
          <p:nvPr/>
        </p:nvSpPr>
        <p:spPr>
          <a:xfrm>
            <a:off x="6391656" y="2345257"/>
            <a:ext cx="4562856" cy="544066"/>
          </a:xfrm>
          <a:prstGeom prst="roundRect">
            <a:avLst>
              <a:gd name="adj" fmla="val 12616"/>
            </a:avLst>
          </a:prstGeom>
          <a:solidFill>
            <a:srgbClr val="F0FDF4"/>
          </a:solidFill>
          <a:ln w="12700">
            <a:solidFill>
              <a:srgbClr val="BBF7D0"/>
            </a:solidFill>
            <a:prstDash val="solid"/>
          </a:ln>
          <a:effectLst>
            <a:outerShdw blurRad="50800" dist="25400" dir="2700000" algn="bl" rotWithShape="0">
              <a:srgbClr val="000000">
                <a:alpha val="2000"/>
              </a:srgbClr>
            </a:outerShdw>
          </a:effectLst>
        </p:spPr>
      </p:sp>
      <p:sp>
        <p:nvSpPr>
          <p:cNvPr id="30" name="Text 26"/>
          <p:cNvSpPr txBox="1"/>
          <p:nvPr/>
        </p:nvSpPr>
        <p:spPr>
          <a:xfrm>
            <a:off x="6985102" y="2493389"/>
            <a:ext cx="3538728" cy="238658"/>
          </a:xfrm>
          <a:prstGeom prst="rect">
            <a:avLst/>
          </a:prstGeom>
          <a:noFill/>
          <a:ln/>
        </p:spPr>
        <p:txBody>
          <a:bodyPr wrap="square" lIns="0" tIns="0" rIns="0" bIns="0" rtlCol="0" anchor="ctr"/>
          <a:lstStyle/>
          <a:p>
            <a:pPr marL="0" indent="0" algn="ctr">
              <a:buNone/>
            </a:pPr>
            <a:r>
              <a:rPr lang="en-US" sz="1600" i="1" dirty="0">
                <a:solidFill>
                  <a:srgbClr val="1F2937"/>
                </a:solidFill>
                <a:latin typeface="Times New Roman" pitchFamily="34" charset="0"/>
                <a:ea typeface="Times New Roman" pitchFamily="34" charset="-122"/>
                <a:cs typeface="Times New Roman" pitchFamily="34" charset="-120"/>
              </a:rPr>
              <a:t>$R_t = r_{portfolio} - C_{transaction}$</a:t>
            </a:r>
            <a:endParaRPr lang="en-US" sz="1600" dirty="0"/>
          </a:p>
        </p:txBody>
      </p:sp>
      <p:sp>
        <p:nvSpPr>
          <p:cNvPr id="31" name="Shape 27"/>
          <p:cNvSpPr/>
          <p:nvPr/>
        </p:nvSpPr>
        <p:spPr>
          <a:xfrm>
            <a:off x="6391656" y="3133469"/>
            <a:ext cx="4562856" cy="1152144"/>
          </a:xfrm>
          <a:prstGeom prst="roundRect">
            <a:avLst>
              <a:gd name="adj" fmla="val 7871"/>
            </a:avLst>
          </a:prstGeom>
          <a:solidFill>
            <a:srgbClr val="FFFFFF"/>
          </a:solidFill>
          <a:ln w="12700">
            <a:solidFill>
              <a:srgbClr val="E5E7EB"/>
            </a:solidFill>
            <a:prstDash val="solid"/>
          </a:ln>
        </p:spPr>
      </p:sp>
      <p:sp>
        <p:nvSpPr>
          <p:cNvPr id="32" name="Text 28"/>
          <p:cNvSpPr txBox="1"/>
          <p:nvPr/>
        </p:nvSpPr>
        <p:spPr>
          <a:xfrm>
            <a:off x="6718097" y="3449851"/>
            <a:ext cx="1100938" cy="191110"/>
          </a:xfrm>
          <a:prstGeom prst="rect">
            <a:avLst/>
          </a:prstGeom>
          <a:noFill/>
          <a:ln/>
        </p:spPr>
        <p:txBody>
          <a:bodyPr wrap="square" lIns="0" tIns="0" rIns="0" bIns="0" rtlCol="0" anchor="ctr"/>
          <a:lstStyle/>
          <a:p>
            <a:pPr marL="0" indent="0" algn="ctr">
              <a:buNone/>
            </a:pPr>
            <a:r>
              <a:rPr lang="en-US" sz="1000" dirty="0">
                <a:solidFill>
                  <a:srgbClr val="6B7280"/>
                </a:solidFill>
                <a:latin typeface="Noto Sans KR" pitchFamily="34" charset="0"/>
                <a:ea typeface="Noto Sans KR" pitchFamily="34" charset="-122"/>
                <a:cs typeface="Noto Sans KR" pitchFamily="34" charset="-120"/>
              </a:rPr>
              <a:t>Portfolio Return</a:t>
            </a:r>
            <a:endParaRPr lang="en-US" sz="1000" dirty="0"/>
          </a:p>
        </p:txBody>
      </p:sp>
      <p:sp>
        <p:nvSpPr>
          <p:cNvPr id="33" name="Text 29"/>
          <p:cNvSpPr txBox="1"/>
          <p:nvPr/>
        </p:nvSpPr>
        <p:spPr>
          <a:xfrm>
            <a:off x="6591910" y="3710455"/>
            <a:ext cx="1386230" cy="247802"/>
          </a:xfrm>
          <a:prstGeom prst="rect">
            <a:avLst/>
          </a:prstGeom>
          <a:noFill/>
          <a:ln/>
        </p:spPr>
        <p:txBody>
          <a:bodyPr wrap="square" lIns="0" tIns="0" rIns="0" bIns="0" rtlCol="0" anchor="ctr"/>
          <a:lstStyle/>
          <a:p>
            <a:pPr marL="0" indent="0" algn="ctr">
              <a:buNone/>
            </a:pPr>
            <a:r>
              <a:rPr lang="en-US" sz="1300" b="1" dirty="0">
                <a:solidFill>
                  <a:srgbClr val="1F2937"/>
                </a:solidFill>
                <a:latin typeface="Noto Sans KR" pitchFamily="34" charset="0"/>
                <a:ea typeface="Noto Sans KR" pitchFamily="34" charset="-122"/>
                <a:cs typeface="Noto Sans KR" pitchFamily="34" charset="-120"/>
              </a:rPr>
              <a:t>$r_{portfolio}$</a:t>
            </a:r>
            <a:endParaRPr lang="en-US" sz="1300" dirty="0"/>
          </a:p>
        </p:txBody>
      </p:sp>
      <p:pic>
        <p:nvPicPr>
          <p:cNvPr id="34" name="Image 2" descr="preencoded.png"/>
          <p:cNvPicPr>
            <a:picLocks noChangeAspect="1"/>
          </p:cNvPicPr>
          <p:nvPr/>
        </p:nvPicPr>
        <p:blipFill>
          <a:blip r:embed="rId5"/>
          <a:srcRect l="-1648" r="-1648"/>
          <a:stretch/>
        </p:blipFill>
        <p:spPr>
          <a:xfrm>
            <a:off x="7985455" y="3617186"/>
            <a:ext cx="171907" cy="190195"/>
          </a:xfrm>
          <a:prstGeom prst="rect">
            <a:avLst/>
          </a:prstGeom>
        </p:spPr>
      </p:pic>
      <p:sp>
        <p:nvSpPr>
          <p:cNvPr id="35" name="Text 30"/>
          <p:cNvSpPr txBox="1"/>
          <p:nvPr/>
        </p:nvSpPr>
        <p:spPr>
          <a:xfrm>
            <a:off x="8533181" y="3449851"/>
            <a:ext cx="1148486" cy="191110"/>
          </a:xfrm>
          <a:prstGeom prst="rect">
            <a:avLst/>
          </a:prstGeom>
          <a:noFill/>
          <a:ln/>
        </p:spPr>
        <p:txBody>
          <a:bodyPr wrap="square" lIns="0" tIns="0" rIns="0" bIns="0" rtlCol="0" anchor="ctr"/>
          <a:lstStyle/>
          <a:p>
            <a:pPr marL="0" indent="0" algn="ctr">
              <a:buNone/>
            </a:pPr>
            <a:r>
              <a:rPr lang="en-US" sz="1000" dirty="0">
                <a:solidFill>
                  <a:srgbClr val="6B7280"/>
                </a:solidFill>
                <a:latin typeface="Noto Sans KR" pitchFamily="34" charset="0"/>
                <a:ea typeface="Noto Sans KR" pitchFamily="34" charset="-122"/>
                <a:cs typeface="Noto Sans KR" pitchFamily="34" charset="-120"/>
              </a:rPr>
              <a:t>Transaction Cost</a:t>
            </a:r>
            <a:endParaRPr lang="en-US" sz="1000" dirty="0"/>
          </a:p>
        </p:txBody>
      </p:sp>
      <p:sp>
        <p:nvSpPr>
          <p:cNvPr id="36" name="Text 31"/>
          <p:cNvSpPr txBox="1"/>
          <p:nvPr/>
        </p:nvSpPr>
        <p:spPr>
          <a:xfrm>
            <a:off x="8299095" y="3710455"/>
            <a:ext cx="1643177" cy="247802"/>
          </a:xfrm>
          <a:prstGeom prst="rect">
            <a:avLst/>
          </a:prstGeom>
          <a:noFill/>
          <a:ln/>
        </p:spPr>
        <p:txBody>
          <a:bodyPr wrap="square" lIns="0" tIns="0" rIns="0" bIns="0" rtlCol="0" anchor="ctr"/>
          <a:lstStyle/>
          <a:p>
            <a:pPr marL="0" indent="0" algn="ctr">
              <a:buNone/>
            </a:pPr>
            <a:r>
              <a:rPr lang="en-US" sz="1300" b="1" dirty="0">
                <a:solidFill>
                  <a:srgbClr val="1F2937"/>
                </a:solidFill>
                <a:latin typeface="Noto Sans KR" pitchFamily="34" charset="0"/>
                <a:ea typeface="Noto Sans KR" pitchFamily="34" charset="-122"/>
                <a:cs typeface="Noto Sans KR" pitchFamily="34" charset="-120"/>
              </a:rPr>
              <a:t>$C_{transaction}$</a:t>
            </a:r>
            <a:endParaRPr lang="en-US" sz="1300" dirty="0"/>
          </a:p>
        </p:txBody>
      </p:sp>
      <p:pic>
        <p:nvPicPr>
          <p:cNvPr id="37" name="Image 3" descr="preencoded.png"/>
          <p:cNvPicPr>
            <a:picLocks noChangeAspect="1"/>
          </p:cNvPicPr>
          <p:nvPr/>
        </p:nvPicPr>
        <p:blipFill>
          <a:blip r:embed="rId6"/>
          <a:srcRect l="-1648" r="-1648"/>
          <a:stretch/>
        </p:blipFill>
        <p:spPr>
          <a:xfrm>
            <a:off x="9951415" y="3617186"/>
            <a:ext cx="171907" cy="190195"/>
          </a:xfrm>
          <a:prstGeom prst="rect">
            <a:avLst/>
          </a:prstGeom>
        </p:spPr>
      </p:pic>
      <p:sp>
        <p:nvSpPr>
          <p:cNvPr id="38" name="Text 32"/>
          <p:cNvSpPr txBox="1"/>
          <p:nvPr/>
        </p:nvSpPr>
        <p:spPr>
          <a:xfrm>
            <a:off x="10275113" y="3342866"/>
            <a:ext cx="576986" cy="409651"/>
          </a:xfrm>
          <a:prstGeom prst="rect">
            <a:avLst/>
          </a:prstGeom>
          <a:noFill/>
          <a:ln/>
        </p:spPr>
        <p:txBody>
          <a:bodyPr wrap="square" lIns="0" tIns="0" rIns="0" bIns="0" rtlCol="0" anchor="ctr"/>
          <a:lstStyle/>
          <a:p>
            <a:pPr marL="0" indent="0" algn="ctr">
              <a:buNone/>
            </a:pPr>
            <a:r>
              <a:rPr lang="en-US" sz="1000" dirty="0">
                <a:solidFill>
                  <a:srgbClr val="6B7280"/>
                </a:solidFill>
                <a:latin typeface="Noto Sans KR" pitchFamily="34" charset="0"/>
                <a:ea typeface="Noto Sans KR" pitchFamily="34" charset="-122"/>
                <a:cs typeface="Noto Sans KR" pitchFamily="34" charset="-120"/>
              </a:rPr>
              <a:t>Final Reward</a:t>
            </a:r>
            <a:endParaRPr lang="en-US" sz="1000" dirty="0"/>
          </a:p>
        </p:txBody>
      </p:sp>
      <p:sp>
        <p:nvSpPr>
          <p:cNvPr id="39" name="Text 33"/>
          <p:cNvSpPr txBox="1"/>
          <p:nvPr/>
        </p:nvSpPr>
        <p:spPr>
          <a:xfrm>
            <a:off x="10265969" y="3817440"/>
            <a:ext cx="624535" cy="247802"/>
          </a:xfrm>
          <a:prstGeom prst="rect">
            <a:avLst/>
          </a:prstGeom>
          <a:noFill/>
          <a:ln/>
        </p:spPr>
        <p:txBody>
          <a:bodyPr wrap="square" lIns="0" tIns="0" rIns="0" bIns="0" rtlCol="0" anchor="ctr"/>
          <a:lstStyle/>
          <a:p>
            <a:pPr marL="0" indent="0" algn="ctr">
              <a:buNone/>
            </a:pPr>
            <a:r>
              <a:rPr lang="en-US" sz="1300" b="1" dirty="0">
                <a:solidFill>
                  <a:srgbClr val="1F2937"/>
                </a:solidFill>
                <a:latin typeface="Noto Sans KR" pitchFamily="34" charset="0"/>
                <a:ea typeface="Noto Sans KR" pitchFamily="34" charset="-122"/>
                <a:cs typeface="Noto Sans KR" pitchFamily="34" charset="-120"/>
              </a:rPr>
              <a:t>$R_t$</a:t>
            </a:r>
            <a:endParaRPr lang="en-US" sz="1300" dirty="0"/>
          </a:p>
        </p:txBody>
      </p:sp>
      <p:sp>
        <p:nvSpPr>
          <p:cNvPr id="40" name="Shape 34"/>
          <p:cNvSpPr/>
          <p:nvPr/>
        </p:nvSpPr>
        <p:spPr>
          <a:xfrm>
            <a:off x="571500" y="5099430"/>
            <a:ext cx="10668305" cy="1403218"/>
          </a:xfrm>
          <a:prstGeom prst="roundRect">
            <a:avLst>
              <a:gd name="adj" fmla="val 3801"/>
            </a:avLst>
          </a:prstGeom>
          <a:solidFill>
            <a:srgbClr val="F9FAFB"/>
          </a:solidFill>
          <a:ln/>
          <a:effectLst>
            <a:outerShdw blurRad="63500" dist="38100" dir="5400000" algn="bl" rotWithShape="0">
              <a:srgbClr val="000000">
                <a:alpha val="5000"/>
              </a:srgbClr>
            </a:outerShdw>
          </a:effectLst>
        </p:spPr>
      </p:sp>
      <p:sp>
        <p:nvSpPr>
          <p:cNvPr id="42" name="Shape 36"/>
          <p:cNvSpPr/>
          <p:nvPr/>
        </p:nvSpPr>
        <p:spPr>
          <a:xfrm>
            <a:off x="914400" y="5312099"/>
            <a:ext cx="381305" cy="381305"/>
          </a:xfrm>
          <a:prstGeom prst="ellipse">
            <a:avLst/>
          </a:prstGeom>
          <a:solidFill>
            <a:srgbClr val="F5F3FF"/>
          </a:solidFill>
          <a:ln/>
        </p:spPr>
      </p:sp>
      <p:sp>
        <p:nvSpPr>
          <p:cNvPr id="44" name="Text 37"/>
          <p:cNvSpPr txBox="1"/>
          <p:nvPr/>
        </p:nvSpPr>
        <p:spPr>
          <a:xfrm>
            <a:off x="914399" y="5331301"/>
            <a:ext cx="5468113" cy="333756"/>
          </a:xfrm>
          <a:prstGeom prst="rect">
            <a:avLst/>
          </a:prstGeom>
          <a:noFill/>
          <a:ln/>
        </p:spPr>
        <p:txBody>
          <a:bodyPr wrap="square" lIns="0" tIns="0" rIns="0" bIns="0" rtlCol="0" anchor="ctr"/>
          <a:lstStyle/>
          <a:p>
            <a:pPr marL="0" indent="0" algn="l">
              <a:buNone/>
            </a:pPr>
            <a:r>
              <a:rPr lang="ko-KR" altLang="en-US" sz="1600" b="1" dirty="0">
                <a:solidFill>
                  <a:srgbClr val="1F2937"/>
                </a:solidFill>
                <a:latin typeface="Noto Sans KR" pitchFamily="34" charset="0"/>
                <a:ea typeface="Noto Sans KR" pitchFamily="34" charset="-122"/>
                <a:cs typeface="Noto Sans KR" pitchFamily="34" charset="-120"/>
              </a:rPr>
              <a:t>* </a:t>
            </a:r>
            <a:r>
              <a:rPr lang="en-US" sz="1600" b="1" dirty="0">
                <a:solidFill>
                  <a:srgbClr val="1F2937"/>
                </a:solidFill>
                <a:latin typeface="Noto Sans KR" pitchFamily="34" charset="0"/>
                <a:ea typeface="Noto Sans KR" pitchFamily="34" charset="-122"/>
                <a:cs typeface="Noto Sans KR" pitchFamily="34" charset="-120"/>
              </a:rPr>
              <a:t>Realistic Transaction Cost (현실적 거래비용)</a:t>
            </a:r>
            <a:endParaRPr lang="en-US" sz="1600" dirty="0"/>
          </a:p>
        </p:txBody>
      </p:sp>
      <p:sp>
        <p:nvSpPr>
          <p:cNvPr id="45" name="Text 38"/>
          <p:cNvSpPr txBox="1"/>
          <p:nvPr/>
        </p:nvSpPr>
        <p:spPr>
          <a:xfrm>
            <a:off x="914399" y="5769802"/>
            <a:ext cx="7748625" cy="523951"/>
          </a:xfrm>
          <a:prstGeom prst="rect">
            <a:avLst/>
          </a:prstGeom>
          <a:noFill/>
          <a:ln/>
        </p:spPr>
        <p:txBody>
          <a:bodyPr wrap="square" lIns="0" tIns="0" rIns="0" bIns="0" rtlCol="0" anchor="ctr"/>
          <a:lstStyle/>
          <a:p>
            <a:pPr marL="0" indent="0" algn="l">
              <a:buNone/>
            </a:pPr>
            <a:r>
              <a:rPr lang="en-US" sz="1300" dirty="0">
                <a:solidFill>
                  <a:srgbClr val="4B5563"/>
                </a:solidFill>
                <a:latin typeface="Noto Sans KR" pitchFamily="34" charset="0"/>
                <a:ea typeface="Noto Sans KR" pitchFamily="34" charset="-122"/>
                <a:cs typeface="Noto Sans KR" pitchFamily="34" charset="-120"/>
              </a:rPr>
              <a:t>비현실적인 잦은 매매를 방지하고 실제 시장 환경을 모사하기 위해 거래 </a:t>
            </a:r>
            <a:r>
              <a:rPr lang="en-US" sz="1300" dirty="0" err="1">
                <a:solidFill>
                  <a:srgbClr val="4B5563"/>
                </a:solidFill>
                <a:latin typeface="Noto Sans KR" pitchFamily="34" charset="0"/>
                <a:ea typeface="Noto Sans KR" pitchFamily="34" charset="-122"/>
                <a:cs typeface="Noto Sans KR" pitchFamily="34" charset="-120"/>
              </a:rPr>
              <a:t>비용을</a:t>
            </a:r>
            <a:r>
              <a:rPr lang="en-US" sz="1300" dirty="0">
                <a:solidFill>
                  <a:srgbClr val="4B5563"/>
                </a:solidFill>
                <a:latin typeface="Noto Sans KR" pitchFamily="34" charset="0"/>
                <a:ea typeface="Noto Sans KR" pitchFamily="34" charset="-122"/>
                <a:cs typeface="Noto Sans KR" pitchFamily="34" charset="-120"/>
              </a:rPr>
              <a:t> </a:t>
            </a:r>
            <a:r>
              <a:rPr lang="en-US" sz="1300" dirty="0" err="1">
                <a:solidFill>
                  <a:srgbClr val="4B5563"/>
                </a:solidFill>
                <a:latin typeface="Noto Sans KR" pitchFamily="34" charset="0"/>
                <a:ea typeface="Noto Sans KR" pitchFamily="34" charset="-122"/>
                <a:cs typeface="Noto Sans KR" pitchFamily="34" charset="-120"/>
              </a:rPr>
              <a:t>반영함</a:t>
            </a:r>
            <a:r>
              <a:rPr lang="en-US" altLang="ko-KR" sz="1300" dirty="0">
                <a:solidFill>
                  <a:srgbClr val="4B5563"/>
                </a:solidFill>
                <a:latin typeface="Noto Sans KR" pitchFamily="34" charset="0"/>
                <a:ea typeface="Noto Sans KR" pitchFamily="34" charset="-122"/>
                <a:cs typeface="Noto Sans KR" pitchFamily="34" charset="-120"/>
              </a:rPr>
              <a:t>.</a:t>
            </a:r>
          </a:p>
          <a:p>
            <a:pPr marL="0" indent="0" algn="l">
              <a:buNone/>
            </a:pPr>
            <a:r>
              <a:rPr lang="en-US" sz="1300" dirty="0" err="1">
                <a:solidFill>
                  <a:srgbClr val="4B5563"/>
                </a:solidFill>
                <a:latin typeface="Noto Sans KR" pitchFamily="34" charset="0"/>
                <a:ea typeface="Noto Sans KR" pitchFamily="34" charset="-122"/>
                <a:cs typeface="Noto Sans KR" pitchFamily="34" charset="-120"/>
              </a:rPr>
              <a:t>포트폴리오</a:t>
            </a:r>
            <a:r>
              <a:rPr lang="en-US" sz="1300" dirty="0">
                <a:solidFill>
                  <a:srgbClr val="4B5563"/>
                </a:solidFill>
                <a:latin typeface="Noto Sans KR" pitchFamily="34" charset="0"/>
                <a:ea typeface="Noto Sans KR" pitchFamily="34" charset="-122"/>
                <a:cs typeface="Noto Sans KR" pitchFamily="34" charset="-120"/>
              </a:rPr>
              <a:t> 비중 변화량에 비례하여 </a:t>
            </a:r>
            <a:r>
              <a:rPr lang="en-US" sz="1300" dirty="0" err="1">
                <a:solidFill>
                  <a:srgbClr val="4B5563"/>
                </a:solidFill>
                <a:latin typeface="Noto Sans KR" pitchFamily="34" charset="0"/>
                <a:ea typeface="Noto Sans KR" pitchFamily="34" charset="-122"/>
                <a:cs typeface="Noto Sans KR" pitchFamily="34" charset="-120"/>
              </a:rPr>
              <a:t>비용이</a:t>
            </a:r>
            <a:r>
              <a:rPr lang="en-US" sz="1300" dirty="0">
                <a:solidFill>
                  <a:srgbClr val="4B5563"/>
                </a:solidFill>
                <a:latin typeface="Noto Sans KR" pitchFamily="34" charset="0"/>
                <a:ea typeface="Noto Sans KR" pitchFamily="34" charset="-122"/>
                <a:cs typeface="Noto Sans KR" pitchFamily="34" charset="-120"/>
              </a:rPr>
              <a:t> </a:t>
            </a:r>
            <a:r>
              <a:rPr lang="en-US" sz="1300" dirty="0" err="1">
                <a:solidFill>
                  <a:srgbClr val="4B5563"/>
                </a:solidFill>
                <a:latin typeface="Noto Sans KR" pitchFamily="34" charset="0"/>
                <a:ea typeface="Noto Sans KR" pitchFamily="34" charset="-122"/>
                <a:cs typeface="Noto Sans KR" pitchFamily="34" charset="-120"/>
              </a:rPr>
              <a:t>발생하며</a:t>
            </a:r>
            <a:r>
              <a:rPr lang="en-US" altLang="ko-KR" sz="1300" dirty="0">
                <a:solidFill>
                  <a:srgbClr val="4B5563"/>
                </a:solidFill>
                <a:latin typeface="Noto Sans KR" pitchFamily="34" charset="0"/>
                <a:ea typeface="Noto Sans KR" pitchFamily="34" charset="-122"/>
                <a:cs typeface="Noto Sans KR" pitchFamily="34" charset="-120"/>
              </a:rPr>
              <a:t>, </a:t>
            </a:r>
            <a:r>
              <a:rPr lang="ko-KR" altLang="en-US" sz="1300" dirty="0">
                <a:solidFill>
                  <a:srgbClr val="4B5563"/>
                </a:solidFill>
                <a:latin typeface="Noto Sans KR" pitchFamily="34" charset="0"/>
                <a:ea typeface="Noto Sans KR" pitchFamily="34" charset="-122"/>
                <a:cs typeface="Noto Sans KR" pitchFamily="34" charset="-120"/>
              </a:rPr>
              <a:t>증권사</a:t>
            </a:r>
            <a:r>
              <a:rPr lang="en-US" altLang="ko-KR" sz="1300" dirty="0">
                <a:solidFill>
                  <a:srgbClr val="4B5563"/>
                </a:solidFill>
                <a:latin typeface="Noto Sans KR" pitchFamily="34" charset="0"/>
                <a:ea typeface="Noto Sans KR" pitchFamily="34" charset="-122"/>
                <a:cs typeface="Noto Sans KR" pitchFamily="34" charset="-120"/>
              </a:rPr>
              <a:t>/</a:t>
            </a:r>
            <a:r>
              <a:rPr lang="ko-KR" altLang="en-US" sz="1300" dirty="0">
                <a:solidFill>
                  <a:srgbClr val="4B5563"/>
                </a:solidFill>
                <a:latin typeface="Noto Sans KR" pitchFamily="34" charset="0"/>
                <a:ea typeface="Noto Sans KR" pitchFamily="34" charset="-122"/>
                <a:cs typeface="Noto Sans KR" pitchFamily="34" charset="-120"/>
              </a:rPr>
              <a:t>개인별 상이함을 무시하고 </a:t>
            </a:r>
            <a:r>
              <a:rPr lang="en-US" altLang="ko-KR" sz="1300" dirty="0">
                <a:solidFill>
                  <a:srgbClr val="4B5563"/>
                </a:solidFill>
                <a:latin typeface="Noto Sans KR" pitchFamily="34" charset="0"/>
                <a:ea typeface="Noto Sans KR" pitchFamily="34" charset="-122"/>
                <a:cs typeface="Noto Sans KR" pitchFamily="34" charset="-120"/>
              </a:rPr>
              <a:t>static </a:t>
            </a:r>
            <a:r>
              <a:rPr lang="ko-KR" altLang="en-US" sz="1300" dirty="0">
                <a:solidFill>
                  <a:srgbClr val="4B5563"/>
                </a:solidFill>
                <a:latin typeface="Noto Sans KR" pitchFamily="34" charset="0"/>
                <a:ea typeface="Noto Sans KR" pitchFamily="34" charset="-122"/>
                <a:cs typeface="Noto Sans KR" pitchFamily="34" charset="-120"/>
              </a:rPr>
              <a:t>값으로 고정함</a:t>
            </a:r>
            <a:endParaRPr lang="en-US" sz="1300" dirty="0"/>
          </a:p>
        </p:txBody>
      </p:sp>
      <p:sp>
        <p:nvSpPr>
          <p:cNvPr id="46" name="Shape 39"/>
          <p:cNvSpPr/>
          <p:nvPr/>
        </p:nvSpPr>
        <p:spPr>
          <a:xfrm>
            <a:off x="9145991" y="5455248"/>
            <a:ext cx="1706108" cy="819302"/>
          </a:xfrm>
          <a:prstGeom prst="roundRect">
            <a:avLst>
              <a:gd name="adj" fmla="val 10382"/>
            </a:avLst>
          </a:prstGeom>
          <a:solidFill>
            <a:srgbClr val="F5F3FF"/>
          </a:solidFill>
          <a:ln w="12700">
            <a:solidFill>
              <a:srgbClr val="EDE9FE"/>
            </a:solidFill>
            <a:prstDash val="solid"/>
          </a:ln>
        </p:spPr>
      </p:sp>
      <p:sp>
        <p:nvSpPr>
          <p:cNvPr id="47" name="Text 40"/>
          <p:cNvSpPr txBox="1"/>
          <p:nvPr/>
        </p:nvSpPr>
        <p:spPr>
          <a:xfrm>
            <a:off x="9297161" y="5579606"/>
            <a:ext cx="1405433" cy="191110"/>
          </a:xfrm>
          <a:prstGeom prst="rect">
            <a:avLst/>
          </a:prstGeom>
          <a:noFill/>
          <a:ln/>
        </p:spPr>
        <p:txBody>
          <a:bodyPr wrap="square" lIns="0" tIns="0" rIns="0" bIns="0" rtlCol="0" anchor="ctr"/>
          <a:lstStyle/>
          <a:p>
            <a:pPr marL="0" indent="0" algn="ctr">
              <a:buNone/>
            </a:pPr>
            <a:r>
              <a:rPr lang="en-US" sz="1000" dirty="0">
                <a:solidFill>
                  <a:schemeClr val="tx1">
                    <a:lumMod val="65000"/>
                    <a:lumOff val="35000"/>
                  </a:schemeClr>
                </a:solidFill>
                <a:latin typeface="Noto Sans KR" pitchFamily="34" charset="0"/>
                <a:ea typeface="Noto Sans KR" pitchFamily="34" charset="-122"/>
                <a:cs typeface="Noto Sans KR" pitchFamily="34" charset="-120"/>
              </a:rPr>
              <a:t>Transaction Fee Rate</a:t>
            </a:r>
            <a:endParaRPr lang="en-US" sz="1000" dirty="0">
              <a:solidFill>
                <a:schemeClr val="tx1">
                  <a:lumMod val="65000"/>
                  <a:lumOff val="35000"/>
                </a:schemeClr>
              </a:solidFill>
            </a:endParaRPr>
          </a:p>
        </p:txBody>
      </p:sp>
      <p:sp>
        <p:nvSpPr>
          <p:cNvPr id="48" name="Text 41"/>
          <p:cNvSpPr txBox="1"/>
          <p:nvPr/>
        </p:nvSpPr>
        <p:spPr>
          <a:xfrm>
            <a:off x="9511131" y="5769802"/>
            <a:ext cx="1090879" cy="419710"/>
          </a:xfrm>
          <a:prstGeom prst="rect">
            <a:avLst/>
          </a:prstGeom>
          <a:noFill/>
          <a:ln/>
        </p:spPr>
        <p:txBody>
          <a:bodyPr wrap="square" lIns="0" tIns="0" rIns="0" bIns="0" rtlCol="0" anchor="ctr"/>
          <a:lstStyle/>
          <a:p>
            <a:pPr marL="0" indent="0" algn="ctr">
              <a:buNone/>
            </a:pPr>
            <a:r>
              <a:rPr lang="en-US" sz="2000" dirty="0">
                <a:solidFill>
                  <a:schemeClr val="tx1">
                    <a:lumMod val="65000"/>
                    <a:lumOff val="35000"/>
                  </a:schemeClr>
                </a:solidFill>
                <a:latin typeface="Noto Sans KR" pitchFamily="34" charset="0"/>
                <a:ea typeface="Noto Sans KR" pitchFamily="34" charset="-122"/>
                <a:cs typeface="Noto Sans KR" pitchFamily="34" charset="-120"/>
              </a:rPr>
              <a:t>0.15%</a:t>
            </a:r>
            <a:endParaRPr lang="en-US" sz="2000" dirty="0">
              <a:solidFill>
                <a:schemeClr val="tx1">
                  <a:lumMod val="65000"/>
                  <a:lumOff val="35000"/>
                </a:schemeClr>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8" name="Text 6"/>
          <p:cNvSpPr txBox="1"/>
          <p:nvPr/>
        </p:nvSpPr>
        <p:spPr>
          <a:xfrm>
            <a:off x="571500" y="220371"/>
            <a:ext cx="2743200" cy="457200"/>
          </a:xfrm>
          <a:prstGeom prst="rect">
            <a:avLst/>
          </a:prstGeom>
          <a:noFill/>
          <a:ln/>
        </p:spPr>
        <p:txBody>
          <a:bodyPr wrap="square" lIns="0" tIns="0" rIns="0" bIns="0" rtlCol="0" anchor="ctr"/>
          <a:lstStyle/>
          <a:p>
            <a:pPr marL="0" indent="0" algn="l">
              <a:buNone/>
            </a:pPr>
            <a:r>
              <a:rPr lang="en-US" sz="2400" b="1" dirty="0">
                <a:solidFill>
                  <a:srgbClr val="111827"/>
                </a:solidFill>
                <a:latin typeface="Noto Sans KR" pitchFamily="34" charset="0"/>
                <a:ea typeface="Noto Sans KR" pitchFamily="34" charset="-122"/>
                <a:cs typeface="Noto Sans KR" pitchFamily="34" charset="-120"/>
              </a:rPr>
              <a:t>PPO 알고리즘 개요</a:t>
            </a:r>
            <a:endParaRPr lang="en-US" sz="2400" dirty="0"/>
          </a:p>
        </p:txBody>
      </p:sp>
      <p:sp>
        <p:nvSpPr>
          <p:cNvPr id="10" name="Shape 8"/>
          <p:cNvSpPr/>
          <p:nvPr/>
        </p:nvSpPr>
        <p:spPr>
          <a:xfrm>
            <a:off x="571500" y="1237182"/>
            <a:ext cx="2619756" cy="3369542"/>
          </a:xfrm>
          <a:prstGeom prst="roundRect">
            <a:avLst>
              <a:gd name="adj" fmla="val 1523"/>
            </a:avLst>
          </a:prstGeom>
          <a:solidFill>
            <a:srgbClr val="F9FAFB"/>
          </a:solidFill>
          <a:ln w="12700">
            <a:solidFill>
              <a:srgbClr val="E5E7EB"/>
            </a:solidFill>
            <a:prstDash val="solid"/>
          </a:ln>
        </p:spPr>
      </p:sp>
      <p:sp>
        <p:nvSpPr>
          <p:cNvPr id="11" name="Text 9"/>
          <p:cNvSpPr txBox="1"/>
          <p:nvPr/>
        </p:nvSpPr>
        <p:spPr>
          <a:xfrm>
            <a:off x="1225296" y="2247594"/>
            <a:ext cx="1457554" cy="277063"/>
          </a:xfrm>
          <a:prstGeom prst="rect">
            <a:avLst/>
          </a:prstGeom>
          <a:noFill/>
          <a:ln/>
        </p:spPr>
        <p:txBody>
          <a:bodyPr wrap="square" lIns="0" tIns="0" rIns="0" bIns="0" rtlCol="0" anchor="ctr"/>
          <a:lstStyle/>
          <a:p>
            <a:pPr marL="0" indent="0" algn="ctr">
              <a:buNone/>
            </a:pPr>
            <a:r>
              <a:rPr lang="en-US" sz="1500" b="1" dirty="0">
                <a:solidFill>
                  <a:srgbClr val="1F2937"/>
                </a:solidFill>
                <a:latin typeface="Noto Sans KR" pitchFamily="34" charset="0"/>
                <a:ea typeface="Noto Sans KR" pitchFamily="34" charset="-122"/>
                <a:cs typeface="Noto Sans KR" pitchFamily="34" charset="-120"/>
              </a:rPr>
              <a:t>On-Policy 학습</a:t>
            </a:r>
            <a:endParaRPr lang="en-US" sz="1500" dirty="0"/>
          </a:p>
        </p:txBody>
      </p:sp>
      <p:sp>
        <p:nvSpPr>
          <p:cNvPr id="12" name="Text 10"/>
          <p:cNvSpPr txBox="1"/>
          <p:nvPr/>
        </p:nvSpPr>
        <p:spPr>
          <a:xfrm>
            <a:off x="787298" y="3146438"/>
            <a:ext cx="2291486" cy="838505"/>
          </a:xfrm>
          <a:prstGeom prst="rect">
            <a:avLst/>
          </a:prstGeom>
          <a:noFill/>
          <a:ln/>
        </p:spPr>
        <p:txBody>
          <a:bodyPr wrap="square" lIns="0" tIns="0" rIns="0" bIns="0" rtlCol="0" anchor="t"/>
          <a:lstStyle/>
          <a:p>
            <a:pPr marL="171450" indent="-171450">
              <a:buFont typeface="Arial" panose="020B0604020202020204" pitchFamily="34" charset="0"/>
              <a:buChar char="•"/>
            </a:pPr>
            <a:r>
              <a:rPr lang="en-US" sz="1000" dirty="0">
                <a:solidFill>
                  <a:srgbClr val="4B5563"/>
                </a:solidFill>
                <a:latin typeface="Noto Sans KR" pitchFamily="34" charset="0"/>
                <a:ea typeface="Noto Sans KR" pitchFamily="34" charset="-122"/>
                <a:cs typeface="Noto Sans KR" pitchFamily="34" charset="-120"/>
              </a:rPr>
              <a:t>현재 정책(Policy)으로 수집한 데이터만을 사용하여 </a:t>
            </a:r>
            <a:r>
              <a:rPr lang="en-US" sz="1000" dirty="0" err="1">
                <a:solidFill>
                  <a:srgbClr val="4B5563"/>
                </a:solidFill>
                <a:latin typeface="Noto Sans KR" pitchFamily="34" charset="0"/>
                <a:ea typeface="Noto Sans KR" pitchFamily="34" charset="-122"/>
                <a:cs typeface="Noto Sans KR" pitchFamily="34" charset="-120"/>
              </a:rPr>
              <a:t>학습을</a:t>
            </a:r>
            <a:r>
              <a:rPr lang="en-US" sz="1000" dirty="0">
                <a:solidFill>
                  <a:srgbClr val="4B5563"/>
                </a:solidFill>
                <a:latin typeface="Noto Sans KR" pitchFamily="34" charset="0"/>
                <a:ea typeface="Noto Sans KR" pitchFamily="34" charset="-122"/>
                <a:cs typeface="Noto Sans KR" pitchFamily="34" charset="-120"/>
              </a:rPr>
              <a:t> </a:t>
            </a:r>
            <a:r>
              <a:rPr lang="en-US" sz="1000" dirty="0" err="1">
                <a:solidFill>
                  <a:srgbClr val="4B5563"/>
                </a:solidFill>
                <a:latin typeface="Noto Sans KR" pitchFamily="34" charset="0"/>
                <a:ea typeface="Noto Sans KR" pitchFamily="34" charset="-122"/>
                <a:cs typeface="Noto Sans KR" pitchFamily="34" charset="-120"/>
              </a:rPr>
              <a:t>진행</a:t>
            </a:r>
            <a:endParaRPr lang="en-US" sz="1000" dirty="0">
              <a:solidFill>
                <a:srgbClr val="4B5563"/>
              </a:solidFill>
              <a:latin typeface="Noto Sans KR" pitchFamily="34" charset="0"/>
              <a:ea typeface="Noto Sans KR" pitchFamily="34" charset="-122"/>
              <a:cs typeface="Noto Sans KR" pitchFamily="34" charset="-120"/>
            </a:endParaRPr>
          </a:p>
          <a:p>
            <a:pPr marL="171450" indent="-171450">
              <a:buFont typeface="Arial" panose="020B0604020202020204" pitchFamily="34" charset="0"/>
              <a:buChar char="•"/>
            </a:pPr>
            <a:r>
              <a:rPr lang="en-US" sz="1000" dirty="0" err="1">
                <a:solidFill>
                  <a:srgbClr val="4B5563"/>
                </a:solidFill>
                <a:latin typeface="Noto Sans KR" pitchFamily="34" charset="0"/>
                <a:ea typeface="Noto Sans KR" pitchFamily="34" charset="-122"/>
                <a:cs typeface="Noto Sans KR" pitchFamily="34" charset="-120"/>
              </a:rPr>
              <a:t>샘플</a:t>
            </a:r>
            <a:r>
              <a:rPr lang="en-US" sz="1000" dirty="0">
                <a:solidFill>
                  <a:srgbClr val="4B5563"/>
                </a:solidFill>
                <a:latin typeface="Noto Sans KR" pitchFamily="34" charset="0"/>
                <a:ea typeface="Noto Sans KR" pitchFamily="34" charset="-122"/>
                <a:cs typeface="Noto Sans KR" pitchFamily="34" charset="-120"/>
              </a:rPr>
              <a:t> 효율성은 낮지만 안정적인 학습 </a:t>
            </a:r>
            <a:r>
              <a:rPr lang="en-US" sz="1000" dirty="0" err="1">
                <a:solidFill>
                  <a:srgbClr val="4B5563"/>
                </a:solidFill>
                <a:latin typeface="Noto Sans KR" pitchFamily="34" charset="0"/>
                <a:ea typeface="Noto Sans KR" pitchFamily="34" charset="-122"/>
                <a:cs typeface="Noto Sans KR" pitchFamily="34" charset="-120"/>
              </a:rPr>
              <a:t>수렴을</a:t>
            </a:r>
            <a:r>
              <a:rPr lang="en-US" sz="1000" dirty="0">
                <a:solidFill>
                  <a:srgbClr val="4B5563"/>
                </a:solidFill>
                <a:latin typeface="Noto Sans KR" pitchFamily="34" charset="0"/>
                <a:ea typeface="Noto Sans KR" pitchFamily="34" charset="-122"/>
                <a:cs typeface="Noto Sans KR" pitchFamily="34" charset="-120"/>
              </a:rPr>
              <a:t> </a:t>
            </a:r>
            <a:r>
              <a:rPr lang="en-US" sz="1000" dirty="0" err="1">
                <a:solidFill>
                  <a:srgbClr val="4B5563"/>
                </a:solidFill>
                <a:latin typeface="Noto Sans KR" pitchFamily="34" charset="0"/>
                <a:ea typeface="Noto Sans KR" pitchFamily="34" charset="-122"/>
                <a:cs typeface="Noto Sans KR" pitchFamily="34" charset="-120"/>
              </a:rPr>
              <a:t>보장</a:t>
            </a:r>
            <a:endParaRPr lang="en-US" sz="1000" dirty="0"/>
          </a:p>
        </p:txBody>
      </p:sp>
      <p:sp>
        <p:nvSpPr>
          <p:cNvPr id="13" name="Shape 11"/>
          <p:cNvSpPr/>
          <p:nvPr/>
        </p:nvSpPr>
        <p:spPr>
          <a:xfrm>
            <a:off x="3381451" y="1237182"/>
            <a:ext cx="2619756" cy="3369542"/>
          </a:xfrm>
          <a:prstGeom prst="roundRect">
            <a:avLst>
              <a:gd name="adj" fmla="val 1523"/>
            </a:avLst>
          </a:prstGeom>
          <a:solidFill>
            <a:srgbClr val="F9FAFB"/>
          </a:solidFill>
          <a:ln w="12700">
            <a:solidFill>
              <a:srgbClr val="E5E7EB"/>
            </a:solidFill>
            <a:prstDash val="solid"/>
          </a:ln>
        </p:spPr>
      </p:sp>
      <p:sp>
        <p:nvSpPr>
          <p:cNvPr id="14" name="Text 12"/>
          <p:cNvSpPr txBox="1"/>
          <p:nvPr/>
        </p:nvSpPr>
        <p:spPr>
          <a:xfrm>
            <a:off x="3840480" y="2247594"/>
            <a:ext cx="1848002" cy="562356"/>
          </a:xfrm>
          <a:prstGeom prst="rect">
            <a:avLst/>
          </a:prstGeom>
          <a:noFill/>
          <a:ln/>
        </p:spPr>
        <p:txBody>
          <a:bodyPr wrap="square" lIns="0" tIns="0" rIns="0" bIns="0" rtlCol="0" anchor="ctr"/>
          <a:lstStyle/>
          <a:p>
            <a:pPr marL="0" indent="0" algn="ctr">
              <a:buNone/>
            </a:pPr>
            <a:r>
              <a:rPr lang="en-US" sz="1500" b="1" dirty="0">
                <a:solidFill>
                  <a:srgbClr val="1F2937"/>
                </a:solidFill>
                <a:latin typeface="Noto Sans KR" pitchFamily="34" charset="0"/>
                <a:ea typeface="Noto Sans KR" pitchFamily="34" charset="-122"/>
                <a:cs typeface="Noto Sans KR" pitchFamily="34" charset="-120"/>
              </a:rPr>
              <a:t>Clipped Surrogate Objective</a:t>
            </a:r>
            <a:endParaRPr lang="en-US" sz="1500" dirty="0"/>
          </a:p>
        </p:txBody>
      </p:sp>
      <p:sp>
        <p:nvSpPr>
          <p:cNvPr id="15" name="Text 13"/>
          <p:cNvSpPr txBox="1"/>
          <p:nvPr/>
        </p:nvSpPr>
        <p:spPr>
          <a:xfrm>
            <a:off x="3597250" y="3146438"/>
            <a:ext cx="2291486" cy="838505"/>
          </a:xfrm>
          <a:prstGeom prst="rect">
            <a:avLst/>
          </a:prstGeom>
          <a:noFill/>
          <a:ln/>
        </p:spPr>
        <p:txBody>
          <a:bodyPr wrap="square" lIns="0" tIns="0" rIns="0" bIns="0" rtlCol="0" anchor="t"/>
          <a:lstStyle/>
          <a:p>
            <a:pPr marL="171450" indent="-171450">
              <a:buFont typeface="Arial" panose="020B0604020202020204" pitchFamily="34" charset="0"/>
              <a:buChar char="•"/>
            </a:pPr>
            <a:r>
              <a:rPr lang="en-US" sz="1000" dirty="0">
                <a:solidFill>
                  <a:srgbClr val="4B5563"/>
                </a:solidFill>
                <a:latin typeface="Noto Sans KR" pitchFamily="34" charset="0"/>
                <a:ea typeface="Noto Sans KR" pitchFamily="34" charset="-122"/>
                <a:cs typeface="Noto Sans KR" pitchFamily="34" charset="-120"/>
              </a:rPr>
              <a:t>정책 업데이트 비율(Ratio)을 </a:t>
            </a:r>
            <a:r>
              <a:rPr lang="en-US" sz="1000" dirty="0" err="1">
                <a:solidFill>
                  <a:srgbClr val="4B5563"/>
                </a:solidFill>
                <a:latin typeface="Noto Sans KR" pitchFamily="34" charset="0"/>
                <a:ea typeface="Noto Sans KR" pitchFamily="34" charset="-122"/>
                <a:cs typeface="Noto Sans KR" pitchFamily="34" charset="-120"/>
              </a:rPr>
              <a:t>일정</a:t>
            </a:r>
            <a:r>
              <a:rPr lang="en-US" sz="1000" dirty="0">
                <a:solidFill>
                  <a:srgbClr val="4B5563"/>
                </a:solidFill>
                <a:latin typeface="Noto Sans KR" pitchFamily="34" charset="0"/>
                <a:ea typeface="Noto Sans KR" pitchFamily="34" charset="-122"/>
                <a:cs typeface="Noto Sans KR" pitchFamily="34" charset="-120"/>
              </a:rPr>
              <a:t> </a:t>
            </a:r>
            <a:r>
              <a:rPr lang="en-US" sz="1000" dirty="0" err="1">
                <a:solidFill>
                  <a:srgbClr val="4B5563"/>
                </a:solidFill>
                <a:latin typeface="Noto Sans KR" pitchFamily="34" charset="0"/>
                <a:ea typeface="Noto Sans KR" pitchFamily="34" charset="-122"/>
                <a:cs typeface="Noto Sans KR" pitchFamily="34" charset="-120"/>
              </a:rPr>
              <a:t>범위</a:t>
            </a:r>
            <a:br>
              <a:rPr lang="en-US" sz="1000" dirty="0">
                <a:solidFill>
                  <a:srgbClr val="4B5563"/>
                </a:solidFill>
                <a:latin typeface="Noto Sans KR" pitchFamily="34" charset="0"/>
                <a:ea typeface="Noto Sans KR" pitchFamily="34" charset="-122"/>
                <a:cs typeface="Noto Sans KR" pitchFamily="34" charset="-120"/>
              </a:rPr>
            </a:br>
            <a:r>
              <a:rPr lang="en-US" sz="1000" dirty="0">
                <a:solidFill>
                  <a:srgbClr val="4B5563"/>
                </a:solidFill>
                <a:latin typeface="Noto Sans KR" pitchFamily="34" charset="0"/>
                <a:ea typeface="Noto Sans KR" pitchFamily="34" charset="-122"/>
                <a:cs typeface="Noto Sans KR" pitchFamily="34" charset="-120"/>
              </a:rPr>
              <a:t>(예: 0.8~1.2)로 제한(Clipping)</a:t>
            </a:r>
            <a:r>
              <a:rPr lang="en-US" sz="1000" dirty="0" err="1">
                <a:solidFill>
                  <a:srgbClr val="4B5563"/>
                </a:solidFill>
                <a:latin typeface="Noto Sans KR" pitchFamily="34" charset="0"/>
                <a:ea typeface="Noto Sans KR" pitchFamily="34" charset="-122"/>
                <a:cs typeface="Noto Sans KR" pitchFamily="34" charset="-120"/>
              </a:rPr>
              <a:t>함</a:t>
            </a:r>
            <a:endParaRPr lang="en-US" sz="1000" dirty="0">
              <a:solidFill>
                <a:srgbClr val="4B5563"/>
              </a:solidFill>
              <a:latin typeface="Noto Sans KR" pitchFamily="34" charset="0"/>
              <a:ea typeface="Noto Sans KR" pitchFamily="34" charset="-122"/>
              <a:cs typeface="Noto Sans KR" pitchFamily="34" charset="-120"/>
            </a:endParaRPr>
          </a:p>
          <a:p>
            <a:pPr marL="171450" indent="-171450">
              <a:buFont typeface="Arial" panose="020B0604020202020204" pitchFamily="34" charset="0"/>
              <a:buChar char="•"/>
            </a:pPr>
            <a:r>
              <a:rPr lang="en-US" sz="1000" dirty="0" err="1">
                <a:solidFill>
                  <a:srgbClr val="4B5563"/>
                </a:solidFill>
                <a:latin typeface="Noto Sans KR" pitchFamily="34" charset="0"/>
                <a:ea typeface="Noto Sans KR" pitchFamily="34" charset="-122"/>
                <a:cs typeface="Noto Sans KR" pitchFamily="34" charset="-120"/>
              </a:rPr>
              <a:t>이를</a:t>
            </a:r>
            <a:r>
              <a:rPr lang="en-US" sz="1000" dirty="0">
                <a:solidFill>
                  <a:srgbClr val="4B5563"/>
                </a:solidFill>
                <a:latin typeface="Noto Sans KR" pitchFamily="34" charset="0"/>
                <a:ea typeface="Noto Sans KR" pitchFamily="34" charset="-122"/>
                <a:cs typeface="Noto Sans KR" pitchFamily="34" charset="-120"/>
              </a:rPr>
              <a:t> </a:t>
            </a:r>
            <a:r>
              <a:rPr lang="en-US" sz="1000" dirty="0" err="1">
                <a:solidFill>
                  <a:srgbClr val="4B5563"/>
                </a:solidFill>
                <a:latin typeface="Noto Sans KR" pitchFamily="34" charset="0"/>
                <a:ea typeface="Noto Sans KR" pitchFamily="34" charset="-122"/>
                <a:cs typeface="Noto Sans KR" pitchFamily="34" charset="-120"/>
              </a:rPr>
              <a:t>통해</a:t>
            </a:r>
            <a:r>
              <a:rPr lang="en-US" sz="1000" dirty="0">
                <a:solidFill>
                  <a:srgbClr val="4B5563"/>
                </a:solidFill>
                <a:latin typeface="Noto Sans KR" pitchFamily="34" charset="0"/>
                <a:ea typeface="Noto Sans KR" pitchFamily="34" charset="-122"/>
                <a:cs typeface="Noto Sans KR" pitchFamily="34" charset="-120"/>
              </a:rPr>
              <a:t> </a:t>
            </a:r>
            <a:r>
              <a:rPr lang="en-US" sz="1000" dirty="0" err="1">
                <a:solidFill>
                  <a:srgbClr val="4B5563"/>
                </a:solidFill>
                <a:latin typeface="Noto Sans KR" pitchFamily="34" charset="0"/>
                <a:ea typeface="Noto Sans KR" pitchFamily="34" charset="-122"/>
                <a:cs typeface="Noto Sans KR" pitchFamily="34" charset="-120"/>
              </a:rPr>
              <a:t>급격한</a:t>
            </a:r>
            <a:r>
              <a:rPr lang="en-US" sz="1000" dirty="0">
                <a:solidFill>
                  <a:srgbClr val="4B5563"/>
                </a:solidFill>
                <a:latin typeface="Noto Sans KR" pitchFamily="34" charset="0"/>
                <a:ea typeface="Noto Sans KR" pitchFamily="34" charset="-122"/>
                <a:cs typeface="Noto Sans KR" pitchFamily="34" charset="-120"/>
              </a:rPr>
              <a:t> 정책 변화로 인한 성능 </a:t>
            </a:r>
            <a:r>
              <a:rPr lang="en-US" sz="1000" dirty="0" err="1">
                <a:solidFill>
                  <a:srgbClr val="4B5563"/>
                </a:solidFill>
                <a:latin typeface="Noto Sans KR" pitchFamily="34" charset="0"/>
                <a:ea typeface="Noto Sans KR" pitchFamily="34" charset="-122"/>
                <a:cs typeface="Noto Sans KR" pitchFamily="34" charset="-120"/>
              </a:rPr>
              <a:t>붕괴를</a:t>
            </a:r>
            <a:r>
              <a:rPr lang="en-US" sz="1000" dirty="0">
                <a:solidFill>
                  <a:srgbClr val="4B5563"/>
                </a:solidFill>
                <a:latin typeface="Noto Sans KR" pitchFamily="34" charset="0"/>
                <a:ea typeface="Noto Sans KR" pitchFamily="34" charset="-122"/>
                <a:cs typeface="Noto Sans KR" pitchFamily="34" charset="-120"/>
              </a:rPr>
              <a:t> </a:t>
            </a:r>
            <a:r>
              <a:rPr lang="en-US" sz="1000" dirty="0" err="1">
                <a:solidFill>
                  <a:srgbClr val="4B5563"/>
                </a:solidFill>
                <a:latin typeface="Noto Sans KR" pitchFamily="34" charset="0"/>
                <a:ea typeface="Noto Sans KR" pitchFamily="34" charset="-122"/>
                <a:cs typeface="Noto Sans KR" pitchFamily="34" charset="-120"/>
              </a:rPr>
              <a:t>방지</a:t>
            </a:r>
            <a:endParaRPr lang="en-US" sz="1000" dirty="0"/>
          </a:p>
        </p:txBody>
      </p:sp>
      <p:sp>
        <p:nvSpPr>
          <p:cNvPr id="16" name="Shape 14"/>
          <p:cNvSpPr/>
          <p:nvPr/>
        </p:nvSpPr>
        <p:spPr>
          <a:xfrm>
            <a:off x="6191402" y="1237182"/>
            <a:ext cx="2619756" cy="3369542"/>
          </a:xfrm>
          <a:prstGeom prst="roundRect">
            <a:avLst>
              <a:gd name="adj" fmla="val 1523"/>
            </a:avLst>
          </a:prstGeom>
          <a:solidFill>
            <a:srgbClr val="F9FAFB"/>
          </a:solidFill>
          <a:ln w="12700">
            <a:solidFill>
              <a:srgbClr val="E5E7EB"/>
            </a:solidFill>
            <a:prstDash val="solid"/>
          </a:ln>
        </p:spPr>
      </p:sp>
      <p:sp>
        <p:nvSpPr>
          <p:cNvPr id="17" name="Text 15"/>
          <p:cNvSpPr txBox="1"/>
          <p:nvPr/>
        </p:nvSpPr>
        <p:spPr>
          <a:xfrm>
            <a:off x="6762902" y="2247594"/>
            <a:ext cx="1619402" cy="277063"/>
          </a:xfrm>
          <a:prstGeom prst="rect">
            <a:avLst/>
          </a:prstGeom>
          <a:noFill/>
          <a:ln/>
        </p:spPr>
        <p:txBody>
          <a:bodyPr wrap="square" lIns="0" tIns="0" rIns="0" bIns="0" rtlCol="0" anchor="ctr"/>
          <a:lstStyle/>
          <a:p>
            <a:pPr marL="0" indent="0" algn="ctr">
              <a:buNone/>
            </a:pPr>
            <a:r>
              <a:rPr lang="en-US" sz="1500" b="1" dirty="0">
                <a:solidFill>
                  <a:srgbClr val="1F2937"/>
                </a:solidFill>
                <a:latin typeface="Noto Sans KR" pitchFamily="34" charset="0"/>
                <a:ea typeface="Noto Sans KR" pitchFamily="34" charset="-122"/>
                <a:cs typeface="Noto Sans KR" pitchFamily="34" charset="-120"/>
              </a:rPr>
              <a:t>Actor-Critic 구조</a:t>
            </a:r>
            <a:endParaRPr lang="en-US" sz="1500" dirty="0"/>
          </a:p>
        </p:txBody>
      </p:sp>
      <p:sp>
        <p:nvSpPr>
          <p:cNvPr id="18" name="Text 16"/>
          <p:cNvSpPr txBox="1"/>
          <p:nvPr/>
        </p:nvSpPr>
        <p:spPr>
          <a:xfrm>
            <a:off x="6400800" y="3146438"/>
            <a:ext cx="2300630" cy="619963"/>
          </a:xfrm>
          <a:prstGeom prst="rect">
            <a:avLst/>
          </a:prstGeom>
          <a:noFill/>
          <a:ln/>
        </p:spPr>
        <p:txBody>
          <a:bodyPr wrap="square" lIns="0" tIns="0" rIns="0" bIns="0" rtlCol="0" anchor="t"/>
          <a:lstStyle/>
          <a:p>
            <a:pPr marL="171450" indent="-171450">
              <a:buFont typeface="Arial" panose="020B0604020202020204" pitchFamily="34" charset="0"/>
              <a:buChar char="•"/>
            </a:pPr>
            <a:r>
              <a:rPr lang="en-US" sz="1000" dirty="0">
                <a:solidFill>
                  <a:srgbClr val="4B5563"/>
                </a:solidFill>
                <a:latin typeface="Noto Sans KR" pitchFamily="34" charset="0"/>
                <a:ea typeface="Noto Sans KR" pitchFamily="34" charset="-122"/>
                <a:cs typeface="Noto Sans KR" pitchFamily="34" charset="-120"/>
              </a:rPr>
              <a:t>Actor: 최적의 행동(포트폴리오 비중) </a:t>
            </a:r>
            <a:br>
              <a:rPr lang="en-US" sz="1000" dirty="0">
                <a:solidFill>
                  <a:srgbClr val="4B5563"/>
                </a:solidFill>
                <a:latin typeface="Noto Sans KR" pitchFamily="34" charset="0"/>
                <a:ea typeface="Noto Sans KR" pitchFamily="34" charset="-122"/>
                <a:cs typeface="Noto Sans KR" pitchFamily="34" charset="-120"/>
              </a:rPr>
            </a:br>
            <a:r>
              <a:rPr lang="en-US" sz="1000" dirty="0" err="1">
                <a:solidFill>
                  <a:srgbClr val="4B5563"/>
                </a:solidFill>
                <a:latin typeface="Noto Sans KR" pitchFamily="34" charset="0"/>
                <a:ea typeface="Noto Sans KR" pitchFamily="34" charset="-122"/>
                <a:cs typeface="Noto Sans KR" pitchFamily="34" charset="-120"/>
              </a:rPr>
              <a:t>결정</a:t>
            </a:r>
            <a:r>
              <a:rPr lang="en-US" sz="1000" dirty="0">
                <a:solidFill>
                  <a:srgbClr val="4B5563"/>
                </a:solidFill>
                <a:latin typeface="Noto Sans KR" pitchFamily="34" charset="0"/>
                <a:ea typeface="Noto Sans KR" pitchFamily="34" charset="-122"/>
                <a:cs typeface="Noto Sans KR" pitchFamily="34" charset="-120"/>
              </a:rPr>
              <a:t> </a:t>
            </a:r>
          </a:p>
          <a:p>
            <a:pPr marL="171450" indent="-171450">
              <a:buFont typeface="Arial" panose="020B0604020202020204" pitchFamily="34" charset="0"/>
              <a:buChar char="•"/>
            </a:pPr>
            <a:r>
              <a:rPr lang="en-US" sz="1000" dirty="0">
                <a:solidFill>
                  <a:srgbClr val="4B5563"/>
                </a:solidFill>
                <a:latin typeface="Noto Sans KR" pitchFamily="34" charset="0"/>
                <a:ea typeface="Noto Sans KR" pitchFamily="34" charset="-122"/>
                <a:cs typeface="Noto Sans KR" pitchFamily="34" charset="-120"/>
              </a:rPr>
              <a:t>Critic: 상태 가치(V-value)를 평가하여 학습 방향 가이드</a:t>
            </a:r>
            <a:endParaRPr lang="en-US" sz="1000" dirty="0"/>
          </a:p>
        </p:txBody>
      </p:sp>
      <p:sp>
        <p:nvSpPr>
          <p:cNvPr id="19" name="Shape 17"/>
          <p:cNvSpPr/>
          <p:nvPr/>
        </p:nvSpPr>
        <p:spPr>
          <a:xfrm>
            <a:off x="9001354" y="1237182"/>
            <a:ext cx="2619756" cy="3369542"/>
          </a:xfrm>
          <a:prstGeom prst="roundRect">
            <a:avLst>
              <a:gd name="adj" fmla="val 1523"/>
            </a:avLst>
          </a:prstGeom>
          <a:solidFill>
            <a:srgbClr val="F9FAFB"/>
          </a:solidFill>
          <a:ln w="12700">
            <a:solidFill>
              <a:srgbClr val="E5E7EB"/>
            </a:solidFill>
            <a:prstDash val="solid"/>
          </a:ln>
        </p:spPr>
      </p:sp>
      <p:sp>
        <p:nvSpPr>
          <p:cNvPr id="20" name="Text 18"/>
          <p:cNvSpPr txBox="1"/>
          <p:nvPr/>
        </p:nvSpPr>
        <p:spPr>
          <a:xfrm>
            <a:off x="9245498" y="2247594"/>
            <a:ext cx="2276856" cy="562356"/>
          </a:xfrm>
          <a:prstGeom prst="rect">
            <a:avLst/>
          </a:prstGeom>
          <a:noFill/>
          <a:ln/>
        </p:spPr>
        <p:txBody>
          <a:bodyPr wrap="square" lIns="0" tIns="0" rIns="0" bIns="0" rtlCol="0" anchor="ctr"/>
          <a:lstStyle/>
          <a:p>
            <a:pPr marL="0" indent="0" algn="ctr">
              <a:buNone/>
            </a:pPr>
            <a:r>
              <a:rPr lang="en-US" sz="1500" b="1" dirty="0">
                <a:solidFill>
                  <a:srgbClr val="1F2937"/>
                </a:solidFill>
                <a:latin typeface="Noto Sans KR" pitchFamily="34" charset="0"/>
                <a:ea typeface="Noto Sans KR" pitchFamily="34" charset="-122"/>
                <a:cs typeface="Noto Sans KR" pitchFamily="34" charset="-120"/>
              </a:rPr>
              <a:t>GAE (Generalized Advantage Estimation)</a:t>
            </a:r>
            <a:endParaRPr lang="en-US" sz="1500" dirty="0"/>
          </a:p>
        </p:txBody>
      </p:sp>
      <p:sp>
        <p:nvSpPr>
          <p:cNvPr id="21" name="Text 19"/>
          <p:cNvSpPr txBox="1"/>
          <p:nvPr/>
        </p:nvSpPr>
        <p:spPr>
          <a:xfrm>
            <a:off x="9226296" y="3146438"/>
            <a:ext cx="2272284" cy="838505"/>
          </a:xfrm>
          <a:prstGeom prst="rect">
            <a:avLst/>
          </a:prstGeom>
          <a:noFill/>
          <a:ln/>
        </p:spPr>
        <p:txBody>
          <a:bodyPr wrap="square" lIns="0" tIns="0" rIns="0" bIns="0" rtlCol="0" anchor="t"/>
          <a:lstStyle/>
          <a:p>
            <a:pPr marL="171450" indent="-171450">
              <a:buFont typeface="Arial" panose="020B0604020202020204" pitchFamily="34" charset="0"/>
              <a:buChar char="•"/>
            </a:pPr>
            <a:r>
              <a:rPr lang="en-US" sz="1000" dirty="0">
                <a:solidFill>
                  <a:srgbClr val="4B5563"/>
                </a:solidFill>
                <a:latin typeface="Noto Sans KR" pitchFamily="34" charset="0"/>
                <a:ea typeface="Noto Sans KR" pitchFamily="34" charset="-122"/>
                <a:cs typeface="Noto Sans KR" pitchFamily="34" charset="-120"/>
              </a:rPr>
              <a:t>Advantage 추정 시 편향(Bias)</a:t>
            </a:r>
            <a:r>
              <a:rPr lang="en-US" sz="1000" dirty="0" err="1">
                <a:solidFill>
                  <a:srgbClr val="4B5563"/>
                </a:solidFill>
                <a:latin typeface="Noto Sans KR" pitchFamily="34" charset="0"/>
                <a:ea typeface="Noto Sans KR" pitchFamily="34" charset="-122"/>
                <a:cs typeface="Noto Sans KR" pitchFamily="34" charset="-120"/>
              </a:rPr>
              <a:t>과</a:t>
            </a:r>
            <a:r>
              <a:rPr lang="en-US" sz="1000" dirty="0">
                <a:solidFill>
                  <a:srgbClr val="4B5563"/>
                </a:solidFill>
                <a:latin typeface="Noto Sans KR" pitchFamily="34" charset="0"/>
                <a:ea typeface="Noto Sans KR" pitchFamily="34" charset="-122"/>
                <a:cs typeface="Noto Sans KR" pitchFamily="34" charset="-120"/>
              </a:rPr>
              <a:t> </a:t>
            </a:r>
            <a:br>
              <a:rPr lang="en-US" sz="1000" dirty="0">
                <a:solidFill>
                  <a:srgbClr val="4B5563"/>
                </a:solidFill>
                <a:latin typeface="Noto Sans KR" pitchFamily="34" charset="0"/>
                <a:ea typeface="Noto Sans KR" pitchFamily="34" charset="-122"/>
                <a:cs typeface="Noto Sans KR" pitchFamily="34" charset="-120"/>
              </a:rPr>
            </a:br>
            <a:r>
              <a:rPr lang="en-US" sz="1000" dirty="0" err="1">
                <a:solidFill>
                  <a:srgbClr val="4B5563"/>
                </a:solidFill>
                <a:latin typeface="Noto Sans KR" pitchFamily="34" charset="0"/>
                <a:ea typeface="Noto Sans KR" pitchFamily="34" charset="-122"/>
                <a:cs typeface="Noto Sans KR" pitchFamily="34" charset="-120"/>
              </a:rPr>
              <a:t>분산의</a:t>
            </a:r>
            <a:r>
              <a:rPr lang="en-US" sz="1000" dirty="0">
                <a:solidFill>
                  <a:srgbClr val="4B5563"/>
                </a:solidFill>
                <a:latin typeface="Noto Sans KR" pitchFamily="34" charset="0"/>
                <a:ea typeface="Noto Sans KR" pitchFamily="34" charset="-122"/>
                <a:cs typeface="Noto Sans KR" pitchFamily="34" charset="-120"/>
              </a:rPr>
              <a:t> </a:t>
            </a:r>
            <a:r>
              <a:rPr lang="en-US" sz="1000" dirty="0" err="1">
                <a:solidFill>
                  <a:srgbClr val="4B5563"/>
                </a:solidFill>
                <a:latin typeface="Noto Sans KR" pitchFamily="34" charset="0"/>
                <a:ea typeface="Noto Sans KR" pitchFamily="34" charset="-122"/>
                <a:cs typeface="Noto Sans KR" pitchFamily="34" charset="-120"/>
              </a:rPr>
              <a:t>트레이드오프</a:t>
            </a:r>
            <a:r>
              <a:rPr lang="en-US" sz="1000" dirty="0">
                <a:solidFill>
                  <a:srgbClr val="4B5563"/>
                </a:solidFill>
                <a:latin typeface="Noto Sans KR" pitchFamily="34" charset="0"/>
                <a:ea typeface="Noto Sans KR" pitchFamily="34" charset="-122"/>
                <a:cs typeface="Noto Sans KR" pitchFamily="34" charset="-120"/>
              </a:rPr>
              <a:t> </a:t>
            </a:r>
            <a:r>
              <a:rPr lang="en-US" sz="1000" dirty="0" err="1">
                <a:solidFill>
                  <a:srgbClr val="4B5563"/>
                </a:solidFill>
                <a:latin typeface="Noto Sans KR" pitchFamily="34" charset="0"/>
                <a:ea typeface="Noto Sans KR" pitchFamily="34" charset="-122"/>
                <a:cs typeface="Noto Sans KR" pitchFamily="34" charset="-120"/>
              </a:rPr>
              <a:t>조절</a:t>
            </a:r>
            <a:endParaRPr lang="en-US" sz="1000" dirty="0">
              <a:solidFill>
                <a:srgbClr val="4B5563"/>
              </a:solidFill>
              <a:latin typeface="Noto Sans KR" pitchFamily="34" charset="0"/>
              <a:ea typeface="Noto Sans KR" pitchFamily="34" charset="-122"/>
              <a:cs typeface="Noto Sans KR" pitchFamily="34" charset="-120"/>
            </a:endParaRPr>
          </a:p>
          <a:p>
            <a:pPr marL="171450" indent="-171450">
              <a:buFont typeface="Arial" panose="020B0604020202020204" pitchFamily="34" charset="0"/>
              <a:buChar char="•"/>
            </a:pPr>
            <a:r>
              <a:rPr lang="en-US" sz="1000" dirty="0" err="1">
                <a:solidFill>
                  <a:srgbClr val="4B5563"/>
                </a:solidFill>
                <a:latin typeface="Noto Sans KR" pitchFamily="34" charset="0"/>
                <a:ea typeface="Noto Sans KR" pitchFamily="34" charset="-122"/>
                <a:cs typeface="Noto Sans KR" pitchFamily="34" charset="-120"/>
              </a:rPr>
              <a:t>안정적인</a:t>
            </a:r>
            <a:r>
              <a:rPr lang="en-US" sz="1000" dirty="0">
                <a:solidFill>
                  <a:srgbClr val="4B5563"/>
                </a:solidFill>
                <a:latin typeface="Noto Sans KR" pitchFamily="34" charset="0"/>
                <a:ea typeface="Noto Sans KR" pitchFamily="34" charset="-122"/>
                <a:cs typeface="Noto Sans KR" pitchFamily="34" charset="-120"/>
              </a:rPr>
              <a:t> 경사 </a:t>
            </a:r>
            <a:r>
              <a:rPr lang="en-US" sz="1000" dirty="0" err="1">
                <a:solidFill>
                  <a:srgbClr val="4B5563"/>
                </a:solidFill>
                <a:latin typeface="Noto Sans KR" pitchFamily="34" charset="0"/>
                <a:ea typeface="Noto Sans KR" pitchFamily="34" charset="-122"/>
                <a:cs typeface="Noto Sans KR" pitchFamily="34" charset="-120"/>
              </a:rPr>
              <a:t>하강법</a:t>
            </a:r>
            <a:r>
              <a:rPr lang="en-US" sz="1000" dirty="0">
                <a:solidFill>
                  <a:srgbClr val="4B5563"/>
                </a:solidFill>
                <a:latin typeface="Noto Sans KR" pitchFamily="34" charset="0"/>
                <a:ea typeface="Noto Sans KR" pitchFamily="34" charset="-122"/>
                <a:cs typeface="Noto Sans KR" pitchFamily="34" charset="-120"/>
              </a:rPr>
              <a:t> </a:t>
            </a:r>
            <a:r>
              <a:rPr lang="en-US" sz="1000" dirty="0" err="1">
                <a:solidFill>
                  <a:srgbClr val="4B5563"/>
                </a:solidFill>
                <a:latin typeface="Noto Sans KR" pitchFamily="34" charset="0"/>
                <a:ea typeface="Noto Sans KR" pitchFamily="34" charset="-122"/>
                <a:cs typeface="Noto Sans KR" pitchFamily="34" charset="-120"/>
              </a:rPr>
              <a:t>학습</a:t>
            </a:r>
            <a:r>
              <a:rPr lang="en-US" sz="1000" dirty="0">
                <a:solidFill>
                  <a:srgbClr val="4B5563"/>
                </a:solidFill>
                <a:latin typeface="Noto Sans KR" pitchFamily="34" charset="0"/>
                <a:ea typeface="Noto Sans KR" pitchFamily="34" charset="-122"/>
                <a:cs typeface="Noto Sans KR" pitchFamily="34" charset="-120"/>
              </a:rPr>
              <a:t> </a:t>
            </a:r>
            <a:r>
              <a:rPr lang="en-US" sz="1000" dirty="0" err="1">
                <a:solidFill>
                  <a:srgbClr val="4B5563"/>
                </a:solidFill>
                <a:latin typeface="Noto Sans KR" pitchFamily="34" charset="0"/>
                <a:ea typeface="Noto Sans KR" pitchFamily="34" charset="-122"/>
                <a:cs typeface="Noto Sans KR" pitchFamily="34" charset="-120"/>
              </a:rPr>
              <a:t>지원</a:t>
            </a:r>
            <a:endParaRPr lang="en-US" sz="1000" dirty="0"/>
          </a:p>
        </p:txBody>
      </p:sp>
      <p:sp>
        <p:nvSpPr>
          <p:cNvPr id="22" name="Shape 20"/>
          <p:cNvSpPr/>
          <p:nvPr/>
        </p:nvSpPr>
        <p:spPr>
          <a:xfrm>
            <a:off x="571500" y="4858209"/>
            <a:ext cx="11048695" cy="1000354"/>
          </a:xfrm>
          <a:prstGeom prst="roundRect">
            <a:avLst>
              <a:gd name="adj" fmla="val 10447"/>
            </a:avLst>
          </a:prstGeom>
          <a:solidFill>
            <a:srgbClr val="EFF6FF"/>
          </a:solidFill>
          <a:ln w="12700">
            <a:solidFill>
              <a:srgbClr val="BFDBFE"/>
            </a:solidFill>
            <a:prstDash val="solid"/>
          </a:ln>
        </p:spPr>
      </p:sp>
      <p:sp>
        <p:nvSpPr>
          <p:cNvPr id="23" name="Shape 21"/>
          <p:cNvSpPr/>
          <p:nvPr/>
        </p:nvSpPr>
        <p:spPr>
          <a:xfrm>
            <a:off x="866851" y="5063035"/>
            <a:ext cx="4438498" cy="590702"/>
          </a:xfrm>
          <a:prstGeom prst="roundRect">
            <a:avLst>
              <a:gd name="adj" fmla="val 19974"/>
            </a:avLst>
          </a:prstGeom>
          <a:solidFill>
            <a:srgbClr val="FFFFFF"/>
          </a:solidFill>
          <a:ln w="12700">
            <a:solidFill>
              <a:srgbClr val="DBEAFE"/>
            </a:solidFill>
            <a:prstDash val="solid"/>
          </a:ln>
          <a:effectLst>
            <a:outerShdw blurRad="38100" dist="25400" dir="5400000" algn="bl" rotWithShape="0">
              <a:srgbClr val="000000">
                <a:alpha val="2000"/>
              </a:srgbClr>
            </a:outerShdw>
          </a:effectLst>
        </p:spPr>
      </p:sp>
      <p:sp>
        <p:nvSpPr>
          <p:cNvPr id="24" name="Text 22"/>
          <p:cNvSpPr txBox="1"/>
          <p:nvPr/>
        </p:nvSpPr>
        <p:spPr>
          <a:xfrm>
            <a:off x="1114654" y="5253230"/>
            <a:ext cx="257861" cy="210312"/>
          </a:xfrm>
          <a:prstGeom prst="rect">
            <a:avLst/>
          </a:prstGeom>
          <a:noFill/>
          <a:ln/>
        </p:spPr>
        <p:txBody>
          <a:bodyPr wrap="square" lIns="0" tIns="0" rIns="0" bIns="0" rtlCol="0" anchor="ctr"/>
          <a:lstStyle/>
          <a:p>
            <a:pPr marL="0" indent="0" algn="l">
              <a:buNone/>
            </a:pPr>
            <a:r>
              <a:rPr lang="en-US" sz="1500" i="1" dirty="0">
                <a:solidFill>
                  <a:srgbClr val="1E3A8A"/>
                </a:solidFill>
                <a:latin typeface="Times New Roman" pitchFamily="34" charset="0"/>
                <a:ea typeface="Times New Roman" pitchFamily="34" charset="-122"/>
                <a:cs typeface="Times New Roman" pitchFamily="34" charset="-120"/>
              </a:rPr>
              <a:t>L</a:t>
            </a:r>
            <a:endParaRPr lang="en-US" sz="1500" dirty="0"/>
          </a:p>
        </p:txBody>
      </p:sp>
      <p:sp>
        <p:nvSpPr>
          <p:cNvPr id="25" name="Text 23"/>
          <p:cNvSpPr txBox="1"/>
          <p:nvPr/>
        </p:nvSpPr>
        <p:spPr>
          <a:xfrm>
            <a:off x="1220724" y="5229455"/>
            <a:ext cx="421538" cy="152705"/>
          </a:xfrm>
          <a:prstGeom prst="rect">
            <a:avLst/>
          </a:prstGeom>
          <a:noFill/>
          <a:ln/>
        </p:spPr>
        <p:txBody>
          <a:bodyPr wrap="square" lIns="0" tIns="0" rIns="0" bIns="0" rtlCol="0" anchor="ctr"/>
          <a:lstStyle/>
          <a:p>
            <a:pPr marL="0" indent="0" algn="l">
              <a:buNone/>
            </a:pPr>
            <a:r>
              <a:rPr lang="en-US" sz="1100" i="1" dirty="0">
                <a:solidFill>
                  <a:srgbClr val="1E3A8A"/>
                </a:solidFill>
                <a:latin typeface="Times New Roman" pitchFamily="34" charset="0"/>
                <a:ea typeface="Times New Roman" pitchFamily="34" charset="-122"/>
                <a:cs typeface="Times New Roman" pitchFamily="34" charset="-120"/>
              </a:rPr>
              <a:t>CLIP</a:t>
            </a:r>
            <a:endParaRPr lang="en-US" sz="1100" dirty="0"/>
          </a:p>
        </p:txBody>
      </p:sp>
      <p:sp>
        <p:nvSpPr>
          <p:cNvPr id="26" name="Text 24"/>
          <p:cNvSpPr txBox="1"/>
          <p:nvPr/>
        </p:nvSpPr>
        <p:spPr>
          <a:xfrm>
            <a:off x="1529791" y="5253230"/>
            <a:ext cx="1353312" cy="210312"/>
          </a:xfrm>
          <a:prstGeom prst="rect">
            <a:avLst/>
          </a:prstGeom>
          <a:noFill/>
          <a:ln/>
        </p:spPr>
        <p:txBody>
          <a:bodyPr wrap="square" lIns="0" tIns="0" rIns="0" bIns="0" rtlCol="0" anchor="ctr"/>
          <a:lstStyle/>
          <a:p>
            <a:pPr marL="0" indent="0" algn="l">
              <a:buNone/>
            </a:pPr>
            <a:r>
              <a:rPr lang="en-US" sz="1500" i="1" dirty="0">
                <a:solidFill>
                  <a:srgbClr val="1E3A8A"/>
                </a:solidFill>
                <a:latin typeface="Times New Roman" pitchFamily="34" charset="0"/>
                <a:ea typeface="Times New Roman" pitchFamily="34" charset="-122"/>
                <a:cs typeface="Times New Roman" pitchFamily="34" charset="-120"/>
              </a:rPr>
              <a:t>(θ) = E [ min( r</a:t>
            </a:r>
            <a:endParaRPr lang="en-US" sz="1500" dirty="0"/>
          </a:p>
        </p:txBody>
      </p:sp>
      <p:sp>
        <p:nvSpPr>
          <p:cNvPr id="27" name="Text 25"/>
          <p:cNvSpPr txBox="1"/>
          <p:nvPr/>
        </p:nvSpPr>
        <p:spPr>
          <a:xfrm>
            <a:off x="2731313" y="5336440"/>
            <a:ext cx="155448" cy="152705"/>
          </a:xfrm>
          <a:prstGeom prst="rect">
            <a:avLst/>
          </a:prstGeom>
          <a:noFill/>
          <a:ln/>
        </p:spPr>
        <p:txBody>
          <a:bodyPr wrap="square" lIns="0" tIns="0" rIns="0" bIns="0" rtlCol="0" anchor="ctr"/>
          <a:lstStyle/>
          <a:p>
            <a:pPr marL="0" indent="0" algn="l">
              <a:buNone/>
            </a:pPr>
            <a:r>
              <a:rPr lang="en-US" sz="1100" i="1" dirty="0">
                <a:solidFill>
                  <a:srgbClr val="1E3A8A"/>
                </a:solidFill>
                <a:latin typeface="Times New Roman" pitchFamily="34" charset="0"/>
                <a:ea typeface="Times New Roman" pitchFamily="34" charset="-122"/>
                <a:cs typeface="Times New Roman" pitchFamily="34" charset="-120"/>
              </a:rPr>
              <a:t>t</a:t>
            </a:r>
            <a:endParaRPr lang="en-US" sz="1100" dirty="0"/>
          </a:p>
        </p:txBody>
      </p:sp>
      <p:sp>
        <p:nvSpPr>
          <p:cNvPr id="28" name="Text 26"/>
          <p:cNvSpPr txBox="1"/>
          <p:nvPr/>
        </p:nvSpPr>
        <p:spPr>
          <a:xfrm>
            <a:off x="2770632" y="5253230"/>
            <a:ext cx="486461" cy="210312"/>
          </a:xfrm>
          <a:prstGeom prst="rect">
            <a:avLst/>
          </a:prstGeom>
          <a:noFill/>
          <a:ln/>
        </p:spPr>
        <p:txBody>
          <a:bodyPr wrap="square" lIns="0" tIns="0" rIns="0" bIns="0" rtlCol="0" anchor="ctr"/>
          <a:lstStyle/>
          <a:p>
            <a:pPr marL="0" indent="0" algn="l">
              <a:buNone/>
            </a:pPr>
            <a:r>
              <a:rPr lang="en-US" sz="1500" i="1" dirty="0">
                <a:solidFill>
                  <a:srgbClr val="1E3A8A"/>
                </a:solidFill>
                <a:latin typeface="Times New Roman" pitchFamily="34" charset="0"/>
                <a:ea typeface="Times New Roman" pitchFamily="34" charset="-122"/>
                <a:cs typeface="Times New Roman" pitchFamily="34" charset="-120"/>
              </a:rPr>
              <a:t>(θ)A</a:t>
            </a:r>
            <a:endParaRPr lang="en-US" sz="1500" dirty="0"/>
          </a:p>
        </p:txBody>
      </p:sp>
      <p:sp>
        <p:nvSpPr>
          <p:cNvPr id="29" name="Text 27"/>
          <p:cNvSpPr txBox="1"/>
          <p:nvPr/>
        </p:nvSpPr>
        <p:spPr>
          <a:xfrm>
            <a:off x="3108046" y="5336440"/>
            <a:ext cx="155448" cy="152705"/>
          </a:xfrm>
          <a:prstGeom prst="rect">
            <a:avLst/>
          </a:prstGeom>
          <a:noFill/>
          <a:ln/>
        </p:spPr>
        <p:txBody>
          <a:bodyPr wrap="square" lIns="0" tIns="0" rIns="0" bIns="0" rtlCol="0" anchor="ctr"/>
          <a:lstStyle/>
          <a:p>
            <a:pPr marL="0" indent="0" algn="l">
              <a:buNone/>
            </a:pPr>
            <a:r>
              <a:rPr lang="en-US" sz="1100" i="1" dirty="0">
                <a:solidFill>
                  <a:srgbClr val="1E3A8A"/>
                </a:solidFill>
                <a:latin typeface="Times New Roman" pitchFamily="34" charset="0"/>
                <a:ea typeface="Times New Roman" pitchFamily="34" charset="-122"/>
                <a:cs typeface="Times New Roman" pitchFamily="34" charset="-120"/>
              </a:rPr>
              <a:t>t</a:t>
            </a:r>
            <a:endParaRPr lang="en-US" sz="1100" dirty="0"/>
          </a:p>
        </p:txBody>
      </p:sp>
      <p:sp>
        <p:nvSpPr>
          <p:cNvPr id="30" name="Text 28"/>
          <p:cNvSpPr txBox="1"/>
          <p:nvPr/>
        </p:nvSpPr>
        <p:spPr>
          <a:xfrm>
            <a:off x="3147365" y="5253230"/>
            <a:ext cx="667512" cy="210312"/>
          </a:xfrm>
          <a:prstGeom prst="rect">
            <a:avLst/>
          </a:prstGeom>
          <a:noFill/>
          <a:ln/>
        </p:spPr>
        <p:txBody>
          <a:bodyPr wrap="square" lIns="0" tIns="0" rIns="0" bIns="0" rtlCol="0" anchor="ctr"/>
          <a:lstStyle/>
          <a:p>
            <a:pPr marL="0" indent="0" algn="l">
              <a:buNone/>
            </a:pPr>
            <a:r>
              <a:rPr lang="en-US" sz="1500" i="1" dirty="0">
                <a:solidFill>
                  <a:srgbClr val="1E3A8A"/>
                </a:solidFill>
                <a:latin typeface="Times New Roman" pitchFamily="34" charset="0"/>
                <a:ea typeface="Times New Roman" pitchFamily="34" charset="-122"/>
                <a:cs typeface="Times New Roman" pitchFamily="34" charset="-120"/>
              </a:rPr>
              <a:t>, clip(r</a:t>
            </a:r>
            <a:endParaRPr lang="en-US" sz="1500" dirty="0"/>
          </a:p>
        </p:txBody>
      </p:sp>
      <p:sp>
        <p:nvSpPr>
          <p:cNvPr id="31" name="Text 29"/>
          <p:cNvSpPr txBox="1"/>
          <p:nvPr/>
        </p:nvSpPr>
        <p:spPr>
          <a:xfrm>
            <a:off x="3665830" y="5336440"/>
            <a:ext cx="155448" cy="152705"/>
          </a:xfrm>
          <a:prstGeom prst="rect">
            <a:avLst/>
          </a:prstGeom>
          <a:noFill/>
          <a:ln/>
        </p:spPr>
        <p:txBody>
          <a:bodyPr wrap="square" lIns="0" tIns="0" rIns="0" bIns="0" rtlCol="0" anchor="ctr"/>
          <a:lstStyle/>
          <a:p>
            <a:pPr marL="0" indent="0" algn="l">
              <a:buNone/>
            </a:pPr>
            <a:r>
              <a:rPr lang="en-US" sz="1100" i="1" dirty="0">
                <a:solidFill>
                  <a:srgbClr val="1E3A8A"/>
                </a:solidFill>
                <a:latin typeface="Times New Roman" pitchFamily="34" charset="0"/>
                <a:ea typeface="Times New Roman" pitchFamily="34" charset="-122"/>
                <a:cs typeface="Times New Roman" pitchFamily="34" charset="-120"/>
              </a:rPr>
              <a:t>t</a:t>
            </a:r>
            <a:endParaRPr lang="en-US" sz="1100" dirty="0"/>
          </a:p>
        </p:txBody>
      </p:sp>
      <p:sp>
        <p:nvSpPr>
          <p:cNvPr id="32" name="Text 30"/>
          <p:cNvSpPr txBox="1"/>
          <p:nvPr/>
        </p:nvSpPr>
        <p:spPr>
          <a:xfrm>
            <a:off x="3706063" y="5253230"/>
            <a:ext cx="1267358" cy="210312"/>
          </a:xfrm>
          <a:prstGeom prst="rect">
            <a:avLst/>
          </a:prstGeom>
          <a:noFill/>
          <a:ln/>
        </p:spPr>
        <p:txBody>
          <a:bodyPr wrap="square" lIns="0" tIns="0" rIns="0" bIns="0" rtlCol="0" anchor="ctr"/>
          <a:lstStyle/>
          <a:p>
            <a:pPr marL="0" indent="0" algn="l">
              <a:buNone/>
            </a:pPr>
            <a:r>
              <a:rPr lang="en-US" sz="1500" i="1" dirty="0">
                <a:solidFill>
                  <a:srgbClr val="1E3A8A"/>
                </a:solidFill>
                <a:latin typeface="Times New Roman" pitchFamily="34" charset="0"/>
                <a:ea typeface="Times New Roman" pitchFamily="34" charset="-122"/>
                <a:cs typeface="Times New Roman" pitchFamily="34" charset="-120"/>
              </a:rPr>
              <a:t>(θ), 1-ε, 1+ε)A</a:t>
            </a:r>
            <a:endParaRPr lang="en-US" sz="1500" dirty="0"/>
          </a:p>
        </p:txBody>
      </p:sp>
      <p:sp>
        <p:nvSpPr>
          <p:cNvPr id="33" name="Text 31"/>
          <p:cNvSpPr txBox="1"/>
          <p:nvPr/>
        </p:nvSpPr>
        <p:spPr>
          <a:xfrm>
            <a:off x="4828946" y="5336440"/>
            <a:ext cx="155448" cy="152705"/>
          </a:xfrm>
          <a:prstGeom prst="rect">
            <a:avLst/>
          </a:prstGeom>
          <a:noFill/>
          <a:ln/>
        </p:spPr>
        <p:txBody>
          <a:bodyPr wrap="square" lIns="0" tIns="0" rIns="0" bIns="0" rtlCol="0" anchor="ctr"/>
          <a:lstStyle/>
          <a:p>
            <a:pPr marL="0" indent="0" algn="l">
              <a:buNone/>
            </a:pPr>
            <a:r>
              <a:rPr lang="en-US" sz="1100" i="1" dirty="0">
                <a:solidFill>
                  <a:srgbClr val="1E3A8A"/>
                </a:solidFill>
                <a:latin typeface="Times New Roman" pitchFamily="34" charset="0"/>
                <a:ea typeface="Times New Roman" pitchFamily="34" charset="-122"/>
                <a:cs typeface="Times New Roman" pitchFamily="34" charset="-120"/>
              </a:rPr>
              <a:t>t</a:t>
            </a:r>
            <a:endParaRPr lang="en-US" sz="1100" dirty="0"/>
          </a:p>
        </p:txBody>
      </p:sp>
      <p:sp>
        <p:nvSpPr>
          <p:cNvPr id="34" name="Text 32"/>
          <p:cNvSpPr txBox="1"/>
          <p:nvPr/>
        </p:nvSpPr>
        <p:spPr>
          <a:xfrm>
            <a:off x="4869180" y="5253230"/>
            <a:ext cx="333756" cy="210312"/>
          </a:xfrm>
          <a:prstGeom prst="rect">
            <a:avLst/>
          </a:prstGeom>
          <a:noFill/>
          <a:ln/>
        </p:spPr>
        <p:txBody>
          <a:bodyPr wrap="square" lIns="0" tIns="0" rIns="0" bIns="0" rtlCol="0" anchor="ctr"/>
          <a:lstStyle/>
          <a:p>
            <a:pPr marL="0" indent="0" algn="l">
              <a:buNone/>
            </a:pPr>
            <a:r>
              <a:rPr lang="en-US" sz="1500" i="1" dirty="0">
                <a:solidFill>
                  <a:srgbClr val="1E3A8A"/>
                </a:solidFill>
                <a:latin typeface="Times New Roman" pitchFamily="34" charset="0"/>
                <a:ea typeface="Times New Roman" pitchFamily="34" charset="-122"/>
                <a:cs typeface="Times New Roman" pitchFamily="34" charset="-120"/>
              </a:rPr>
              <a:t>) ]</a:t>
            </a:r>
            <a:endParaRPr lang="en-US" sz="1500" dirty="0"/>
          </a:p>
        </p:txBody>
      </p:sp>
      <p:pic>
        <p:nvPicPr>
          <p:cNvPr id="35" name="Image 0" descr="preencoded.png"/>
          <p:cNvPicPr>
            <a:picLocks noChangeAspect="1"/>
          </p:cNvPicPr>
          <p:nvPr/>
        </p:nvPicPr>
        <p:blipFill>
          <a:blip r:embed="rId3"/>
          <a:srcRect/>
          <a:stretch/>
        </p:blipFill>
        <p:spPr>
          <a:xfrm>
            <a:off x="5587898" y="5086809"/>
            <a:ext cx="171907" cy="171907"/>
          </a:xfrm>
          <a:prstGeom prst="rect">
            <a:avLst/>
          </a:prstGeom>
        </p:spPr>
      </p:pic>
      <p:sp>
        <p:nvSpPr>
          <p:cNvPr id="36" name="Text 33"/>
          <p:cNvSpPr txBox="1"/>
          <p:nvPr/>
        </p:nvSpPr>
        <p:spPr>
          <a:xfrm>
            <a:off x="5854903" y="5057548"/>
            <a:ext cx="2815438" cy="590702"/>
          </a:xfrm>
          <a:prstGeom prst="rect">
            <a:avLst/>
          </a:prstGeom>
          <a:noFill/>
          <a:ln/>
        </p:spPr>
        <p:txBody>
          <a:bodyPr wrap="square" lIns="0" tIns="0" rIns="0" bIns="0" rtlCol="0" anchor="ctr"/>
          <a:lstStyle/>
          <a:p>
            <a:pPr marL="0" indent="0" algn="l">
              <a:buNone/>
            </a:pPr>
            <a:r>
              <a:rPr lang="en-US" sz="1000" dirty="0">
                <a:solidFill>
                  <a:srgbClr val="1E40AF"/>
                </a:solidFill>
                <a:latin typeface="Noto Sans KR" pitchFamily="34" charset="0"/>
                <a:ea typeface="Noto Sans KR" pitchFamily="34" charset="-122"/>
                <a:cs typeface="Noto Sans KR" pitchFamily="34" charset="-120"/>
              </a:rPr>
              <a:t>안정성(Stability): Trust Region Policy Optimization(TRPO)의 장점을 유지하면서 구현 복잡도를 낮춤</a:t>
            </a:r>
            <a:endParaRPr lang="en-US" sz="1000" dirty="0"/>
          </a:p>
        </p:txBody>
      </p:sp>
      <p:pic>
        <p:nvPicPr>
          <p:cNvPr id="37" name="Image 1" descr="preencoded.png"/>
          <p:cNvPicPr>
            <a:picLocks noChangeAspect="1"/>
          </p:cNvPicPr>
          <p:nvPr/>
        </p:nvPicPr>
        <p:blipFill>
          <a:blip r:embed="rId3"/>
          <a:srcRect/>
          <a:stretch/>
        </p:blipFill>
        <p:spPr>
          <a:xfrm>
            <a:off x="8755380" y="5086809"/>
            <a:ext cx="171907" cy="171907"/>
          </a:xfrm>
          <a:prstGeom prst="rect">
            <a:avLst/>
          </a:prstGeom>
        </p:spPr>
      </p:pic>
      <p:sp>
        <p:nvSpPr>
          <p:cNvPr id="38" name="Text 34"/>
          <p:cNvSpPr txBox="1"/>
          <p:nvPr/>
        </p:nvSpPr>
        <p:spPr>
          <a:xfrm>
            <a:off x="9022385" y="5057548"/>
            <a:ext cx="2386584" cy="590702"/>
          </a:xfrm>
          <a:prstGeom prst="rect">
            <a:avLst/>
          </a:prstGeom>
          <a:noFill/>
          <a:ln/>
        </p:spPr>
        <p:txBody>
          <a:bodyPr wrap="square" lIns="0" tIns="0" rIns="0" bIns="0" rtlCol="0" anchor="ctr"/>
          <a:lstStyle/>
          <a:p>
            <a:pPr marL="0" indent="0" algn="l">
              <a:buNone/>
            </a:pPr>
            <a:r>
              <a:rPr lang="en-US" sz="1000" dirty="0">
                <a:solidFill>
                  <a:srgbClr val="1E40AF"/>
                </a:solidFill>
                <a:latin typeface="Noto Sans KR" pitchFamily="34" charset="0"/>
                <a:ea typeface="Noto Sans KR" pitchFamily="34" charset="-122"/>
                <a:cs typeface="Noto Sans KR" pitchFamily="34" charset="-120"/>
              </a:rPr>
              <a:t>단순성(Simplicity): 1차 미분만 사용하여 계산 효율성이 높고 하이퍼파라미터에 덜 민감함</a:t>
            </a:r>
            <a:endParaRPr lang="en-US" sz="1000" dirty="0"/>
          </a:p>
        </p:txBody>
      </p:sp>
      <p:pic>
        <p:nvPicPr>
          <p:cNvPr id="39" name="Image 2" descr="preencoded.png"/>
          <p:cNvPicPr>
            <a:picLocks noChangeAspect="1"/>
          </p:cNvPicPr>
          <p:nvPr/>
        </p:nvPicPr>
        <p:blipFill>
          <a:blip r:embed="rId4"/>
          <a:srcRect t="-80" b="-80"/>
          <a:stretch/>
        </p:blipFill>
        <p:spPr>
          <a:xfrm>
            <a:off x="3215335" y="1771192"/>
            <a:ext cx="142646" cy="228600"/>
          </a:xfrm>
          <a:prstGeom prst="rect">
            <a:avLst/>
          </a:prstGeom>
        </p:spPr>
      </p:pic>
      <p:pic>
        <p:nvPicPr>
          <p:cNvPr id="40" name="Image 3" descr="preencoded.png"/>
          <p:cNvPicPr>
            <a:picLocks noChangeAspect="1"/>
          </p:cNvPicPr>
          <p:nvPr/>
        </p:nvPicPr>
        <p:blipFill>
          <a:blip r:embed="rId4"/>
          <a:srcRect t="-80" b="-80"/>
          <a:stretch/>
        </p:blipFill>
        <p:spPr>
          <a:xfrm>
            <a:off x="6025286" y="1771192"/>
            <a:ext cx="142646" cy="228600"/>
          </a:xfrm>
          <a:prstGeom prst="rect">
            <a:avLst/>
          </a:prstGeom>
        </p:spPr>
      </p:pic>
      <p:pic>
        <p:nvPicPr>
          <p:cNvPr id="41" name="Image 4" descr="preencoded.png"/>
          <p:cNvPicPr>
            <a:picLocks noChangeAspect="1"/>
          </p:cNvPicPr>
          <p:nvPr/>
        </p:nvPicPr>
        <p:blipFill>
          <a:blip r:embed="rId4"/>
          <a:srcRect t="-80" b="-80"/>
          <a:stretch/>
        </p:blipFill>
        <p:spPr>
          <a:xfrm>
            <a:off x="8835238" y="1771192"/>
            <a:ext cx="142646" cy="228600"/>
          </a:xfrm>
          <a:prstGeom prst="rect">
            <a:avLst/>
          </a:prstGeom>
        </p:spPr>
      </p:pic>
      <p:sp>
        <p:nvSpPr>
          <p:cNvPr id="42" name="Shape 35"/>
          <p:cNvSpPr/>
          <p:nvPr/>
        </p:nvSpPr>
        <p:spPr>
          <a:xfrm>
            <a:off x="1548079" y="1437436"/>
            <a:ext cx="666598" cy="666598"/>
          </a:xfrm>
          <a:prstGeom prst="ellipse">
            <a:avLst/>
          </a:prstGeom>
          <a:solidFill>
            <a:srgbClr val="FFFFFF"/>
          </a:solidFill>
          <a:ln w="25400">
            <a:solidFill>
              <a:srgbClr val="3B82F6"/>
            </a:solidFill>
            <a:prstDash val="solid"/>
          </a:ln>
          <a:effectLst>
            <a:outerShdw blurRad="63500" dist="38100" dir="5400000" algn="bl" rotWithShape="0">
              <a:srgbClr val="000000">
                <a:alpha val="5000"/>
              </a:srgbClr>
            </a:outerShdw>
          </a:effectLst>
        </p:spPr>
      </p:sp>
      <p:pic>
        <p:nvPicPr>
          <p:cNvPr id="43" name="Image 5" descr="preencoded.png"/>
          <p:cNvPicPr>
            <a:picLocks noChangeAspect="1"/>
          </p:cNvPicPr>
          <p:nvPr/>
        </p:nvPicPr>
        <p:blipFill>
          <a:blip r:embed="rId5"/>
          <a:srcRect/>
          <a:stretch/>
        </p:blipFill>
        <p:spPr>
          <a:xfrm>
            <a:off x="1747418" y="1637689"/>
            <a:ext cx="267005" cy="267005"/>
          </a:xfrm>
          <a:prstGeom prst="rect">
            <a:avLst/>
          </a:prstGeom>
        </p:spPr>
      </p:pic>
      <p:sp>
        <p:nvSpPr>
          <p:cNvPr id="44" name="Shape 36"/>
          <p:cNvSpPr/>
          <p:nvPr/>
        </p:nvSpPr>
        <p:spPr>
          <a:xfrm>
            <a:off x="4358030" y="1437436"/>
            <a:ext cx="666598" cy="666598"/>
          </a:xfrm>
          <a:prstGeom prst="ellipse">
            <a:avLst/>
          </a:prstGeom>
          <a:solidFill>
            <a:srgbClr val="FFFFFF"/>
          </a:solidFill>
          <a:ln w="25400">
            <a:solidFill>
              <a:srgbClr val="10B981"/>
            </a:solidFill>
            <a:prstDash val="solid"/>
          </a:ln>
          <a:effectLst>
            <a:outerShdw blurRad="63500" dist="38100" dir="5400000" algn="bl" rotWithShape="0">
              <a:srgbClr val="000000">
                <a:alpha val="5000"/>
              </a:srgbClr>
            </a:outerShdw>
          </a:effectLst>
        </p:spPr>
      </p:sp>
      <p:pic>
        <p:nvPicPr>
          <p:cNvPr id="45" name="Image 6" descr="preencoded.png"/>
          <p:cNvPicPr>
            <a:picLocks noChangeAspect="1"/>
          </p:cNvPicPr>
          <p:nvPr/>
        </p:nvPicPr>
        <p:blipFill>
          <a:blip r:embed="rId6"/>
          <a:srcRect/>
          <a:stretch/>
        </p:blipFill>
        <p:spPr>
          <a:xfrm>
            <a:off x="4557370" y="1637689"/>
            <a:ext cx="267005" cy="267005"/>
          </a:xfrm>
          <a:prstGeom prst="rect">
            <a:avLst/>
          </a:prstGeom>
        </p:spPr>
      </p:pic>
      <p:sp>
        <p:nvSpPr>
          <p:cNvPr id="46" name="Shape 37"/>
          <p:cNvSpPr/>
          <p:nvPr/>
        </p:nvSpPr>
        <p:spPr>
          <a:xfrm>
            <a:off x="7167982" y="1437436"/>
            <a:ext cx="666598" cy="666598"/>
          </a:xfrm>
          <a:prstGeom prst="ellipse">
            <a:avLst/>
          </a:prstGeom>
          <a:solidFill>
            <a:srgbClr val="FFFFFF"/>
          </a:solidFill>
          <a:ln w="25400">
            <a:solidFill>
              <a:srgbClr val="8B5CF6"/>
            </a:solidFill>
            <a:prstDash val="solid"/>
          </a:ln>
          <a:effectLst>
            <a:outerShdw blurRad="63500" dist="38100" dir="5400000" algn="bl" rotWithShape="0">
              <a:srgbClr val="000000">
                <a:alpha val="5000"/>
              </a:srgbClr>
            </a:outerShdw>
          </a:effectLst>
        </p:spPr>
      </p:sp>
      <p:pic>
        <p:nvPicPr>
          <p:cNvPr id="47" name="Image 7" descr="preencoded.png"/>
          <p:cNvPicPr>
            <a:picLocks noChangeAspect="1"/>
          </p:cNvPicPr>
          <p:nvPr/>
        </p:nvPicPr>
        <p:blipFill>
          <a:blip r:embed="rId7"/>
          <a:srcRect/>
          <a:stretch/>
        </p:blipFill>
        <p:spPr>
          <a:xfrm>
            <a:off x="7334402" y="1637689"/>
            <a:ext cx="333756" cy="267005"/>
          </a:xfrm>
          <a:prstGeom prst="rect">
            <a:avLst/>
          </a:prstGeom>
        </p:spPr>
      </p:pic>
      <p:sp>
        <p:nvSpPr>
          <p:cNvPr id="48" name="Shape 38"/>
          <p:cNvSpPr/>
          <p:nvPr/>
        </p:nvSpPr>
        <p:spPr>
          <a:xfrm>
            <a:off x="9977018" y="1437436"/>
            <a:ext cx="666598" cy="666598"/>
          </a:xfrm>
          <a:prstGeom prst="ellipse">
            <a:avLst/>
          </a:prstGeom>
          <a:solidFill>
            <a:srgbClr val="FFFFFF"/>
          </a:solidFill>
          <a:ln w="25400">
            <a:solidFill>
              <a:srgbClr val="F59E0B"/>
            </a:solidFill>
            <a:prstDash val="solid"/>
          </a:ln>
          <a:effectLst>
            <a:outerShdw blurRad="63500" dist="38100" dir="5400000" algn="bl" rotWithShape="0">
              <a:srgbClr val="000000">
                <a:alpha val="5000"/>
              </a:srgbClr>
            </a:outerShdw>
          </a:effectLst>
        </p:spPr>
      </p:sp>
      <p:pic>
        <p:nvPicPr>
          <p:cNvPr id="49" name="Image 8" descr="preencoded.png"/>
          <p:cNvPicPr>
            <a:picLocks noChangeAspect="1"/>
          </p:cNvPicPr>
          <p:nvPr/>
        </p:nvPicPr>
        <p:blipFill>
          <a:blip r:embed="rId8"/>
          <a:srcRect/>
          <a:stretch/>
        </p:blipFill>
        <p:spPr>
          <a:xfrm>
            <a:off x="10177272" y="1637689"/>
            <a:ext cx="267005" cy="26700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6" name="Text 4"/>
          <p:cNvSpPr txBox="1"/>
          <p:nvPr/>
        </p:nvSpPr>
        <p:spPr>
          <a:xfrm>
            <a:off x="571500" y="218125"/>
            <a:ext cx="5106010" cy="457200"/>
          </a:xfrm>
          <a:prstGeom prst="rect">
            <a:avLst/>
          </a:prstGeom>
          <a:noFill/>
          <a:ln/>
        </p:spPr>
        <p:txBody>
          <a:bodyPr wrap="square" lIns="0" tIns="0" rIns="0" bIns="0" rtlCol="0" anchor="ctr"/>
          <a:lstStyle/>
          <a:p>
            <a:pPr marL="0" indent="0" algn="l">
              <a:buNone/>
            </a:pPr>
            <a:r>
              <a:rPr lang="en-US" sz="2400" b="1" dirty="0">
                <a:solidFill>
                  <a:srgbClr val="111827"/>
                </a:solidFill>
                <a:latin typeface="Noto Sans KR" pitchFamily="34" charset="0"/>
                <a:ea typeface="Noto Sans KR" pitchFamily="34" charset="-122"/>
                <a:cs typeface="Noto Sans KR" pitchFamily="34" charset="-120"/>
              </a:rPr>
              <a:t>모델 아키텍처 (Multi-Modal LSTM)</a:t>
            </a:r>
            <a:endParaRPr lang="en-US" sz="2400" dirty="0"/>
          </a:p>
        </p:txBody>
      </p:sp>
      <p:sp>
        <p:nvSpPr>
          <p:cNvPr id="9" name="Shape 6"/>
          <p:cNvSpPr/>
          <p:nvPr/>
        </p:nvSpPr>
        <p:spPr>
          <a:xfrm>
            <a:off x="761695" y="1910622"/>
            <a:ext cx="2381098" cy="1133856"/>
          </a:xfrm>
          <a:prstGeom prst="roundRect">
            <a:avLst>
              <a:gd name="adj" fmla="val 6777"/>
            </a:avLst>
          </a:prstGeom>
          <a:solidFill>
            <a:srgbClr val="F9FAFB"/>
          </a:solidFill>
          <a:ln w="25400">
            <a:solidFill>
              <a:srgbClr val="E5E7EB"/>
            </a:solidFill>
            <a:prstDash val="solid"/>
          </a:ln>
        </p:spPr>
      </p:sp>
      <p:pic>
        <p:nvPicPr>
          <p:cNvPr id="10" name="Image 1" descr="preencoded.png"/>
          <p:cNvPicPr>
            <a:picLocks noChangeAspect="1"/>
          </p:cNvPicPr>
          <p:nvPr/>
        </p:nvPicPr>
        <p:blipFill>
          <a:blip r:embed="rId3"/>
          <a:srcRect/>
          <a:stretch/>
        </p:blipFill>
        <p:spPr>
          <a:xfrm>
            <a:off x="1857146" y="2072471"/>
            <a:ext cx="190195" cy="190195"/>
          </a:xfrm>
          <a:prstGeom prst="rect">
            <a:avLst/>
          </a:prstGeom>
        </p:spPr>
      </p:pic>
      <p:sp>
        <p:nvSpPr>
          <p:cNvPr id="11" name="Text 7"/>
          <p:cNvSpPr txBox="1"/>
          <p:nvPr/>
        </p:nvSpPr>
        <p:spPr>
          <a:xfrm>
            <a:off x="1470355" y="2363250"/>
            <a:ext cx="1086307" cy="228600"/>
          </a:xfrm>
          <a:prstGeom prst="rect">
            <a:avLst/>
          </a:prstGeom>
          <a:noFill/>
          <a:ln/>
        </p:spPr>
        <p:txBody>
          <a:bodyPr wrap="square" lIns="0" tIns="0" rIns="0" bIns="0" rtlCol="0" anchor="ctr"/>
          <a:lstStyle/>
          <a:p>
            <a:pPr marL="0" indent="0" algn="ctr">
              <a:buNone/>
            </a:pPr>
            <a:r>
              <a:rPr lang="en-US" sz="1200" b="1" dirty="0">
                <a:solidFill>
                  <a:srgbClr val="1F2937"/>
                </a:solidFill>
                <a:latin typeface="Noto Sans KR" pitchFamily="34" charset="0"/>
                <a:ea typeface="Noto Sans KR" pitchFamily="34" charset="-122"/>
                <a:cs typeface="Noto Sans KR" pitchFamily="34" charset="-120"/>
              </a:rPr>
              <a:t>Price History</a:t>
            </a:r>
            <a:endParaRPr lang="en-US" sz="1200" dirty="0"/>
          </a:p>
        </p:txBody>
      </p:sp>
      <p:sp>
        <p:nvSpPr>
          <p:cNvPr id="12" name="Shape 8"/>
          <p:cNvSpPr/>
          <p:nvPr/>
        </p:nvSpPr>
        <p:spPr>
          <a:xfrm>
            <a:off x="1453896" y="2639399"/>
            <a:ext cx="1000354" cy="237744"/>
          </a:xfrm>
          <a:prstGeom prst="roundRect">
            <a:avLst>
              <a:gd name="adj" fmla="val 61538"/>
            </a:avLst>
          </a:prstGeom>
          <a:solidFill>
            <a:srgbClr val="EFF6FF"/>
          </a:solidFill>
          <a:ln/>
        </p:spPr>
      </p:sp>
      <p:sp>
        <p:nvSpPr>
          <p:cNvPr id="13" name="Text 9"/>
          <p:cNvSpPr txBox="1"/>
          <p:nvPr/>
        </p:nvSpPr>
        <p:spPr>
          <a:xfrm>
            <a:off x="1511503" y="2676890"/>
            <a:ext cx="986638" cy="152705"/>
          </a:xfrm>
          <a:prstGeom prst="rect">
            <a:avLst/>
          </a:prstGeom>
          <a:noFill/>
          <a:ln/>
        </p:spPr>
        <p:txBody>
          <a:bodyPr wrap="square" lIns="0" tIns="0" rIns="0" bIns="0" rtlCol="0" anchor="ctr"/>
          <a:lstStyle/>
          <a:p>
            <a:pPr marL="0" indent="0" algn="ctr">
              <a:buNone/>
            </a:pPr>
            <a:r>
              <a:rPr lang="en-US" sz="1000" dirty="0">
                <a:solidFill>
                  <a:srgbClr val="2563EB"/>
                </a:solidFill>
                <a:latin typeface="Courier New" pitchFamily="34" charset="0"/>
                <a:ea typeface="Courier New" pitchFamily="34" charset="-122"/>
                <a:cs typeface="Courier New" pitchFamily="34" charset="-120"/>
              </a:rPr>
              <a:t>(12, 20, 5)</a:t>
            </a:r>
            <a:endParaRPr lang="en-US" sz="1000" dirty="0"/>
          </a:p>
        </p:txBody>
      </p:sp>
      <p:sp>
        <p:nvSpPr>
          <p:cNvPr id="14" name="Shape 10"/>
          <p:cNvSpPr/>
          <p:nvPr/>
        </p:nvSpPr>
        <p:spPr>
          <a:xfrm>
            <a:off x="761695" y="3478294"/>
            <a:ext cx="2381098" cy="1133856"/>
          </a:xfrm>
          <a:prstGeom prst="roundRect">
            <a:avLst>
              <a:gd name="adj" fmla="val 6777"/>
            </a:avLst>
          </a:prstGeom>
          <a:solidFill>
            <a:srgbClr val="F9FAFB"/>
          </a:solidFill>
          <a:ln w="25400">
            <a:solidFill>
              <a:srgbClr val="E5E7EB"/>
            </a:solidFill>
            <a:prstDash val="solid"/>
          </a:ln>
        </p:spPr>
      </p:sp>
      <p:pic>
        <p:nvPicPr>
          <p:cNvPr id="15" name="Image 2" descr="preencoded.png"/>
          <p:cNvPicPr>
            <a:picLocks noChangeAspect="1"/>
          </p:cNvPicPr>
          <p:nvPr/>
        </p:nvPicPr>
        <p:blipFill>
          <a:blip r:embed="rId4"/>
          <a:srcRect/>
          <a:stretch/>
        </p:blipFill>
        <p:spPr>
          <a:xfrm>
            <a:off x="1857146" y="3640143"/>
            <a:ext cx="190195" cy="190195"/>
          </a:xfrm>
          <a:prstGeom prst="rect">
            <a:avLst/>
          </a:prstGeom>
        </p:spPr>
      </p:pic>
      <p:sp>
        <p:nvSpPr>
          <p:cNvPr id="16" name="Text 11"/>
          <p:cNvSpPr txBox="1"/>
          <p:nvPr/>
        </p:nvSpPr>
        <p:spPr>
          <a:xfrm>
            <a:off x="1380744" y="3930922"/>
            <a:ext cx="1257300" cy="228600"/>
          </a:xfrm>
          <a:prstGeom prst="rect">
            <a:avLst/>
          </a:prstGeom>
          <a:noFill/>
          <a:ln/>
        </p:spPr>
        <p:txBody>
          <a:bodyPr wrap="square" lIns="0" tIns="0" rIns="0" bIns="0" rtlCol="0" anchor="ctr"/>
          <a:lstStyle/>
          <a:p>
            <a:pPr marL="0" indent="0" algn="ctr">
              <a:buNone/>
            </a:pPr>
            <a:r>
              <a:rPr lang="en-US" sz="1200" b="1" dirty="0">
                <a:solidFill>
                  <a:srgbClr val="1F2937"/>
                </a:solidFill>
                <a:latin typeface="Noto Sans KR" pitchFamily="34" charset="0"/>
                <a:ea typeface="Noto Sans KR" pitchFamily="34" charset="-122"/>
                <a:cs typeface="Noto Sans KR" pitchFamily="34" charset="-120"/>
              </a:rPr>
              <a:t>Tech Indicators</a:t>
            </a:r>
            <a:endParaRPr lang="en-US" sz="1200" dirty="0"/>
          </a:p>
        </p:txBody>
      </p:sp>
      <p:sp>
        <p:nvSpPr>
          <p:cNvPr id="17" name="Shape 12"/>
          <p:cNvSpPr/>
          <p:nvPr/>
        </p:nvSpPr>
        <p:spPr>
          <a:xfrm>
            <a:off x="1613916" y="4207071"/>
            <a:ext cx="685800" cy="237744"/>
          </a:xfrm>
          <a:prstGeom prst="roundRect">
            <a:avLst>
              <a:gd name="adj" fmla="val 61538"/>
            </a:avLst>
          </a:prstGeom>
          <a:solidFill>
            <a:srgbClr val="EFF6FF"/>
          </a:solidFill>
          <a:ln/>
        </p:spPr>
      </p:sp>
      <p:sp>
        <p:nvSpPr>
          <p:cNvPr id="18" name="Text 13"/>
          <p:cNvSpPr txBox="1"/>
          <p:nvPr/>
        </p:nvSpPr>
        <p:spPr>
          <a:xfrm>
            <a:off x="1671523" y="4245476"/>
            <a:ext cx="672084" cy="152705"/>
          </a:xfrm>
          <a:prstGeom prst="rect">
            <a:avLst/>
          </a:prstGeom>
          <a:noFill/>
          <a:ln/>
        </p:spPr>
        <p:txBody>
          <a:bodyPr wrap="square" lIns="0" tIns="0" rIns="0" bIns="0" rtlCol="0" anchor="ctr"/>
          <a:lstStyle/>
          <a:p>
            <a:pPr marL="0" indent="0" algn="ctr">
              <a:buNone/>
            </a:pPr>
            <a:r>
              <a:rPr lang="en-US" sz="1000" dirty="0">
                <a:solidFill>
                  <a:srgbClr val="2563EB"/>
                </a:solidFill>
                <a:latin typeface="Courier New" pitchFamily="34" charset="0"/>
                <a:ea typeface="Courier New" pitchFamily="34" charset="-122"/>
                <a:cs typeface="Courier New" pitchFamily="34" charset="-120"/>
              </a:rPr>
              <a:t>(12, 6)</a:t>
            </a:r>
            <a:endParaRPr lang="en-US" sz="1000" dirty="0"/>
          </a:p>
        </p:txBody>
      </p:sp>
      <p:sp>
        <p:nvSpPr>
          <p:cNvPr id="19" name="Shape 14"/>
          <p:cNvSpPr/>
          <p:nvPr/>
        </p:nvSpPr>
        <p:spPr>
          <a:xfrm>
            <a:off x="761695" y="4981609"/>
            <a:ext cx="2381098" cy="1133856"/>
          </a:xfrm>
          <a:prstGeom prst="roundRect">
            <a:avLst>
              <a:gd name="adj" fmla="val 6777"/>
            </a:avLst>
          </a:prstGeom>
          <a:solidFill>
            <a:srgbClr val="F9FAFB"/>
          </a:solidFill>
          <a:ln w="25400">
            <a:solidFill>
              <a:srgbClr val="E5E7EB"/>
            </a:solidFill>
            <a:prstDash val="solid"/>
          </a:ln>
        </p:spPr>
      </p:sp>
      <p:pic>
        <p:nvPicPr>
          <p:cNvPr id="20" name="Image 3" descr="preencoded.png"/>
          <p:cNvPicPr>
            <a:picLocks noChangeAspect="1"/>
          </p:cNvPicPr>
          <p:nvPr/>
        </p:nvPicPr>
        <p:blipFill>
          <a:blip r:embed="rId5"/>
          <a:srcRect/>
          <a:stretch/>
        </p:blipFill>
        <p:spPr>
          <a:xfrm>
            <a:off x="1857146" y="5143458"/>
            <a:ext cx="190195" cy="190195"/>
          </a:xfrm>
          <a:prstGeom prst="rect">
            <a:avLst/>
          </a:prstGeom>
        </p:spPr>
      </p:pic>
      <p:sp>
        <p:nvSpPr>
          <p:cNvPr id="21" name="Text 15"/>
          <p:cNvSpPr txBox="1"/>
          <p:nvPr/>
        </p:nvSpPr>
        <p:spPr>
          <a:xfrm>
            <a:off x="1408176" y="5433323"/>
            <a:ext cx="1209751" cy="228600"/>
          </a:xfrm>
          <a:prstGeom prst="rect">
            <a:avLst/>
          </a:prstGeom>
          <a:noFill/>
          <a:ln/>
        </p:spPr>
        <p:txBody>
          <a:bodyPr wrap="square" lIns="0" tIns="0" rIns="0" bIns="0" rtlCol="0" anchor="ctr"/>
          <a:lstStyle/>
          <a:p>
            <a:pPr marL="0" indent="0" algn="ctr">
              <a:buNone/>
            </a:pPr>
            <a:r>
              <a:rPr lang="en-US" sz="1200" b="1" dirty="0">
                <a:solidFill>
                  <a:srgbClr val="1F2937"/>
                </a:solidFill>
                <a:latin typeface="Noto Sans KR" pitchFamily="34" charset="0"/>
                <a:ea typeface="Noto Sans KR" pitchFamily="34" charset="-122"/>
                <a:cs typeface="Noto Sans KR" pitchFamily="34" charset="-120"/>
              </a:rPr>
              <a:t>Portfolio State</a:t>
            </a:r>
            <a:endParaRPr lang="en-US" sz="1200" dirty="0"/>
          </a:p>
        </p:txBody>
      </p:sp>
      <p:sp>
        <p:nvSpPr>
          <p:cNvPr id="22" name="Shape 16"/>
          <p:cNvSpPr/>
          <p:nvPr/>
        </p:nvSpPr>
        <p:spPr>
          <a:xfrm>
            <a:off x="1734617" y="5710386"/>
            <a:ext cx="437998" cy="237744"/>
          </a:xfrm>
          <a:prstGeom prst="roundRect">
            <a:avLst>
              <a:gd name="adj" fmla="val 61538"/>
            </a:avLst>
          </a:prstGeom>
          <a:solidFill>
            <a:srgbClr val="EFF6FF"/>
          </a:solidFill>
          <a:ln/>
        </p:spPr>
      </p:sp>
      <p:sp>
        <p:nvSpPr>
          <p:cNvPr id="23" name="Text 17"/>
          <p:cNvSpPr txBox="1"/>
          <p:nvPr/>
        </p:nvSpPr>
        <p:spPr>
          <a:xfrm>
            <a:off x="1792224" y="5747876"/>
            <a:ext cx="424282" cy="152705"/>
          </a:xfrm>
          <a:prstGeom prst="rect">
            <a:avLst/>
          </a:prstGeom>
          <a:noFill/>
          <a:ln/>
        </p:spPr>
        <p:txBody>
          <a:bodyPr wrap="square" lIns="0" tIns="0" rIns="0" bIns="0" rtlCol="0" anchor="ctr"/>
          <a:lstStyle/>
          <a:p>
            <a:pPr marL="0" indent="0" algn="ctr">
              <a:buNone/>
            </a:pPr>
            <a:r>
              <a:rPr lang="en-US" sz="1000" dirty="0">
                <a:solidFill>
                  <a:srgbClr val="2563EB"/>
                </a:solidFill>
                <a:latin typeface="Courier New" pitchFamily="34" charset="0"/>
                <a:ea typeface="Courier New" pitchFamily="34" charset="-122"/>
                <a:cs typeface="Courier New" pitchFamily="34" charset="-120"/>
              </a:rPr>
              <a:t>(3,)</a:t>
            </a:r>
            <a:endParaRPr lang="en-US" sz="1000" dirty="0"/>
          </a:p>
        </p:txBody>
      </p:sp>
      <p:sp>
        <p:nvSpPr>
          <p:cNvPr id="24" name="Shape 18"/>
          <p:cNvSpPr/>
          <p:nvPr/>
        </p:nvSpPr>
        <p:spPr>
          <a:xfrm>
            <a:off x="4063594" y="1891178"/>
            <a:ext cx="2095805" cy="1333195"/>
          </a:xfrm>
          <a:prstGeom prst="roundRect">
            <a:avLst>
              <a:gd name="adj" fmla="val 4899"/>
            </a:avLst>
          </a:prstGeom>
          <a:solidFill>
            <a:srgbClr val="EFF6FF"/>
          </a:solidFill>
          <a:ln w="25400">
            <a:solidFill>
              <a:srgbClr val="3B82F6"/>
            </a:solidFill>
            <a:prstDash val="solid"/>
          </a:ln>
        </p:spPr>
      </p:sp>
      <p:sp>
        <p:nvSpPr>
          <p:cNvPr id="25" name="Text 19"/>
          <p:cNvSpPr txBox="1"/>
          <p:nvPr/>
        </p:nvSpPr>
        <p:spPr>
          <a:xfrm>
            <a:off x="4678985" y="2053027"/>
            <a:ext cx="952805" cy="162763"/>
          </a:xfrm>
          <a:prstGeom prst="rect">
            <a:avLst/>
          </a:prstGeom>
          <a:noFill/>
          <a:ln/>
        </p:spPr>
        <p:txBody>
          <a:bodyPr wrap="square" lIns="0" tIns="0" rIns="0" bIns="0" rtlCol="0" anchor="ctr"/>
          <a:lstStyle/>
          <a:p>
            <a:pPr marL="0" indent="0" algn="ctr">
              <a:buNone/>
            </a:pPr>
            <a:r>
              <a:rPr lang="en-US" sz="900" b="1" dirty="0">
                <a:solidFill>
                  <a:srgbClr val="3B82F6"/>
                </a:solidFill>
                <a:latin typeface="Noto Sans KR" pitchFamily="34" charset="0"/>
                <a:ea typeface="Noto Sans KR" pitchFamily="34" charset="-122"/>
                <a:cs typeface="Noto Sans KR" pitchFamily="34" charset="-120"/>
              </a:rPr>
              <a:t>LSTM ENCODER</a:t>
            </a:r>
            <a:endParaRPr lang="en-US" sz="900" dirty="0"/>
          </a:p>
        </p:txBody>
      </p:sp>
      <p:sp>
        <p:nvSpPr>
          <p:cNvPr id="26" name="Text 20"/>
          <p:cNvSpPr txBox="1"/>
          <p:nvPr/>
        </p:nvSpPr>
        <p:spPr>
          <a:xfrm>
            <a:off x="4512564" y="2271568"/>
            <a:ext cx="1329538" cy="247802"/>
          </a:xfrm>
          <a:prstGeom prst="rect">
            <a:avLst/>
          </a:prstGeom>
          <a:noFill/>
          <a:ln/>
        </p:spPr>
        <p:txBody>
          <a:bodyPr wrap="square" lIns="0" tIns="0" rIns="0" bIns="0" rtlCol="0" anchor="ctr"/>
          <a:lstStyle/>
          <a:p>
            <a:pPr marL="0" indent="0" algn="ctr">
              <a:buNone/>
            </a:pPr>
            <a:r>
              <a:rPr lang="en-US" sz="1300" b="1" dirty="0">
                <a:solidFill>
                  <a:srgbClr val="1E40AF"/>
                </a:solidFill>
                <a:latin typeface="Noto Sans KR" pitchFamily="34" charset="0"/>
                <a:ea typeface="Noto Sans KR" pitchFamily="34" charset="-122"/>
                <a:cs typeface="Noto Sans KR" pitchFamily="34" charset="-120"/>
              </a:rPr>
              <a:t>Price Encoder</a:t>
            </a:r>
            <a:endParaRPr lang="en-US" sz="1300" dirty="0"/>
          </a:p>
        </p:txBody>
      </p:sp>
      <p:sp>
        <p:nvSpPr>
          <p:cNvPr id="27" name="Text 21"/>
          <p:cNvSpPr txBox="1"/>
          <p:nvPr/>
        </p:nvSpPr>
        <p:spPr>
          <a:xfrm>
            <a:off x="4567428" y="2566920"/>
            <a:ext cx="1196035" cy="191110"/>
          </a:xfrm>
          <a:prstGeom prst="rect">
            <a:avLst/>
          </a:prstGeom>
          <a:noFill/>
          <a:ln/>
        </p:spPr>
        <p:txBody>
          <a:bodyPr wrap="square" lIns="0" tIns="0" rIns="0" bIns="0" rtlCol="0" anchor="ctr"/>
          <a:lstStyle/>
          <a:p>
            <a:pPr marL="0" indent="0" algn="ctr">
              <a:buNone/>
            </a:pPr>
            <a:r>
              <a:rPr lang="en-US" sz="1000" dirty="0">
                <a:solidFill>
                  <a:srgbClr val="2563EB"/>
                </a:solidFill>
                <a:latin typeface="Noto Sans KR" pitchFamily="34" charset="0"/>
                <a:ea typeface="Noto Sans KR" pitchFamily="34" charset="-122"/>
                <a:cs typeface="Noto Sans KR" pitchFamily="34" charset="-120"/>
              </a:rPr>
              <a:t>Shared LSTM (64)</a:t>
            </a:r>
            <a:endParaRPr lang="en-US" sz="1000" dirty="0"/>
          </a:p>
        </p:txBody>
      </p:sp>
      <p:sp>
        <p:nvSpPr>
          <p:cNvPr id="28" name="Text 22"/>
          <p:cNvSpPr txBox="1"/>
          <p:nvPr/>
        </p:nvSpPr>
        <p:spPr>
          <a:xfrm>
            <a:off x="4318711" y="2747971"/>
            <a:ext cx="1677010" cy="314554"/>
          </a:xfrm>
          <a:prstGeom prst="rect">
            <a:avLst/>
          </a:prstGeom>
          <a:noFill/>
          <a:ln/>
        </p:spPr>
        <p:txBody>
          <a:bodyPr wrap="square" lIns="0" tIns="0" rIns="0" bIns="0" rtlCol="0" anchor="ctr"/>
          <a:lstStyle/>
          <a:p>
            <a:pPr marL="0" indent="0" algn="ctr">
              <a:buNone/>
            </a:pPr>
            <a:r>
              <a:rPr lang="en-US" sz="900" dirty="0">
                <a:solidFill>
                  <a:srgbClr val="6B7280"/>
                </a:solidFill>
                <a:latin typeface="Noto Sans KR" pitchFamily="34" charset="0"/>
                <a:ea typeface="Noto Sans KR" pitchFamily="34" charset="-122"/>
                <a:cs typeface="Noto Sans KR" pitchFamily="34" charset="-120"/>
              </a:rPr>
              <a:t>Asset-wise processing + Mean Aggregation</a:t>
            </a:r>
            <a:endParaRPr lang="en-US" sz="900" dirty="0"/>
          </a:p>
        </p:txBody>
      </p:sp>
      <p:sp>
        <p:nvSpPr>
          <p:cNvPr id="29" name="Shape 23"/>
          <p:cNvSpPr/>
          <p:nvPr/>
        </p:nvSpPr>
        <p:spPr>
          <a:xfrm>
            <a:off x="4063594" y="3544872"/>
            <a:ext cx="2095805" cy="1028700"/>
          </a:xfrm>
          <a:prstGeom prst="roundRect">
            <a:avLst>
              <a:gd name="adj" fmla="val 8230"/>
            </a:avLst>
          </a:prstGeom>
          <a:solidFill>
            <a:srgbClr val="EFF6FF"/>
          </a:solidFill>
          <a:ln w="25400">
            <a:solidFill>
              <a:srgbClr val="3B82F6"/>
            </a:solidFill>
            <a:prstDash val="solid"/>
          </a:ln>
        </p:spPr>
      </p:sp>
      <p:sp>
        <p:nvSpPr>
          <p:cNvPr id="30" name="Text 24"/>
          <p:cNvSpPr txBox="1"/>
          <p:nvPr/>
        </p:nvSpPr>
        <p:spPr>
          <a:xfrm>
            <a:off x="4708246" y="3706721"/>
            <a:ext cx="896112" cy="162763"/>
          </a:xfrm>
          <a:prstGeom prst="rect">
            <a:avLst/>
          </a:prstGeom>
          <a:noFill/>
          <a:ln/>
        </p:spPr>
        <p:txBody>
          <a:bodyPr wrap="square" lIns="0" tIns="0" rIns="0" bIns="0" rtlCol="0" anchor="ctr"/>
          <a:lstStyle/>
          <a:p>
            <a:pPr marL="0" indent="0" algn="ctr">
              <a:buNone/>
            </a:pPr>
            <a:r>
              <a:rPr lang="en-US" sz="900" b="1" dirty="0">
                <a:solidFill>
                  <a:srgbClr val="3B82F6"/>
                </a:solidFill>
                <a:latin typeface="Noto Sans KR" pitchFamily="34" charset="0"/>
                <a:ea typeface="Noto Sans KR" pitchFamily="34" charset="-122"/>
                <a:cs typeface="Noto Sans KR" pitchFamily="34" charset="-120"/>
              </a:rPr>
              <a:t>MLP ENCODER</a:t>
            </a:r>
            <a:endParaRPr lang="en-US" sz="900" dirty="0"/>
          </a:p>
        </p:txBody>
      </p:sp>
      <p:sp>
        <p:nvSpPr>
          <p:cNvPr id="31" name="Text 25"/>
          <p:cNvSpPr txBox="1"/>
          <p:nvPr/>
        </p:nvSpPr>
        <p:spPr>
          <a:xfrm>
            <a:off x="4537253" y="3925262"/>
            <a:ext cx="1281989" cy="247802"/>
          </a:xfrm>
          <a:prstGeom prst="rect">
            <a:avLst/>
          </a:prstGeom>
          <a:noFill/>
          <a:ln/>
        </p:spPr>
        <p:txBody>
          <a:bodyPr wrap="square" lIns="0" tIns="0" rIns="0" bIns="0" rtlCol="0" anchor="ctr"/>
          <a:lstStyle/>
          <a:p>
            <a:pPr marL="0" indent="0" algn="ctr">
              <a:buNone/>
            </a:pPr>
            <a:r>
              <a:rPr lang="en-US" sz="1300" b="1" dirty="0">
                <a:solidFill>
                  <a:srgbClr val="1E40AF"/>
                </a:solidFill>
                <a:latin typeface="Noto Sans KR" pitchFamily="34" charset="0"/>
                <a:ea typeface="Noto Sans KR" pitchFamily="34" charset="-122"/>
                <a:cs typeface="Noto Sans KR" pitchFamily="34" charset="-120"/>
              </a:rPr>
              <a:t>Indicator Enc</a:t>
            </a:r>
            <a:endParaRPr lang="en-US" sz="1300" dirty="0"/>
          </a:p>
        </p:txBody>
      </p:sp>
      <p:sp>
        <p:nvSpPr>
          <p:cNvPr id="32" name="Text 26"/>
          <p:cNvSpPr txBox="1"/>
          <p:nvPr/>
        </p:nvSpPr>
        <p:spPr>
          <a:xfrm>
            <a:off x="4593031" y="4220613"/>
            <a:ext cx="1138428" cy="191110"/>
          </a:xfrm>
          <a:prstGeom prst="rect">
            <a:avLst/>
          </a:prstGeom>
          <a:noFill/>
          <a:ln/>
        </p:spPr>
        <p:txBody>
          <a:bodyPr wrap="square" lIns="0" tIns="0" rIns="0" bIns="0" rtlCol="0" anchor="ctr"/>
          <a:lstStyle/>
          <a:p>
            <a:pPr marL="0" indent="0" algn="ctr">
              <a:buNone/>
            </a:pPr>
            <a:r>
              <a:rPr lang="en-US" sz="1000" dirty="0">
                <a:solidFill>
                  <a:srgbClr val="2563EB"/>
                </a:solidFill>
                <a:latin typeface="Noto Sans KR" pitchFamily="34" charset="0"/>
                <a:ea typeface="Noto Sans KR" pitchFamily="34" charset="-122"/>
                <a:cs typeface="Noto Sans KR" pitchFamily="34" charset="-120"/>
              </a:rPr>
              <a:t>Dense Layer (32)</a:t>
            </a:r>
            <a:endParaRPr lang="en-US" sz="1000" dirty="0"/>
          </a:p>
        </p:txBody>
      </p:sp>
      <p:sp>
        <p:nvSpPr>
          <p:cNvPr id="33" name="Shape 27"/>
          <p:cNvSpPr/>
          <p:nvPr/>
        </p:nvSpPr>
        <p:spPr>
          <a:xfrm>
            <a:off x="4063594" y="4940461"/>
            <a:ext cx="2095805" cy="1028700"/>
          </a:xfrm>
          <a:prstGeom prst="roundRect">
            <a:avLst>
              <a:gd name="adj" fmla="val 8230"/>
            </a:avLst>
          </a:prstGeom>
          <a:solidFill>
            <a:srgbClr val="EFF6FF"/>
          </a:solidFill>
          <a:ln w="25400">
            <a:solidFill>
              <a:srgbClr val="3B82F6"/>
            </a:solidFill>
            <a:prstDash val="solid"/>
          </a:ln>
        </p:spPr>
      </p:sp>
      <p:sp>
        <p:nvSpPr>
          <p:cNvPr id="34" name="Text 28"/>
          <p:cNvSpPr txBox="1"/>
          <p:nvPr/>
        </p:nvSpPr>
        <p:spPr>
          <a:xfrm>
            <a:off x="4708246" y="5103224"/>
            <a:ext cx="896112" cy="162763"/>
          </a:xfrm>
          <a:prstGeom prst="rect">
            <a:avLst/>
          </a:prstGeom>
          <a:noFill/>
          <a:ln/>
        </p:spPr>
        <p:txBody>
          <a:bodyPr wrap="square" lIns="0" tIns="0" rIns="0" bIns="0" rtlCol="0" anchor="ctr"/>
          <a:lstStyle/>
          <a:p>
            <a:pPr marL="0" indent="0" algn="ctr">
              <a:buNone/>
            </a:pPr>
            <a:r>
              <a:rPr lang="en-US" sz="900" b="1" dirty="0">
                <a:solidFill>
                  <a:srgbClr val="3B82F6"/>
                </a:solidFill>
                <a:latin typeface="Noto Sans KR" pitchFamily="34" charset="0"/>
                <a:ea typeface="Noto Sans KR" pitchFamily="34" charset="-122"/>
                <a:cs typeface="Noto Sans KR" pitchFamily="34" charset="-120"/>
              </a:rPr>
              <a:t>MLP ENCODER</a:t>
            </a:r>
            <a:endParaRPr lang="en-US" sz="900" dirty="0"/>
          </a:p>
        </p:txBody>
      </p:sp>
      <p:sp>
        <p:nvSpPr>
          <p:cNvPr id="35" name="Text 29"/>
          <p:cNvSpPr txBox="1"/>
          <p:nvPr/>
        </p:nvSpPr>
        <p:spPr>
          <a:xfrm>
            <a:off x="4544568" y="5321766"/>
            <a:ext cx="1271930" cy="247802"/>
          </a:xfrm>
          <a:prstGeom prst="rect">
            <a:avLst/>
          </a:prstGeom>
          <a:noFill/>
          <a:ln/>
        </p:spPr>
        <p:txBody>
          <a:bodyPr wrap="square" lIns="0" tIns="0" rIns="0" bIns="0" rtlCol="0" anchor="ctr"/>
          <a:lstStyle/>
          <a:p>
            <a:pPr marL="0" indent="0" algn="ctr">
              <a:buNone/>
            </a:pPr>
            <a:r>
              <a:rPr lang="en-US" sz="1300" b="1" dirty="0">
                <a:solidFill>
                  <a:srgbClr val="1E40AF"/>
                </a:solidFill>
                <a:latin typeface="Noto Sans KR" pitchFamily="34" charset="0"/>
                <a:ea typeface="Noto Sans KR" pitchFamily="34" charset="-122"/>
                <a:cs typeface="Noto Sans KR" pitchFamily="34" charset="-120"/>
              </a:rPr>
              <a:t>Portfolio Enc</a:t>
            </a:r>
            <a:endParaRPr lang="en-US" sz="1300" dirty="0"/>
          </a:p>
        </p:txBody>
      </p:sp>
      <p:sp>
        <p:nvSpPr>
          <p:cNvPr id="36" name="Text 30"/>
          <p:cNvSpPr txBox="1"/>
          <p:nvPr/>
        </p:nvSpPr>
        <p:spPr>
          <a:xfrm>
            <a:off x="4593031" y="5617117"/>
            <a:ext cx="1138428" cy="191110"/>
          </a:xfrm>
          <a:prstGeom prst="rect">
            <a:avLst/>
          </a:prstGeom>
          <a:noFill/>
          <a:ln/>
        </p:spPr>
        <p:txBody>
          <a:bodyPr wrap="square" lIns="0" tIns="0" rIns="0" bIns="0" rtlCol="0" anchor="ctr"/>
          <a:lstStyle/>
          <a:p>
            <a:pPr marL="0" indent="0" algn="ctr">
              <a:buNone/>
            </a:pPr>
            <a:r>
              <a:rPr lang="en-US" sz="1000" dirty="0">
                <a:solidFill>
                  <a:srgbClr val="2563EB"/>
                </a:solidFill>
                <a:latin typeface="Noto Sans KR" pitchFamily="34" charset="0"/>
                <a:ea typeface="Noto Sans KR" pitchFamily="34" charset="-122"/>
                <a:cs typeface="Noto Sans KR" pitchFamily="34" charset="-120"/>
              </a:rPr>
              <a:t>Dense Layer (16)</a:t>
            </a:r>
            <a:endParaRPr lang="en-US" sz="1000" dirty="0"/>
          </a:p>
        </p:txBody>
      </p:sp>
      <p:sp>
        <p:nvSpPr>
          <p:cNvPr id="37" name="Shape 31"/>
          <p:cNvSpPr/>
          <p:nvPr/>
        </p:nvSpPr>
        <p:spPr>
          <a:xfrm>
            <a:off x="6890004" y="2131424"/>
            <a:ext cx="1714500" cy="3429000"/>
          </a:xfrm>
          <a:prstGeom prst="roundRect">
            <a:avLst>
              <a:gd name="adj" fmla="val 3556"/>
            </a:avLst>
          </a:prstGeom>
          <a:solidFill>
            <a:srgbClr val="FEF3C7"/>
          </a:solidFill>
          <a:ln w="25400">
            <a:solidFill>
              <a:srgbClr val="F59E0B"/>
            </a:solidFill>
            <a:prstDash val="solid"/>
          </a:ln>
          <a:effectLst>
            <a:outerShdw blurRad="63500" dist="38100" dir="5400000" algn="bl" rotWithShape="0">
              <a:srgbClr val="F59E0B">
                <a:alpha val="20000"/>
              </a:srgbClr>
            </a:outerShdw>
          </a:effectLst>
        </p:spPr>
      </p:sp>
      <p:pic>
        <p:nvPicPr>
          <p:cNvPr id="38" name="Image 4" descr="preencoded.png"/>
          <p:cNvPicPr>
            <a:picLocks noChangeAspect="1"/>
          </p:cNvPicPr>
          <p:nvPr/>
        </p:nvPicPr>
        <p:blipFill>
          <a:blip r:embed="rId6"/>
          <a:srcRect/>
          <a:stretch/>
        </p:blipFill>
        <p:spPr>
          <a:xfrm>
            <a:off x="7594092" y="2440491"/>
            <a:ext cx="304495" cy="304495"/>
          </a:xfrm>
          <a:prstGeom prst="rect">
            <a:avLst/>
          </a:prstGeom>
        </p:spPr>
      </p:pic>
      <p:sp>
        <p:nvSpPr>
          <p:cNvPr id="39" name="Text 32"/>
          <p:cNvSpPr txBox="1"/>
          <p:nvPr/>
        </p:nvSpPr>
        <p:spPr>
          <a:xfrm>
            <a:off x="7128662" y="2888547"/>
            <a:ext cx="1381658" cy="277063"/>
          </a:xfrm>
          <a:prstGeom prst="rect">
            <a:avLst/>
          </a:prstGeom>
          <a:noFill/>
          <a:ln/>
        </p:spPr>
        <p:txBody>
          <a:bodyPr wrap="square" lIns="0" tIns="0" rIns="0" bIns="0" rtlCol="0" anchor="ctr"/>
          <a:lstStyle/>
          <a:p>
            <a:pPr marL="0" indent="0" algn="ctr">
              <a:buNone/>
            </a:pPr>
            <a:r>
              <a:rPr lang="en-US" sz="1500" b="1" dirty="0">
                <a:solidFill>
                  <a:srgbClr val="92400E"/>
                </a:solidFill>
                <a:latin typeface="Noto Sans KR" pitchFamily="34" charset="0"/>
                <a:ea typeface="Noto Sans KR" pitchFamily="34" charset="-122"/>
                <a:cs typeface="Noto Sans KR" pitchFamily="34" charset="-120"/>
              </a:rPr>
              <a:t>Fusion Layer</a:t>
            </a:r>
            <a:endParaRPr lang="en-US" sz="1500" dirty="0"/>
          </a:p>
        </p:txBody>
      </p:sp>
      <p:sp>
        <p:nvSpPr>
          <p:cNvPr id="40" name="Text 33"/>
          <p:cNvSpPr txBox="1"/>
          <p:nvPr/>
        </p:nvSpPr>
        <p:spPr>
          <a:xfrm>
            <a:off x="7257593" y="3268938"/>
            <a:ext cx="1081735" cy="391363"/>
          </a:xfrm>
          <a:prstGeom prst="rect">
            <a:avLst/>
          </a:prstGeom>
          <a:noFill/>
          <a:ln/>
        </p:spPr>
        <p:txBody>
          <a:bodyPr wrap="square" lIns="0" tIns="0" rIns="0" bIns="0" rtlCol="0" anchor="ctr"/>
          <a:lstStyle/>
          <a:p>
            <a:pPr marL="0" indent="0" algn="ctr">
              <a:buNone/>
            </a:pPr>
            <a:r>
              <a:rPr lang="en-US" sz="1000" dirty="0">
                <a:solidFill>
                  <a:srgbClr val="B45309"/>
                </a:solidFill>
                <a:latin typeface="Noto Sans KR" pitchFamily="34" charset="0"/>
                <a:ea typeface="Noto Sans KR" pitchFamily="34" charset="-122"/>
                <a:cs typeface="Noto Sans KR" pitchFamily="34" charset="-120"/>
              </a:rPr>
              <a:t>Concatenate All Features</a:t>
            </a:r>
            <a:endParaRPr lang="en-US" sz="1000" dirty="0"/>
          </a:p>
        </p:txBody>
      </p:sp>
      <p:sp>
        <p:nvSpPr>
          <p:cNvPr id="41" name="Shape 34"/>
          <p:cNvSpPr/>
          <p:nvPr/>
        </p:nvSpPr>
        <p:spPr>
          <a:xfrm>
            <a:off x="7140550" y="3764543"/>
            <a:ext cx="1218895" cy="323698"/>
          </a:xfrm>
          <a:prstGeom prst="roundRect">
            <a:avLst>
              <a:gd name="adj" fmla="val 33234"/>
            </a:avLst>
          </a:prstGeom>
          <a:solidFill>
            <a:srgbClr val="FFFFFF"/>
          </a:solidFill>
          <a:ln w="12700">
            <a:solidFill>
              <a:srgbClr val="FDE68A"/>
            </a:solidFill>
            <a:prstDash val="solid"/>
          </a:ln>
        </p:spPr>
      </p:sp>
      <p:sp>
        <p:nvSpPr>
          <p:cNvPr id="42" name="Text 35"/>
          <p:cNvSpPr txBox="1"/>
          <p:nvPr/>
        </p:nvSpPr>
        <p:spPr>
          <a:xfrm>
            <a:off x="7263994" y="3840438"/>
            <a:ext cx="1071677" cy="191110"/>
          </a:xfrm>
          <a:prstGeom prst="rect">
            <a:avLst/>
          </a:prstGeom>
          <a:noFill/>
          <a:ln/>
        </p:spPr>
        <p:txBody>
          <a:bodyPr wrap="square" lIns="0" tIns="0" rIns="0" bIns="0" rtlCol="0" anchor="ctr"/>
          <a:lstStyle/>
          <a:p>
            <a:pPr marL="0" indent="0" algn="ctr">
              <a:buNone/>
            </a:pPr>
            <a:r>
              <a:rPr lang="en-US" sz="1000" b="1" dirty="0">
                <a:solidFill>
                  <a:srgbClr val="B45309"/>
                </a:solidFill>
                <a:latin typeface="Noto Sans KR" pitchFamily="34" charset="0"/>
                <a:ea typeface="Noto Sans KR" pitchFamily="34" charset="-122"/>
                <a:cs typeface="Noto Sans KR" pitchFamily="34" charset="-120"/>
              </a:rPr>
              <a:t>Input: 112 dim</a:t>
            </a:r>
            <a:endParaRPr lang="en-US" sz="1000" dirty="0"/>
          </a:p>
        </p:txBody>
      </p:sp>
      <p:sp>
        <p:nvSpPr>
          <p:cNvPr id="43" name="Text 36"/>
          <p:cNvSpPr txBox="1"/>
          <p:nvPr/>
        </p:nvSpPr>
        <p:spPr>
          <a:xfrm>
            <a:off x="7390181" y="4154991"/>
            <a:ext cx="800100" cy="162763"/>
          </a:xfrm>
          <a:prstGeom prst="rect">
            <a:avLst/>
          </a:prstGeom>
          <a:noFill/>
          <a:ln/>
        </p:spPr>
        <p:txBody>
          <a:bodyPr wrap="square" lIns="0" tIns="0" rIns="0" bIns="0" rtlCol="0" anchor="ctr"/>
          <a:lstStyle/>
          <a:p>
            <a:pPr marL="0" indent="0" algn="ctr">
              <a:buNone/>
            </a:pPr>
            <a:r>
              <a:rPr lang="en-US" sz="900" dirty="0">
                <a:solidFill>
                  <a:srgbClr val="92400E"/>
                </a:solidFill>
                <a:latin typeface="Noto Sans KR" pitchFamily="34" charset="0"/>
                <a:ea typeface="Noto Sans KR" pitchFamily="34" charset="-122"/>
                <a:cs typeface="Noto Sans KR" pitchFamily="34" charset="-120"/>
              </a:rPr>
              <a:t>(64 + 32 + 16)</a:t>
            </a:r>
            <a:endParaRPr lang="en-US" sz="900" dirty="0"/>
          </a:p>
        </p:txBody>
      </p:sp>
      <p:pic>
        <p:nvPicPr>
          <p:cNvPr id="44" name="Image 5" descr="preencoded.png"/>
          <p:cNvPicPr>
            <a:picLocks noChangeAspect="1"/>
          </p:cNvPicPr>
          <p:nvPr/>
        </p:nvPicPr>
        <p:blipFill>
          <a:blip r:embed="rId7"/>
          <a:srcRect t="-100" b="-100"/>
          <a:stretch/>
        </p:blipFill>
        <p:spPr>
          <a:xfrm>
            <a:off x="7690104" y="4469545"/>
            <a:ext cx="114300" cy="152705"/>
          </a:xfrm>
          <a:prstGeom prst="rect">
            <a:avLst/>
          </a:prstGeom>
        </p:spPr>
      </p:pic>
      <p:sp>
        <p:nvSpPr>
          <p:cNvPr id="45" name="Shape 37"/>
          <p:cNvSpPr/>
          <p:nvPr/>
        </p:nvSpPr>
        <p:spPr>
          <a:xfrm>
            <a:off x="7099402" y="4698145"/>
            <a:ext cx="1295705" cy="552298"/>
          </a:xfrm>
          <a:prstGeom prst="roundRect">
            <a:avLst>
              <a:gd name="adj" fmla="val 11418"/>
            </a:avLst>
          </a:prstGeom>
          <a:solidFill>
            <a:srgbClr val="FFFFFF"/>
          </a:solidFill>
          <a:ln w="12700">
            <a:solidFill>
              <a:srgbClr val="FDE68A"/>
            </a:solidFill>
            <a:prstDash val="solid"/>
          </a:ln>
        </p:spPr>
      </p:sp>
      <p:sp>
        <p:nvSpPr>
          <p:cNvPr id="46" name="Text 38"/>
          <p:cNvSpPr txBox="1"/>
          <p:nvPr/>
        </p:nvSpPr>
        <p:spPr>
          <a:xfrm>
            <a:off x="7352690" y="4774040"/>
            <a:ext cx="890626" cy="419710"/>
          </a:xfrm>
          <a:prstGeom prst="rect">
            <a:avLst/>
          </a:prstGeom>
          <a:noFill/>
          <a:ln/>
        </p:spPr>
        <p:txBody>
          <a:bodyPr wrap="square" lIns="0" tIns="0" rIns="0" bIns="0" rtlCol="0" anchor="ctr"/>
          <a:lstStyle/>
          <a:p>
            <a:pPr marL="0" indent="0" algn="ctr">
              <a:buNone/>
            </a:pPr>
            <a:r>
              <a:rPr lang="en-US" sz="1000" b="1" dirty="0">
                <a:solidFill>
                  <a:srgbClr val="B45309"/>
                </a:solidFill>
                <a:latin typeface="Noto Sans KR" pitchFamily="34" charset="0"/>
                <a:ea typeface="Noto Sans KR" pitchFamily="34" charset="-122"/>
                <a:cs typeface="Noto Sans KR" pitchFamily="34" charset="-120"/>
              </a:rPr>
              <a:t>Output: 128 dim</a:t>
            </a:r>
            <a:endParaRPr lang="en-US" sz="1000" dirty="0"/>
          </a:p>
        </p:txBody>
      </p:sp>
      <p:sp>
        <p:nvSpPr>
          <p:cNvPr id="47" name="Shape 39"/>
          <p:cNvSpPr/>
          <p:nvPr/>
        </p:nvSpPr>
        <p:spPr>
          <a:xfrm>
            <a:off x="9334195" y="2464266"/>
            <a:ext cx="2095805" cy="1238098"/>
          </a:xfrm>
          <a:prstGeom prst="roundRect">
            <a:avLst>
              <a:gd name="adj" fmla="val 5681"/>
            </a:avLst>
          </a:prstGeom>
          <a:solidFill>
            <a:srgbClr val="ECFDF5"/>
          </a:solidFill>
          <a:ln w="25400">
            <a:solidFill>
              <a:srgbClr val="10B981"/>
            </a:solidFill>
            <a:prstDash val="solid"/>
          </a:ln>
        </p:spPr>
      </p:sp>
      <p:pic>
        <p:nvPicPr>
          <p:cNvPr id="48" name="Image 6" descr="preencoded.png"/>
          <p:cNvPicPr>
            <a:picLocks noChangeAspect="1"/>
          </p:cNvPicPr>
          <p:nvPr/>
        </p:nvPicPr>
        <p:blipFill>
          <a:blip r:embed="rId8"/>
          <a:srcRect/>
          <a:stretch/>
        </p:blipFill>
        <p:spPr>
          <a:xfrm>
            <a:off x="9624060" y="2702924"/>
            <a:ext cx="152705" cy="152705"/>
          </a:xfrm>
          <a:prstGeom prst="rect">
            <a:avLst/>
          </a:prstGeom>
        </p:spPr>
      </p:pic>
      <p:sp>
        <p:nvSpPr>
          <p:cNvPr id="49" name="Text 40"/>
          <p:cNvSpPr txBox="1"/>
          <p:nvPr/>
        </p:nvSpPr>
        <p:spPr>
          <a:xfrm>
            <a:off x="9852660" y="2626115"/>
            <a:ext cx="1424635" cy="247802"/>
          </a:xfrm>
          <a:prstGeom prst="rect">
            <a:avLst/>
          </a:prstGeom>
          <a:noFill/>
          <a:ln/>
        </p:spPr>
        <p:txBody>
          <a:bodyPr wrap="square" lIns="0" tIns="0" rIns="0" bIns="0" rtlCol="0" anchor="ctr"/>
          <a:lstStyle/>
          <a:p>
            <a:pPr marL="0" indent="0" algn="ctr">
              <a:buNone/>
            </a:pPr>
            <a:r>
              <a:rPr lang="en-US" sz="1300" b="1" dirty="0">
                <a:solidFill>
                  <a:srgbClr val="065F46"/>
                </a:solidFill>
                <a:latin typeface="Noto Sans KR" pitchFamily="34" charset="0"/>
                <a:ea typeface="Noto Sans KR" pitchFamily="34" charset="-122"/>
                <a:cs typeface="Noto Sans KR" pitchFamily="34" charset="-120"/>
              </a:rPr>
              <a:t>Policy Network</a:t>
            </a:r>
            <a:endParaRPr lang="en-US" sz="1300" dirty="0"/>
          </a:p>
        </p:txBody>
      </p:sp>
      <p:sp>
        <p:nvSpPr>
          <p:cNvPr id="50" name="Text 41"/>
          <p:cNvSpPr txBox="1"/>
          <p:nvPr/>
        </p:nvSpPr>
        <p:spPr>
          <a:xfrm>
            <a:off x="9544507" y="3007419"/>
            <a:ext cx="1776679" cy="191110"/>
          </a:xfrm>
          <a:prstGeom prst="rect">
            <a:avLst/>
          </a:prstGeom>
          <a:noFill/>
          <a:ln/>
        </p:spPr>
        <p:txBody>
          <a:bodyPr wrap="square" lIns="0" tIns="0" rIns="0" bIns="0" rtlCol="0" anchor="ctr"/>
          <a:lstStyle/>
          <a:p>
            <a:pPr marL="0" indent="0" algn="ctr">
              <a:buNone/>
            </a:pPr>
            <a:r>
              <a:rPr lang="en-US" sz="1000" dirty="0">
                <a:solidFill>
                  <a:srgbClr val="4B5563"/>
                </a:solidFill>
                <a:latin typeface="Noto Sans KR" pitchFamily="34" charset="0"/>
                <a:ea typeface="Noto Sans KR" pitchFamily="34" charset="-122"/>
                <a:cs typeface="Noto Sans KR" pitchFamily="34" charset="-120"/>
              </a:rPr>
              <a:t>Actor (Action Probabilities)</a:t>
            </a:r>
            <a:endParaRPr lang="en-US" sz="1000" dirty="0"/>
          </a:p>
        </p:txBody>
      </p:sp>
      <p:sp>
        <p:nvSpPr>
          <p:cNvPr id="51" name="Shape 42"/>
          <p:cNvSpPr/>
          <p:nvPr/>
        </p:nvSpPr>
        <p:spPr>
          <a:xfrm>
            <a:off x="9654235" y="3283568"/>
            <a:ext cx="1457554" cy="256946"/>
          </a:xfrm>
          <a:prstGeom prst="roundRect">
            <a:avLst>
              <a:gd name="adj" fmla="val 52722"/>
            </a:avLst>
          </a:prstGeom>
          <a:solidFill>
            <a:srgbClr val="FFFFFF"/>
          </a:solidFill>
          <a:ln w="12700">
            <a:solidFill>
              <a:srgbClr val="E5E7EB"/>
            </a:solidFill>
            <a:prstDash val="solid"/>
          </a:ln>
        </p:spPr>
      </p:sp>
      <p:sp>
        <p:nvSpPr>
          <p:cNvPr id="52" name="Text 43"/>
          <p:cNvSpPr txBox="1"/>
          <p:nvPr/>
        </p:nvSpPr>
        <p:spPr>
          <a:xfrm>
            <a:off x="9739274" y="3331117"/>
            <a:ext cx="1386230" cy="152705"/>
          </a:xfrm>
          <a:prstGeom prst="rect">
            <a:avLst/>
          </a:prstGeom>
          <a:noFill/>
          <a:ln/>
        </p:spPr>
        <p:txBody>
          <a:bodyPr wrap="square" lIns="0" tIns="0" rIns="0" bIns="0" rtlCol="0" anchor="ctr"/>
          <a:lstStyle/>
          <a:p>
            <a:pPr marL="0" indent="0" algn="ctr">
              <a:buNone/>
            </a:pPr>
            <a:r>
              <a:rPr lang="en-US" sz="1000" dirty="0">
                <a:solidFill>
                  <a:srgbClr val="000000"/>
                </a:solidFill>
                <a:latin typeface="Courier New" pitchFamily="34" charset="0"/>
                <a:ea typeface="Courier New" pitchFamily="34" charset="-122"/>
                <a:cs typeface="Courier New" pitchFamily="34" charset="-120"/>
              </a:rPr>
              <a:t>[256, 128] -&gt; 13</a:t>
            </a:r>
            <a:endParaRPr lang="en-US" sz="1000" dirty="0"/>
          </a:p>
        </p:txBody>
      </p:sp>
      <p:sp>
        <p:nvSpPr>
          <p:cNvPr id="53" name="Shape 44"/>
          <p:cNvSpPr/>
          <p:nvPr/>
        </p:nvSpPr>
        <p:spPr>
          <a:xfrm>
            <a:off x="9334195" y="3988571"/>
            <a:ext cx="2095805" cy="1238098"/>
          </a:xfrm>
          <a:prstGeom prst="roundRect">
            <a:avLst>
              <a:gd name="adj" fmla="val 5681"/>
            </a:avLst>
          </a:prstGeom>
          <a:solidFill>
            <a:srgbClr val="F5F3FF"/>
          </a:solidFill>
          <a:ln w="25400">
            <a:solidFill>
              <a:srgbClr val="8B5CF6"/>
            </a:solidFill>
            <a:prstDash val="solid"/>
          </a:ln>
        </p:spPr>
      </p:sp>
      <p:pic>
        <p:nvPicPr>
          <p:cNvPr id="54" name="Image 7" descr="preencoded.png"/>
          <p:cNvPicPr>
            <a:picLocks noChangeAspect="1"/>
          </p:cNvPicPr>
          <p:nvPr/>
        </p:nvPicPr>
        <p:blipFill>
          <a:blip r:embed="rId9"/>
          <a:srcRect/>
          <a:stretch/>
        </p:blipFill>
        <p:spPr>
          <a:xfrm>
            <a:off x="9647834" y="4226315"/>
            <a:ext cx="152705" cy="152705"/>
          </a:xfrm>
          <a:prstGeom prst="rect">
            <a:avLst/>
          </a:prstGeom>
        </p:spPr>
      </p:pic>
      <p:sp>
        <p:nvSpPr>
          <p:cNvPr id="55" name="Text 45"/>
          <p:cNvSpPr txBox="1"/>
          <p:nvPr/>
        </p:nvSpPr>
        <p:spPr>
          <a:xfrm>
            <a:off x="9876434" y="4150419"/>
            <a:ext cx="1377086" cy="247802"/>
          </a:xfrm>
          <a:prstGeom prst="rect">
            <a:avLst/>
          </a:prstGeom>
          <a:noFill/>
          <a:ln/>
        </p:spPr>
        <p:txBody>
          <a:bodyPr wrap="square" lIns="0" tIns="0" rIns="0" bIns="0" rtlCol="0" anchor="ctr"/>
          <a:lstStyle/>
          <a:p>
            <a:pPr marL="0" indent="0" algn="ctr">
              <a:buNone/>
            </a:pPr>
            <a:r>
              <a:rPr lang="en-US" sz="1300" b="1" dirty="0">
                <a:solidFill>
                  <a:srgbClr val="5B21B6"/>
                </a:solidFill>
                <a:latin typeface="Noto Sans KR" pitchFamily="34" charset="0"/>
                <a:ea typeface="Noto Sans KR" pitchFamily="34" charset="-122"/>
                <a:cs typeface="Noto Sans KR" pitchFamily="34" charset="-120"/>
              </a:rPr>
              <a:t>Value Network</a:t>
            </a:r>
            <a:endParaRPr lang="en-US" sz="1300" dirty="0"/>
          </a:p>
        </p:txBody>
      </p:sp>
      <p:sp>
        <p:nvSpPr>
          <p:cNvPr id="56" name="Text 46"/>
          <p:cNvSpPr txBox="1"/>
          <p:nvPr/>
        </p:nvSpPr>
        <p:spPr>
          <a:xfrm>
            <a:off x="9806026" y="4531724"/>
            <a:ext cx="1252728" cy="191110"/>
          </a:xfrm>
          <a:prstGeom prst="rect">
            <a:avLst/>
          </a:prstGeom>
          <a:noFill/>
          <a:ln/>
        </p:spPr>
        <p:txBody>
          <a:bodyPr wrap="square" lIns="0" tIns="0" rIns="0" bIns="0" rtlCol="0" anchor="ctr"/>
          <a:lstStyle/>
          <a:p>
            <a:pPr marL="0" indent="0" algn="ctr">
              <a:buNone/>
            </a:pPr>
            <a:r>
              <a:rPr lang="en-US" sz="1000" dirty="0">
                <a:solidFill>
                  <a:srgbClr val="4B5563"/>
                </a:solidFill>
                <a:latin typeface="Noto Sans KR" pitchFamily="34" charset="0"/>
                <a:ea typeface="Noto Sans KR" pitchFamily="34" charset="-122"/>
                <a:cs typeface="Noto Sans KR" pitchFamily="34" charset="-120"/>
              </a:rPr>
              <a:t>Critic (State Value)</a:t>
            </a:r>
            <a:endParaRPr lang="en-US" sz="1000" dirty="0"/>
          </a:p>
        </p:txBody>
      </p:sp>
      <p:sp>
        <p:nvSpPr>
          <p:cNvPr id="57" name="Shape 47"/>
          <p:cNvSpPr/>
          <p:nvPr/>
        </p:nvSpPr>
        <p:spPr>
          <a:xfrm>
            <a:off x="9694469" y="4807873"/>
            <a:ext cx="1380744" cy="256946"/>
          </a:xfrm>
          <a:prstGeom prst="roundRect">
            <a:avLst>
              <a:gd name="adj" fmla="val 52722"/>
            </a:avLst>
          </a:prstGeom>
          <a:solidFill>
            <a:srgbClr val="FFFFFF"/>
          </a:solidFill>
          <a:ln w="12700">
            <a:solidFill>
              <a:srgbClr val="E5E7EB"/>
            </a:solidFill>
            <a:prstDash val="solid"/>
          </a:ln>
        </p:spPr>
      </p:sp>
      <p:sp>
        <p:nvSpPr>
          <p:cNvPr id="58" name="Text 48"/>
          <p:cNvSpPr txBox="1"/>
          <p:nvPr/>
        </p:nvSpPr>
        <p:spPr>
          <a:xfrm>
            <a:off x="9779508" y="4855422"/>
            <a:ext cx="1310335" cy="152705"/>
          </a:xfrm>
          <a:prstGeom prst="rect">
            <a:avLst/>
          </a:prstGeom>
          <a:noFill/>
          <a:ln/>
        </p:spPr>
        <p:txBody>
          <a:bodyPr wrap="square" lIns="0" tIns="0" rIns="0" bIns="0" rtlCol="0" anchor="ctr"/>
          <a:lstStyle/>
          <a:p>
            <a:pPr marL="0" indent="0" algn="ctr">
              <a:buNone/>
            </a:pPr>
            <a:r>
              <a:rPr lang="en-US" sz="1000" dirty="0">
                <a:solidFill>
                  <a:srgbClr val="000000"/>
                </a:solidFill>
                <a:latin typeface="Courier New" pitchFamily="34" charset="0"/>
                <a:ea typeface="Courier New" pitchFamily="34" charset="-122"/>
                <a:cs typeface="Courier New" pitchFamily="34" charset="-120"/>
              </a:rPr>
              <a:t>[256, 128] -&gt; 1</a:t>
            </a:r>
            <a:endParaRPr lang="en-US" sz="1000" dirty="0"/>
          </a:p>
        </p:txBody>
      </p:sp>
      <p:sp>
        <p:nvSpPr>
          <p:cNvPr id="59" name="Shape 49"/>
          <p:cNvSpPr/>
          <p:nvPr/>
        </p:nvSpPr>
        <p:spPr>
          <a:xfrm>
            <a:off x="571500" y="6223366"/>
            <a:ext cx="11048695" cy="380390"/>
          </a:xfrm>
          <a:prstGeom prst="roundRect">
            <a:avLst>
              <a:gd name="adj" fmla="val 27345"/>
            </a:avLst>
          </a:prstGeom>
          <a:solidFill>
            <a:srgbClr val="F9FAFB"/>
          </a:solidFill>
          <a:ln w="12700">
            <a:solidFill>
              <a:srgbClr val="E5E7EB"/>
            </a:solidFill>
            <a:prstDash val="solid"/>
          </a:ln>
        </p:spPr>
      </p:sp>
      <p:sp>
        <p:nvSpPr>
          <p:cNvPr id="60" name="Shape 50"/>
          <p:cNvSpPr/>
          <p:nvPr/>
        </p:nvSpPr>
        <p:spPr>
          <a:xfrm>
            <a:off x="3634740" y="6356868"/>
            <a:ext cx="114300" cy="114300"/>
          </a:xfrm>
          <a:prstGeom prst="roundRect">
            <a:avLst>
              <a:gd name="adj" fmla="val 200000"/>
            </a:avLst>
          </a:prstGeom>
          <a:solidFill>
            <a:srgbClr val="F3F4F6"/>
          </a:solidFill>
          <a:ln w="12700">
            <a:solidFill>
              <a:srgbClr val="D1D5DB"/>
            </a:solidFill>
            <a:prstDash val="solid"/>
          </a:ln>
        </p:spPr>
      </p:sp>
      <p:sp>
        <p:nvSpPr>
          <p:cNvPr id="61" name="Text 51"/>
          <p:cNvSpPr txBox="1"/>
          <p:nvPr/>
        </p:nvSpPr>
        <p:spPr>
          <a:xfrm>
            <a:off x="3825850" y="6313891"/>
            <a:ext cx="767182" cy="191110"/>
          </a:xfrm>
          <a:prstGeom prst="rect">
            <a:avLst/>
          </a:prstGeom>
          <a:noFill/>
          <a:ln/>
        </p:spPr>
        <p:txBody>
          <a:bodyPr wrap="square" lIns="0" tIns="0" rIns="0" bIns="0" rtlCol="0" anchor="ctr"/>
          <a:lstStyle/>
          <a:p>
            <a:pPr marL="0" indent="0" algn="l">
              <a:buNone/>
            </a:pPr>
            <a:r>
              <a:rPr lang="en-US" sz="1000" dirty="0">
                <a:solidFill>
                  <a:srgbClr val="4B5563"/>
                </a:solidFill>
                <a:latin typeface="Noto Sans KR" pitchFamily="34" charset="0"/>
                <a:ea typeface="Noto Sans KR" pitchFamily="34" charset="-122"/>
                <a:cs typeface="Noto Sans KR" pitchFamily="34" charset="-120"/>
              </a:rPr>
              <a:t>Input Data</a:t>
            </a:r>
            <a:endParaRPr lang="en-US" sz="1000" dirty="0"/>
          </a:p>
        </p:txBody>
      </p:sp>
      <p:sp>
        <p:nvSpPr>
          <p:cNvPr id="62" name="Shape 52"/>
          <p:cNvSpPr/>
          <p:nvPr/>
        </p:nvSpPr>
        <p:spPr>
          <a:xfrm>
            <a:off x="4673498" y="6356868"/>
            <a:ext cx="114300" cy="114300"/>
          </a:xfrm>
          <a:prstGeom prst="roundRect">
            <a:avLst>
              <a:gd name="adj" fmla="val 200000"/>
            </a:avLst>
          </a:prstGeom>
          <a:solidFill>
            <a:srgbClr val="DBEAFE"/>
          </a:solidFill>
          <a:ln w="12700">
            <a:solidFill>
              <a:srgbClr val="93C5FD"/>
            </a:solidFill>
            <a:prstDash val="solid"/>
          </a:ln>
        </p:spPr>
      </p:sp>
      <p:sp>
        <p:nvSpPr>
          <p:cNvPr id="63" name="Text 53"/>
          <p:cNvSpPr txBox="1"/>
          <p:nvPr/>
        </p:nvSpPr>
        <p:spPr>
          <a:xfrm>
            <a:off x="4864608" y="6313891"/>
            <a:ext cx="1233526" cy="191110"/>
          </a:xfrm>
          <a:prstGeom prst="rect">
            <a:avLst/>
          </a:prstGeom>
          <a:noFill/>
          <a:ln/>
        </p:spPr>
        <p:txBody>
          <a:bodyPr wrap="square" lIns="0" tIns="0" rIns="0" bIns="0" rtlCol="0" anchor="ctr"/>
          <a:lstStyle/>
          <a:p>
            <a:pPr marL="0" indent="0" algn="l">
              <a:buNone/>
            </a:pPr>
            <a:r>
              <a:rPr lang="en-US" sz="1000" dirty="0">
                <a:solidFill>
                  <a:srgbClr val="4B5563"/>
                </a:solidFill>
                <a:latin typeface="Noto Sans KR" pitchFamily="34" charset="0"/>
                <a:ea typeface="Noto Sans KR" pitchFamily="34" charset="-122"/>
                <a:cs typeface="Noto Sans KR" pitchFamily="34" charset="-120"/>
              </a:rPr>
              <a:t>Feature Extraction</a:t>
            </a:r>
            <a:endParaRPr lang="en-US" sz="1000" dirty="0"/>
          </a:p>
        </p:txBody>
      </p:sp>
      <p:sp>
        <p:nvSpPr>
          <p:cNvPr id="64" name="Shape 54"/>
          <p:cNvSpPr/>
          <p:nvPr/>
        </p:nvSpPr>
        <p:spPr>
          <a:xfrm>
            <a:off x="6186830" y="6356868"/>
            <a:ext cx="114300" cy="114300"/>
          </a:xfrm>
          <a:prstGeom prst="roundRect">
            <a:avLst>
              <a:gd name="adj" fmla="val 200000"/>
            </a:avLst>
          </a:prstGeom>
          <a:solidFill>
            <a:srgbClr val="FEF3C7"/>
          </a:solidFill>
          <a:ln w="12700">
            <a:solidFill>
              <a:srgbClr val="FCD34D"/>
            </a:solidFill>
            <a:prstDash val="solid"/>
          </a:ln>
        </p:spPr>
      </p:sp>
      <p:sp>
        <p:nvSpPr>
          <p:cNvPr id="65" name="Text 55"/>
          <p:cNvSpPr txBox="1"/>
          <p:nvPr/>
        </p:nvSpPr>
        <p:spPr>
          <a:xfrm>
            <a:off x="6377940" y="6313891"/>
            <a:ext cx="1024128" cy="191110"/>
          </a:xfrm>
          <a:prstGeom prst="rect">
            <a:avLst/>
          </a:prstGeom>
          <a:noFill/>
          <a:ln/>
        </p:spPr>
        <p:txBody>
          <a:bodyPr wrap="square" lIns="0" tIns="0" rIns="0" bIns="0" rtlCol="0" anchor="ctr"/>
          <a:lstStyle/>
          <a:p>
            <a:pPr marL="0" indent="0" algn="l">
              <a:buNone/>
            </a:pPr>
            <a:r>
              <a:rPr lang="en-US" sz="1000" dirty="0">
                <a:solidFill>
                  <a:srgbClr val="4B5563"/>
                </a:solidFill>
                <a:latin typeface="Noto Sans KR" pitchFamily="34" charset="0"/>
                <a:ea typeface="Noto Sans KR" pitchFamily="34" charset="-122"/>
                <a:cs typeface="Noto Sans KR" pitchFamily="34" charset="-120"/>
              </a:rPr>
              <a:t>Feature Fusion</a:t>
            </a:r>
            <a:endParaRPr lang="en-US" sz="1000" dirty="0"/>
          </a:p>
        </p:txBody>
      </p:sp>
      <p:sp>
        <p:nvSpPr>
          <p:cNvPr id="66" name="Shape 56"/>
          <p:cNvSpPr/>
          <p:nvPr/>
        </p:nvSpPr>
        <p:spPr>
          <a:xfrm>
            <a:off x="7488936" y="6356868"/>
            <a:ext cx="114300" cy="114300"/>
          </a:xfrm>
          <a:prstGeom prst="roundRect">
            <a:avLst>
              <a:gd name="adj" fmla="val 200000"/>
            </a:avLst>
          </a:prstGeom>
          <a:solidFill>
            <a:srgbClr val="D1FAE5"/>
          </a:solidFill>
          <a:ln w="12700">
            <a:solidFill>
              <a:srgbClr val="6EE7B7"/>
            </a:solidFill>
            <a:prstDash val="solid"/>
          </a:ln>
        </p:spPr>
      </p:sp>
      <p:sp>
        <p:nvSpPr>
          <p:cNvPr id="67" name="Text 57"/>
          <p:cNvSpPr txBox="1"/>
          <p:nvPr/>
        </p:nvSpPr>
        <p:spPr>
          <a:xfrm>
            <a:off x="7679131" y="6313891"/>
            <a:ext cx="986638" cy="191110"/>
          </a:xfrm>
          <a:prstGeom prst="rect">
            <a:avLst/>
          </a:prstGeom>
          <a:noFill/>
          <a:ln/>
        </p:spPr>
        <p:txBody>
          <a:bodyPr wrap="square" lIns="0" tIns="0" rIns="0" bIns="0" rtlCol="0" anchor="ctr"/>
          <a:lstStyle/>
          <a:p>
            <a:pPr marL="0" indent="0" algn="l">
              <a:buNone/>
            </a:pPr>
            <a:r>
              <a:rPr lang="en-US" sz="1000" dirty="0">
                <a:solidFill>
                  <a:srgbClr val="4B5563"/>
                </a:solidFill>
                <a:latin typeface="Noto Sans KR" pitchFamily="34" charset="0"/>
                <a:ea typeface="Noto Sans KR" pitchFamily="34" charset="-122"/>
                <a:cs typeface="Noto Sans KR" pitchFamily="34" charset="-120"/>
              </a:rPr>
              <a:t>Action Output</a:t>
            </a:r>
            <a:endParaRPr lang="en-US" sz="1000" dirty="0"/>
          </a:p>
        </p:txBody>
      </p:sp>
      <p:pic>
        <p:nvPicPr>
          <p:cNvPr id="68" name="Image 8" descr="preencoded.png"/>
          <p:cNvPicPr>
            <a:picLocks noChangeAspect="1"/>
          </p:cNvPicPr>
          <p:nvPr/>
        </p:nvPicPr>
        <p:blipFill>
          <a:blip r:embed="rId10"/>
          <a:srcRect l="-1648" r="-1648"/>
          <a:stretch/>
        </p:blipFill>
        <p:spPr>
          <a:xfrm>
            <a:off x="3191256" y="2379710"/>
            <a:ext cx="171907" cy="190195"/>
          </a:xfrm>
          <a:prstGeom prst="rect">
            <a:avLst/>
          </a:prstGeom>
        </p:spPr>
      </p:pic>
      <p:pic>
        <p:nvPicPr>
          <p:cNvPr id="69" name="Image 9" descr="preencoded.png"/>
          <p:cNvPicPr>
            <a:picLocks noChangeAspect="1"/>
          </p:cNvPicPr>
          <p:nvPr/>
        </p:nvPicPr>
        <p:blipFill>
          <a:blip r:embed="rId10"/>
          <a:srcRect l="-1648" r="-1648"/>
          <a:stretch/>
        </p:blipFill>
        <p:spPr>
          <a:xfrm>
            <a:off x="3191256" y="3947381"/>
            <a:ext cx="171907" cy="190195"/>
          </a:xfrm>
          <a:prstGeom prst="rect">
            <a:avLst/>
          </a:prstGeom>
        </p:spPr>
      </p:pic>
      <p:pic>
        <p:nvPicPr>
          <p:cNvPr id="70" name="Image 10" descr="preencoded.png"/>
          <p:cNvPicPr>
            <a:picLocks noChangeAspect="1"/>
          </p:cNvPicPr>
          <p:nvPr/>
        </p:nvPicPr>
        <p:blipFill>
          <a:blip r:embed="rId10"/>
          <a:srcRect l="-1648" r="-1648"/>
          <a:stretch/>
        </p:blipFill>
        <p:spPr>
          <a:xfrm>
            <a:off x="3191256" y="5450696"/>
            <a:ext cx="171907" cy="190195"/>
          </a:xfrm>
          <a:prstGeom prst="rect">
            <a:avLst/>
          </a:prstGeom>
        </p:spPr>
      </p:pic>
      <p:sp>
        <p:nvSpPr>
          <p:cNvPr id="71" name="Shape 8">
            <a:extLst>
              <a:ext uri="{FF2B5EF4-FFF2-40B4-BE49-F238E27FC236}">
                <a16:creationId xmlns:a16="http://schemas.microsoft.com/office/drawing/2014/main" id="{B97C1C82-CEB4-754E-BD5F-685671B6AB7E}"/>
              </a:ext>
            </a:extLst>
          </p:cNvPr>
          <p:cNvSpPr/>
          <p:nvPr/>
        </p:nvSpPr>
        <p:spPr>
          <a:xfrm>
            <a:off x="571500" y="779941"/>
            <a:ext cx="10668305" cy="875995"/>
          </a:xfrm>
          <a:prstGeom prst="roundRect">
            <a:avLst>
              <a:gd name="adj" fmla="val 9077"/>
            </a:avLst>
          </a:prstGeom>
          <a:solidFill>
            <a:srgbClr val="EFF6FF"/>
          </a:solidFill>
          <a:ln/>
        </p:spPr>
      </p:sp>
      <p:sp>
        <p:nvSpPr>
          <p:cNvPr id="72" name="Shape 9">
            <a:extLst>
              <a:ext uri="{FF2B5EF4-FFF2-40B4-BE49-F238E27FC236}">
                <a16:creationId xmlns:a16="http://schemas.microsoft.com/office/drawing/2014/main" id="{8C3EF94E-6257-364F-B83A-1005E74BBCAA}"/>
              </a:ext>
            </a:extLst>
          </p:cNvPr>
          <p:cNvSpPr/>
          <p:nvPr/>
        </p:nvSpPr>
        <p:spPr>
          <a:xfrm>
            <a:off x="571500" y="779941"/>
            <a:ext cx="47549" cy="875995"/>
          </a:xfrm>
          <a:prstGeom prst="rect">
            <a:avLst/>
          </a:prstGeom>
          <a:solidFill>
            <a:srgbClr val="2563EB"/>
          </a:solidFill>
          <a:ln/>
        </p:spPr>
      </p:sp>
      <p:sp>
        <p:nvSpPr>
          <p:cNvPr id="73" name="Text 10">
            <a:extLst>
              <a:ext uri="{FF2B5EF4-FFF2-40B4-BE49-F238E27FC236}">
                <a16:creationId xmlns:a16="http://schemas.microsoft.com/office/drawing/2014/main" id="{F67C4BFB-C7D8-1841-B869-1C77DB66DF62}"/>
              </a:ext>
            </a:extLst>
          </p:cNvPr>
          <p:cNvSpPr txBox="1"/>
          <p:nvPr/>
        </p:nvSpPr>
        <p:spPr>
          <a:xfrm>
            <a:off x="810159" y="971051"/>
            <a:ext cx="10316261" cy="476402"/>
          </a:xfrm>
          <a:prstGeom prst="rect">
            <a:avLst/>
          </a:prstGeom>
          <a:noFill/>
          <a:ln/>
        </p:spPr>
        <p:txBody>
          <a:bodyPr wrap="square" lIns="0" tIns="0" rIns="0" bIns="0" rtlCol="0" anchor="ctr"/>
          <a:lstStyle/>
          <a:p>
            <a:pPr marL="0" indent="0" algn="l">
              <a:buNone/>
            </a:pPr>
            <a:r>
              <a:rPr lang="en-US" sz="1400" dirty="0">
                <a:solidFill>
                  <a:srgbClr val="1E40AF"/>
                </a:solidFill>
                <a:latin typeface="Noto Sans KR" pitchFamily="34" charset="0"/>
                <a:ea typeface="Noto Sans KR" pitchFamily="34" charset="-122"/>
                <a:cs typeface="Noto Sans KR" pitchFamily="34" charset="-120"/>
              </a:rPr>
              <a:t>Multi-Modal LSTM </a:t>
            </a:r>
            <a:r>
              <a:rPr lang="ko-KR" altLang="en-US" sz="1400" dirty="0">
                <a:solidFill>
                  <a:srgbClr val="1E40AF"/>
                </a:solidFill>
                <a:latin typeface="Noto Sans KR" pitchFamily="34" charset="0"/>
                <a:ea typeface="Noto Sans KR" pitchFamily="34" charset="-122"/>
                <a:cs typeface="Noto Sans KR" pitchFamily="34" charset="-120"/>
              </a:rPr>
              <a:t>구조로 가격 </a:t>
            </a:r>
            <a:r>
              <a:rPr lang="ko-KR" altLang="en-US" sz="1400" dirty="0" err="1">
                <a:solidFill>
                  <a:srgbClr val="1E40AF"/>
                </a:solidFill>
                <a:latin typeface="Noto Sans KR" pitchFamily="34" charset="0"/>
                <a:ea typeface="Noto Sans KR" pitchFamily="34" charset="-122"/>
                <a:cs typeface="Noto Sans KR" pitchFamily="34" charset="-120"/>
              </a:rPr>
              <a:t>시계열</a:t>
            </a:r>
            <a:r>
              <a:rPr lang="en-US" altLang="ko-KR" sz="1400" dirty="0">
                <a:solidFill>
                  <a:srgbClr val="1E40AF"/>
                </a:solidFill>
                <a:latin typeface="Noto Sans KR" pitchFamily="34" charset="0"/>
                <a:ea typeface="Noto Sans KR" pitchFamily="34" charset="-122"/>
                <a:cs typeface="Noto Sans KR" pitchFamily="34" charset="-120"/>
              </a:rPr>
              <a:t>, </a:t>
            </a:r>
            <a:r>
              <a:rPr lang="ko-KR" altLang="en-US" sz="1400" dirty="0">
                <a:solidFill>
                  <a:srgbClr val="1E40AF"/>
                </a:solidFill>
                <a:latin typeface="Noto Sans KR" pitchFamily="34" charset="0"/>
                <a:ea typeface="Noto Sans KR" pitchFamily="34" charset="-122"/>
                <a:cs typeface="Noto Sans KR" pitchFamily="34" charset="-120"/>
              </a:rPr>
              <a:t>기술 지표</a:t>
            </a:r>
            <a:r>
              <a:rPr lang="en-US" altLang="ko-KR" sz="1400" dirty="0">
                <a:solidFill>
                  <a:srgbClr val="1E40AF"/>
                </a:solidFill>
                <a:latin typeface="Noto Sans KR" pitchFamily="34" charset="0"/>
                <a:ea typeface="Noto Sans KR" pitchFamily="34" charset="-122"/>
                <a:cs typeface="Noto Sans KR" pitchFamily="34" charset="-120"/>
              </a:rPr>
              <a:t>, </a:t>
            </a:r>
            <a:r>
              <a:rPr lang="ko-KR" altLang="en-US" sz="1400" dirty="0">
                <a:solidFill>
                  <a:srgbClr val="1E40AF"/>
                </a:solidFill>
                <a:latin typeface="Noto Sans KR" pitchFamily="34" charset="0"/>
                <a:ea typeface="Noto Sans KR" pitchFamily="34" charset="-122"/>
                <a:cs typeface="Noto Sans KR" pitchFamily="34" charset="-120"/>
              </a:rPr>
              <a:t>포트폴리오 상태를 독립 처리 후 통합하여 </a:t>
            </a:r>
            <a:endParaRPr lang="en-US" altLang="ko-KR" sz="1400" dirty="0">
              <a:solidFill>
                <a:srgbClr val="1E40AF"/>
              </a:solidFill>
              <a:latin typeface="Noto Sans KR" pitchFamily="34" charset="0"/>
              <a:ea typeface="Noto Sans KR" pitchFamily="34" charset="-122"/>
              <a:cs typeface="Noto Sans KR" pitchFamily="34" charset="-120"/>
            </a:endParaRPr>
          </a:p>
          <a:p>
            <a:pPr marL="0" indent="0" algn="l">
              <a:buNone/>
            </a:pPr>
            <a:r>
              <a:rPr lang="en-US" sz="1400" dirty="0">
                <a:solidFill>
                  <a:srgbClr val="1E40AF"/>
                </a:solidFill>
                <a:latin typeface="Noto Sans KR" pitchFamily="34" charset="0"/>
                <a:ea typeface="Noto Sans KR" pitchFamily="34" charset="-122"/>
                <a:cs typeface="Noto Sans KR" pitchFamily="34" charset="-120"/>
              </a:rPr>
              <a:t>PPO </a:t>
            </a:r>
            <a:r>
              <a:rPr lang="ko-KR" altLang="en-US" sz="1400" dirty="0">
                <a:solidFill>
                  <a:srgbClr val="1E40AF"/>
                </a:solidFill>
                <a:latin typeface="Noto Sans KR" pitchFamily="34" charset="0"/>
                <a:ea typeface="Noto Sans KR" pitchFamily="34" charset="-122"/>
                <a:cs typeface="Noto Sans KR" pitchFamily="34" charset="-120"/>
              </a:rPr>
              <a:t>기반 </a:t>
            </a:r>
            <a:r>
              <a:rPr lang="en-US" sz="1400" dirty="0">
                <a:solidFill>
                  <a:srgbClr val="1E40AF"/>
                </a:solidFill>
                <a:latin typeface="Noto Sans KR" pitchFamily="34" charset="0"/>
                <a:ea typeface="Noto Sans KR" pitchFamily="34" charset="-122"/>
                <a:cs typeface="Noto Sans KR" pitchFamily="34" charset="-120"/>
              </a:rPr>
              <a:t>Actor-Critic </a:t>
            </a:r>
            <a:r>
              <a:rPr lang="ko-KR" altLang="en-US" sz="1400" dirty="0">
                <a:solidFill>
                  <a:srgbClr val="1E40AF"/>
                </a:solidFill>
                <a:latin typeface="Noto Sans KR" pitchFamily="34" charset="0"/>
                <a:ea typeface="Noto Sans KR" pitchFamily="34" charset="-122"/>
                <a:cs typeface="Noto Sans KR" pitchFamily="34" charset="-120"/>
              </a:rPr>
              <a:t>네트워크로 최적 자산 배분을 학습함</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4" name="Shape 2"/>
          <p:cNvSpPr/>
          <p:nvPr/>
        </p:nvSpPr>
        <p:spPr>
          <a:xfrm>
            <a:off x="9810598" y="-476402"/>
            <a:ext cx="2857500" cy="2857500"/>
          </a:xfrm>
          <a:prstGeom prst="ellipse">
            <a:avLst/>
          </a:prstGeom>
          <a:solidFill>
            <a:srgbClr val="2563EB">
              <a:alpha val="3000"/>
            </a:srgbClr>
          </a:solidFill>
          <a:ln/>
        </p:spPr>
      </p:sp>
      <p:sp>
        <p:nvSpPr>
          <p:cNvPr id="8" name="Text 6"/>
          <p:cNvSpPr txBox="1"/>
          <p:nvPr/>
        </p:nvSpPr>
        <p:spPr>
          <a:xfrm>
            <a:off x="550863" y="235339"/>
            <a:ext cx="2839212" cy="457200"/>
          </a:xfrm>
          <a:prstGeom prst="rect">
            <a:avLst/>
          </a:prstGeom>
          <a:noFill/>
          <a:ln/>
        </p:spPr>
        <p:txBody>
          <a:bodyPr wrap="square" lIns="0" tIns="0" rIns="0" bIns="0" rtlCol="0" anchor="ctr"/>
          <a:lstStyle/>
          <a:p>
            <a:pPr marL="0" indent="0" algn="l">
              <a:buNone/>
            </a:pPr>
            <a:r>
              <a:rPr lang="en-US" sz="2400" b="1" dirty="0">
                <a:solidFill>
                  <a:srgbClr val="111827"/>
                </a:solidFill>
                <a:latin typeface="Noto Sans KR" pitchFamily="34" charset="0"/>
                <a:ea typeface="Noto Sans KR" pitchFamily="34" charset="-122"/>
                <a:cs typeface="Noto Sans KR" pitchFamily="34" charset="-120"/>
              </a:rPr>
              <a:t>주요 하이퍼파라미터</a:t>
            </a:r>
            <a:endParaRPr lang="en-US" sz="2400" dirty="0"/>
          </a:p>
        </p:txBody>
      </p:sp>
      <p:sp>
        <p:nvSpPr>
          <p:cNvPr id="12" name="Shape 10"/>
          <p:cNvSpPr/>
          <p:nvPr/>
        </p:nvSpPr>
        <p:spPr>
          <a:xfrm>
            <a:off x="580644" y="1235838"/>
            <a:ext cx="3133649" cy="19202"/>
          </a:xfrm>
          <a:prstGeom prst="rect">
            <a:avLst/>
          </a:prstGeom>
          <a:solidFill>
            <a:srgbClr val="E5E7EB"/>
          </a:solidFill>
          <a:ln/>
        </p:spPr>
      </p:sp>
      <p:sp>
        <p:nvSpPr>
          <p:cNvPr id="13" name="Text 11"/>
          <p:cNvSpPr txBox="1"/>
          <p:nvPr/>
        </p:nvSpPr>
        <p:spPr>
          <a:xfrm>
            <a:off x="819302" y="989318"/>
            <a:ext cx="905256" cy="228600"/>
          </a:xfrm>
          <a:prstGeom prst="rect">
            <a:avLst/>
          </a:prstGeom>
          <a:noFill/>
          <a:ln/>
        </p:spPr>
        <p:txBody>
          <a:bodyPr wrap="square" lIns="0" tIns="0" rIns="0" bIns="0" rtlCol="0" anchor="ctr"/>
          <a:lstStyle/>
          <a:p>
            <a:pPr marL="0" indent="0" algn="l">
              <a:buNone/>
            </a:pPr>
            <a:r>
              <a:rPr lang="en-US" sz="1200" b="1" dirty="0">
                <a:solidFill>
                  <a:srgbClr val="374151"/>
                </a:solidFill>
                <a:latin typeface="Noto Sans KR" pitchFamily="34" charset="0"/>
                <a:ea typeface="Noto Sans KR" pitchFamily="34" charset="-122"/>
                <a:cs typeface="Noto Sans KR" pitchFamily="34" charset="-120"/>
              </a:rPr>
              <a:t>Parameter</a:t>
            </a:r>
            <a:endParaRPr lang="en-US" sz="1200" dirty="0"/>
          </a:p>
        </p:txBody>
      </p:sp>
      <p:sp>
        <p:nvSpPr>
          <p:cNvPr id="15" name="Shape 13"/>
          <p:cNvSpPr/>
          <p:nvPr/>
        </p:nvSpPr>
        <p:spPr>
          <a:xfrm>
            <a:off x="3706063" y="1235838"/>
            <a:ext cx="1742846" cy="19202"/>
          </a:xfrm>
          <a:prstGeom prst="rect">
            <a:avLst/>
          </a:prstGeom>
          <a:solidFill>
            <a:srgbClr val="E5E7EB"/>
          </a:solidFill>
          <a:ln/>
        </p:spPr>
      </p:sp>
      <p:sp>
        <p:nvSpPr>
          <p:cNvPr id="16" name="Text 14"/>
          <p:cNvSpPr txBox="1"/>
          <p:nvPr/>
        </p:nvSpPr>
        <p:spPr>
          <a:xfrm>
            <a:off x="3943807" y="989318"/>
            <a:ext cx="534010" cy="228600"/>
          </a:xfrm>
          <a:prstGeom prst="rect">
            <a:avLst/>
          </a:prstGeom>
          <a:noFill/>
          <a:ln/>
        </p:spPr>
        <p:txBody>
          <a:bodyPr wrap="square" lIns="0" tIns="0" rIns="0" bIns="0" rtlCol="0" anchor="ctr"/>
          <a:lstStyle/>
          <a:p>
            <a:pPr marL="0" indent="0" algn="l">
              <a:buNone/>
            </a:pPr>
            <a:r>
              <a:rPr lang="en-US" sz="1200" b="1" dirty="0">
                <a:solidFill>
                  <a:srgbClr val="374151"/>
                </a:solidFill>
                <a:latin typeface="Noto Sans KR" pitchFamily="34" charset="0"/>
                <a:ea typeface="Noto Sans KR" pitchFamily="34" charset="-122"/>
                <a:cs typeface="Noto Sans KR" pitchFamily="34" charset="-120"/>
              </a:rPr>
              <a:t>Value</a:t>
            </a:r>
            <a:endParaRPr lang="en-US" sz="1200" dirty="0"/>
          </a:p>
        </p:txBody>
      </p:sp>
      <p:sp>
        <p:nvSpPr>
          <p:cNvPr id="18" name="Shape 16"/>
          <p:cNvSpPr/>
          <p:nvPr/>
        </p:nvSpPr>
        <p:spPr>
          <a:xfrm>
            <a:off x="5442509" y="1235838"/>
            <a:ext cx="2085746" cy="19202"/>
          </a:xfrm>
          <a:prstGeom prst="rect">
            <a:avLst/>
          </a:prstGeom>
          <a:solidFill>
            <a:srgbClr val="E5E7EB"/>
          </a:solidFill>
          <a:ln/>
        </p:spPr>
      </p:sp>
      <p:sp>
        <p:nvSpPr>
          <p:cNvPr id="19" name="Text 17"/>
          <p:cNvSpPr txBox="1"/>
          <p:nvPr/>
        </p:nvSpPr>
        <p:spPr>
          <a:xfrm>
            <a:off x="5680253" y="989318"/>
            <a:ext cx="981151" cy="228600"/>
          </a:xfrm>
          <a:prstGeom prst="rect">
            <a:avLst/>
          </a:prstGeom>
          <a:noFill/>
          <a:ln/>
        </p:spPr>
        <p:txBody>
          <a:bodyPr wrap="square" lIns="0" tIns="0" rIns="0" bIns="0" rtlCol="0" anchor="ctr"/>
          <a:lstStyle/>
          <a:p>
            <a:pPr marL="0" indent="0" algn="l">
              <a:buNone/>
            </a:pPr>
            <a:r>
              <a:rPr lang="en-US" sz="1200" b="1" dirty="0">
                <a:solidFill>
                  <a:srgbClr val="374151"/>
                </a:solidFill>
                <a:latin typeface="Noto Sans KR" pitchFamily="34" charset="0"/>
                <a:ea typeface="Noto Sans KR" pitchFamily="34" charset="-122"/>
                <a:cs typeface="Noto Sans KR" pitchFamily="34" charset="-120"/>
              </a:rPr>
              <a:t>Description</a:t>
            </a:r>
            <a:endParaRPr lang="en-US" sz="1200" dirty="0"/>
          </a:p>
        </p:txBody>
      </p:sp>
      <p:sp>
        <p:nvSpPr>
          <p:cNvPr id="20" name="Shape 18"/>
          <p:cNvSpPr/>
          <p:nvPr/>
        </p:nvSpPr>
        <p:spPr>
          <a:xfrm>
            <a:off x="580644" y="1255041"/>
            <a:ext cx="6953098" cy="409651"/>
          </a:xfrm>
          <a:prstGeom prst="rect">
            <a:avLst/>
          </a:prstGeom>
          <a:solidFill>
            <a:srgbClr val="EFF6FF"/>
          </a:solidFill>
          <a:ln w="12700">
            <a:solidFill>
              <a:srgbClr val="BFDBFE"/>
            </a:solidFill>
            <a:prstDash val="solid"/>
          </a:ln>
        </p:spPr>
      </p:sp>
      <p:pic>
        <p:nvPicPr>
          <p:cNvPr id="21" name="Image 0" descr="preencoded.png"/>
          <p:cNvPicPr>
            <a:picLocks noChangeAspect="1"/>
          </p:cNvPicPr>
          <p:nvPr/>
        </p:nvPicPr>
        <p:blipFill>
          <a:blip r:embed="rId3"/>
          <a:srcRect/>
          <a:stretch/>
        </p:blipFill>
        <p:spPr>
          <a:xfrm>
            <a:off x="819302" y="1394944"/>
            <a:ext cx="133502" cy="133502"/>
          </a:xfrm>
          <a:prstGeom prst="rect">
            <a:avLst/>
          </a:prstGeom>
        </p:spPr>
      </p:pic>
      <p:sp>
        <p:nvSpPr>
          <p:cNvPr id="22" name="Text 19"/>
          <p:cNvSpPr txBox="1"/>
          <p:nvPr/>
        </p:nvSpPr>
        <p:spPr>
          <a:xfrm>
            <a:off x="1028700" y="1359282"/>
            <a:ext cx="1805026" cy="191110"/>
          </a:xfrm>
          <a:prstGeom prst="rect">
            <a:avLst/>
          </a:prstGeom>
          <a:noFill/>
          <a:ln/>
        </p:spPr>
        <p:txBody>
          <a:bodyPr wrap="square" lIns="0" tIns="0" rIns="0" bIns="0" rtlCol="0" anchor="ctr"/>
          <a:lstStyle/>
          <a:p>
            <a:pPr marL="0" indent="0" algn="l">
              <a:buNone/>
            </a:pPr>
            <a:r>
              <a:rPr lang="en-US" sz="1000" dirty="0">
                <a:solidFill>
                  <a:srgbClr val="1E40AF"/>
                </a:solidFill>
                <a:latin typeface="Noto Sans KR" pitchFamily="34" charset="0"/>
                <a:ea typeface="Noto Sans KR" pitchFamily="34" charset="-122"/>
                <a:cs typeface="Noto Sans KR" pitchFamily="34" charset="-120"/>
              </a:rPr>
              <a:t>PPO Training Configuration</a:t>
            </a:r>
            <a:endParaRPr lang="en-US" sz="1000" dirty="0"/>
          </a:p>
        </p:txBody>
      </p:sp>
      <p:sp>
        <p:nvSpPr>
          <p:cNvPr id="24" name="Text 21"/>
          <p:cNvSpPr txBox="1"/>
          <p:nvPr/>
        </p:nvSpPr>
        <p:spPr>
          <a:xfrm>
            <a:off x="819302" y="1826541"/>
            <a:ext cx="1402690" cy="171907"/>
          </a:xfrm>
          <a:prstGeom prst="rect">
            <a:avLst/>
          </a:prstGeom>
          <a:noFill/>
          <a:ln/>
        </p:spPr>
        <p:txBody>
          <a:bodyPr wrap="square" lIns="0" tIns="0" rIns="0" bIns="0" rtlCol="0" anchor="ctr"/>
          <a:lstStyle/>
          <a:p>
            <a:pPr marL="0" indent="0" algn="l">
              <a:buNone/>
            </a:pPr>
            <a:r>
              <a:rPr lang="en-US" sz="1100" b="1" dirty="0">
                <a:solidFill>
                  <a:srgbClr val="2563EB"/>
                </a:solidFill>
                <a:latin typeface="Consolas" pitchFamily="34" charset="0"/>
                <a:ea typeface="Consolas" pitchFamily="34" charset="-122"/>
                <a:cs typeface="Consolas" pitchFamily="34" charset="-120"/>
              </a:rPr>
              <a:t>total_timesteps</a:t>
            </a:r>
            <a:endParaRPr lang="en-US" sz="1100" dirty="0"/>
          </a:p>
        </p:txBody>
      </p:sp>
      <p:sp>
        <p:nvSpPr>
          <p:cNvPr id="25" name="Text 22"/>
          <p:cNvSpPr txBox="1"/>
          <p:nvPr/>
        </p:nvSpPr>
        <p:spPr>
          <a:xfrm>
            <a:off x="819302" y="2059713"/>
            <a:ext cx="2064715" cy="181051"/>
          </a:xfrm>
          <a:prstGeom prst="rect">
            <a:avLst/>
          </a:prstGeom>
          <a:noFill/>
          <a:ln/>
        </p:spPr>
        <p:txBody>
          <a:bodyPr wrap="square" lIns="0" tIns="0" rIns="0" bIns="0" rtlCol="0" anchor="ctr"/>
          <a:lstStyle/>
          <a:p>
            <a:pPr marL="0" indent="0" algn="l">
              <a:buNone/>
            </a:pPr>
            <a:r>
              <a:rPr lang="en-US" sz="900" dirty="0">
                <a:solidFill>
                  <a:srgbClr val="6B7280"/>
                </a:solidFill>
                <a:latin typeface="Noto Sans KR" pitchFamily="34" charset="0"/>
                <a:ea typeface="Noto Sans KR" pitchFamily="34" charset="-122"/>
                <a:cs typeface="Noto Sans KR" pitchFamily="34" charset="-120"/>
              </a:rPr>
              <a:t>Total interaction steps for training</a:t>
            </a:r>
            <a:endParaRPr lang="en-US" sz="900" dirty="0"/>
          </a:p>
        </p:txBody>
      </p:sp>
      <p:sp>
        <p:nvSpPr>
          <p:cNvPr id="27" name="Text 24"/>
          <p:cNvSpPr txBox="1"/>
          <p:nvPr/>
        </p:nvSpPr>
        <p:spPr>
          <a:xfrm>
            <a:off x="3943807" y="1918895"/>
            <a:ext cx="660197" cy="200254"/>
          </a:xfrm>
          <a:prstGeom prst="rect">
            <a:avLst/>
          </a:prstGeom>
          <a:noFill/>
          <a:ln/>
        </p:spPr>
        <p:txBody>
          <a:bodyPr wrap="square" lIns="0" tIns="0" rIns="0" bIns="0" rtlCol="0" anchor="ctr"/>
          <a:lstStyle/>
          <a:p>
            <a:pPr marL="0" indent="0" algn="l">
              <a:buNone/>
            </a:pPr>
            <a:r>
              <a:rPr lang="en-US" sz="1100" b="1" dirty="0">
                <a:solidFill>
                  <a:srgbClr val="4B5563"/>
                </a:solidFill>
                <a:latin typeface="Noto Sans KR" pitchFamily="34" charset="0"/>
                <a:ea typeface="Noto Sans KR" pitchFamily="34" charset="-122"/>
                <a:cs typeface="Noto Sans KR" pitchFamily="34" charset="-120"/>
              </a:rPr>
              <a:t>100,000</a:t>
            </a:r>
            <a:endParaRPr lang="en-US" sz="1100" dirty="0"/>
          </a:p>
        </p:txBody>
      </p:sp>
      <p:sp>
        <p:nvSpPr>
          <p:cNvPr id="29" name="Text 26"/>
          <p:cNvSpPr txBox="1"/>
          <p:nvPr/>
        </p:nvSpPr>
        <p:spPr>
          <a:xfrm>
            <a:off x="5680253" y="1811910"/>
            <a:ext cx="1279246" cy="419710"/>
          </a:xfrm>
          <a:prstGeom prst="rect">
            <a:avLst/>
          </a:prstGeom>
          <a:noFill/>
          <a:ln/>
        </p:spPr>
        <p:txBody>
          <a:bodyPr wrap="square" lIns="0" tIns="0" rIns="0" bIns="0" rtlCol="0" anchor="ctr"/>
          <a:lstStyle/>
          <a:p>
            <a:pPr marL="0" indent="0" algn="l">
              <a:buNone/>
            </a:pPr>
            <a:r>
              <a:rPr lang="en-US" sz="1100" dirty="0">
                <a:solidFill>
                  <a:srgbClr val="4B5563"/>
                </a:solidFill>
                <a:latin typeface="Noto Sans KR" pitchFamily="34" charset="0"/>
                <a:ea typeface="Noto Sans KR" pitchFamily="34" charset="-122"/>
                <a:cs typeface="Noto Sans KR" pitchFamily="34" charset="-120"/>
              </a:rPr>
              <a:t>Standard training duration</a:t>
            </a:r>
            <a:endParaRPr lang="en-US" sz="1100" dirty="0"/>
          </a:p>
        </p:txBody>
      </p:sp>
      <p:sp>
        <p:nvSpPr>
          <p:cNvPr id="31" name="Text 28"/>
          <p:cNvSpPr txBox="1"/>
          <p:nvPr/>
        </p:nvSpPr>
        <p:spPr>
          <a:xfrm>
            <a:off x="819302" y="2421346"/>
            <a:ext cx="1231697" cy="171907"/>
          </a:xfrm>
          <a:prstGeom prst="rect">
            <a:avLst/>
          </a:prstGeom>
          <a:noFill/>
          <a:ln/>
        </p:spPr>
        <p:txBody>
          <a:bodyPr wrap="square" lIns="0" tIns="0" rIns="0" bIns="0" rtlCol="0" anchor="ctr"/>
          <a:lstStyle/>
          <a:p>
            <a:pPr marL="0" indent="0" algn="l">
              <a:buNone/>
            </a:pPr>
            <a:r>
              <a:rPr lang="en-US" sz="1100" b="1" dirty="0">
                <a:solidFill>
                  <a:srgbClr val="2563EB"/>
                </a:solidFill>
                <a:latin typeface="Consolas" pitchFamily="34" charset="0"/>
                <a:ea typeface="Consolas" pitchFamily="34" charset="-122"/>
                <a:cs typeface="Consolas" pitchFamily="34" charset="-120"/>
              </a:rPr>
              <a:t>learning_rate</a:t>
            </a:r>
            <a:endParaRPr lang="en-US" sz="1100" dirty="0"/>
          </a:p>
        </p:txBody>
      </p:sp>
      <p:sp>
        <p:nvSpPr>
          <p:cNvPr id="32" name="Text 29"/>
          <p:cNvSpPr txBox="1"/>
          <p:nvPr/>
        </p:nvSpPr>
        <p:spPr>
          <a:xfrm>
            <a:off x="819302" y="2654518"/>
            <a:ext cx="1570025" cy="181051"/>
          </a:xfrm>
          <a:prstGeom prst="rect">
            <a:avLst/>
          </a:prstGeom>
          <a:noFill/>
          <a:ln/>
        </p:spPr>
        <p:txBody>
          <a:bodyPr wrap="square" lIns="0" tIns="0" rIns="0" bIns="0" rtlCol="0" anchor="ctr"/>
          <a:lstStyle/>
          <a:p>
            <a:pPr marL="0" indent="0" algn="l">
              <a:buNone/>
            </a:pPr>
            <a:r>
              <a:rPr lang="en-US" sz="900" dirty="0">
                <a:solidFill>
                  <a:srgbClr val="6B7280"/>
                </a:solidFill>
                <a:latin typeface="Noto Sans KR" pitchFamily="34" charset="0"/>
                <a:ea typeface="Noto Sans KR" pitchFamily="34" charset="-122"/>
                <a:cs typeface="Noto Sans KR" pitchFamily="34" charset="-120"/>
              </a:rPr>
              <a:t>Step size for optimization</a:t>
            </a:r>
            <a:endParaRPr lang="en-US" sz="900" dirty="0"/>
          </a:p>
        </p:txBody>
      </p:sp>
      <p:sp>
        <p:nvSpPr>
          <p:cNvPr id="34" name="Text 31"/>
          <p:cNvSpPr txBox="1"/>
          <p:nvPr/>
        </p:nvSpPr>
        <p:spPr>
          <a:xfrm>
            <a:off x="3943807" y="2513700"/>
            <a:ext cx="1031443" cy="200254"/>
          </a:xfrm>
          <a:prstGeom prst="rect">
            <a:avLst/>
          </a:prstGeom>
          <a:noFill/>
          <a:ln/>
        </p:spPr>
        <p:txBody>
          <a:bodyPr wrap="square" lIns="0" tIns="0" rIns="0" bIns="0" rtlCol="0" anchor="ctr"/>
          <a:lstStyle/>
          <a:p>
            <a:pPr marL="0" indent="0" algn="l">
              <a:buNone/>
            </a:pPr>
            <a:r>
              <a:rPr lang="en-US" sz="1100" b="1" dirty="0">
                <a:solidFill>
                  <a:srgbClr val="4B5563"/>
                </a:solidFill>
                <a:latin typeface="Noto Sans KR" pitchFamily="34" charset="0"/>
                <a:ea typeface="Noto Sans KR" pitchFamily="34" charset="-122"/>
                <a:cs typeface="Noto Sans KR" pitchFamily="34" charset="-120"/>
              </a:rPr>
              <a:t>3e-4 (0.0003)</a:t>
            </a:r>
            <a:endParaRPr lang="en-US" sz="1100" dirty="0"/>
          </a:p>
        </p:txBody>
      </p:sp>
      <p:sp>
        <p:nvSpPr>
          <p:cNvPr id="36" name="Text 33"/>
          <p:cNvSpPr txBox="1"/>
          <p:nvPr/>
        </p:nvSpPr>
        <p:spPr>
          <a:xfrm>
            <a:off x="5680253" y="2513700"/>
            <a:ext cx="1708099" cy="200254"/>
          </a:xfrm>
          <a:prstGeom prst="rect">
            <a:avLst/>
          </a:prstGeom>
          <a:noFill/>
          <a:ln/>
        </p:spPr>
        <p:txBody>
          <a:bodyPr wrap="square" lIns="0" tIns="0" rIns="0" bIns="0" rtlCol="0" anchor="ctr"/>
          <a:lstStyle/>
          <a:p>
            <a:pPr marL="0" indent="0" algn="l">
              <a:buNone/>
            </a:pPr>
            <a:r>
              <a:rPr lang="en-US" sz="1100" dirty="0">
                <a:solidFill>
                  <a:srgbClr val="4B5563"/>
                </a:solidFill>
                <a:latin typeface="Noto Sans KR" pitchFamily="34" charset="0"/>
                <a:ea typeface="Noto Sans KR" pitchFamily="34" charset="-122"/>
                <a:cs typeface="Noto Sans KR" pitchFamily="34" charset="-120"/>
              </a:rPr>
              <a:t>Adam Optimizer default</a:t>
            </a:r>
            <a:endParaRPr lang="en-US" sz="1100" dirty="0"/>
          </a:p>
        </p:txBody>
      </p:sp>
      <p:sp>
        <p:nvSpPr>
          <p:cNvPr id="38" name="Text 35"/>
          <p:cNvSpPr txBox="1"/>
          <p:nvPr/>
        </p:nvSpPr>
        <p:spPr>
          <a:xfrm>
            <a:off x="819302" y="2926830"/>
            <a:ext cx="716890" cy="171907"/>
          </a:xfrm>
          <a:prstGeom prst="rect">
            <a:avLst/>
          </a:prstGeom>
          <a:noFill/>
          <a:ln/>
        </p:spPr>
        <p:txBody>
          <a:bodyPr wrap="square" lIns="0" tIns="0" rIns="0" bIns="0" rtlCol="0" anchor="ctr"/>
          <a:lstStyle/>
          <a:p>
            <a:pPr marL="0" indent="0" algn="l">
              <a:buNone/>
            </a:pPr>
            <a:r>
              <a:rPr lang="en-US" sz="1100" b="1" dirty="0">
                <a:solidFill>
                  <a:srgbClr val="2563EB"/>
                </a:solidFill>
                <a:latin typeface="Consolas" pitchFamily="34" charset="0"/>
                <a:ea typeface="Consolas" pitchFamily="34" charset="-122"/>
                <a:cs typeface="Consolas" pitchFamily="34" charset="-120"/>
              </a:rPr>
              <a:t>n_steps</a:t>
            </a:r>
            <a:endParaRPr lang="en-US" sz="1100" dirty="0"/>
          </a:p>
        </p:txBody>
      </p:sp>
      <p:sp>
        <p:nvSpPr>
          <p:cNvPr id="39" name="Text 36"/>
          <p:cNvSpPr txBox="1"/>
          <p:nvPr/>
        </p:nvSpPr>
        <p:spPr>
          <a:xfrm>
            <a:off x="819302" y="3160002"/>
            <a:ext cx="1865376" cy="181051"/>
          </a:xfrm>
          <a:prstGeom prst="rect">
            <a:avLst/>
          </a:prstGeom>
          <a:noFill/>
          <a:ln/>
        </p:spPr>
        <p:txBody>
          <a:bodyPr wrap="square" lIns="0" tIns="0" rIns="0" bIns="0" rtlCol="0" anchor="ctr"/>
          <a:lstStyle/>
          <a:p>
            <a:pPr marL="0" indent="0" algn="l">
              <a:buNone/>
            </a:pPr>
            <a:r>
              <a:rPr lang="en-US" sz="900" dirty="0">
                <a:solidFill>
                  <a:srgbClr val="6B7280"/>
                </a:solidFill>
                <a:latin typeface="Noto Sans KR" pitchFamily="34" charset="0"/>
                <a:ea typeface="Noto Sans KR" pitchFamily="34" charset="-122"/>
                <a:cs typeface="Noto Sans KR" pitchFamily="34" charset="-120"/>
              </a:rPr>
              <a:t>Steps per environment update</a:t>
            </a:r>
            <a:endParaRPr lang="en-US" sz="900" dirty="0"/>
          </a:p>
        </p:txBody>
      </p:sp>
      <p:sp>
        <p:nvSpPr>
          <p:cNvPr id="41" name="Text 38"/>
          <p:cNvSpPr txBox="1"/>
          <p:nvPr/>
        </p:nvSpPr>
        <p:spPr>
          <a:xfrm>
            <a:off x="3943807" y="3019185"/>
            <a:ext cx="498348" cy="200254"/>
          </a:xfrm>
          <a:prstGeom prst="rect">
            <a:avLst/>
          </a:prstGeom>
          <a:noFill/>
          <a:ln/>
        </p:spPr>
        <p:txBody>
          <a:bodyPr wrap="square" lIns="0" tIns="0" rIns="0" bIns="0" rtlCol="0" anchor="ctr"/>
          <a:lstStyle/>
          <a:p>
            <a:pPr marL="0" indent="0" algn="l">
              <a:buNone/>
            </a:pPr>
            <a:r>
              <a:rPr lang="en-US" sz="1100" b="1" dirty="0">
                <a:solidFill>
                  <a:srgbClr val="4B5563"/>
                </a:solidFill>
                <a:latin typeface="Noto Sans KR" pitchFamily="34" charset="0"/>
                <a:ea typeface="Noto Sans KR" pitchFamily="34" charset="-122"/>
                <a:cs typeface="Noto Sans KR" pitchFamily="34" charset="-120"/>
              </a:rPr>
              <a:t>2,048</a:t>
            </a:r>
            <a:endParaRPr lang="en-US" sz="1100" dirty="0"/>
          </a:p>
        </p:txBody>
      </p:sp>
      <p:sp>
        <p:nvSpPr>
          <p:cNvPr id="43" name="Text 40"/>
          <p:cNvSpPr txBox="1"/>
          <p:nvPr/>
        </p:nvSpPr>
        <p:spPr>
          <a:xfrm>
            <a:off x="5680253" y="3019185"/>
            <a:ext cx="1479499" cy="200254"/>
          </a:xfrm>
          <a:prstGeom prst="rect">
            <a:avLst/>
          </a:prstGeom>
          <a:noFill/>
          <a:ln/>
        </p:spPr>
        <p:txBody>
          <a:bodyPr wrap="square" lIns="0" tIns="0" rIns="0" bIns="0" rtlCol="0" anchor="ctr"/>
          <a:lstStyle/>
          <a:p>
            <a:pPr marL="0" indent="0" algn="l">
              <a:buNone/>
            </a:pPr>
            <a:r>
              <a:rPr lang="en-US" sz="1100" dirty="0">
                <a:solidFill>
                  <a:srgbClr val="4B5563"/>
                </a:solidFill>
                <a:latin typeface="Noto Sans KR" pitchFamily="34" charset="0"/>
                <a:ea typeface="Noto Sans KR" pitchFamily="34" charset="-122"/>
                <a:cs typeface="Noto Sans KR" pitchFamily="34" charset="-120"/>
              </a:rPr>
              <a:t>Batch collection size</a:t>
            </a:r>
            <a:endParaRPr lang="en-US" sz="1100" dirty="0"/>
          </a:p>
        </p:txBody>
      </p:sp>
      <p:sp>
        <p:nvSpPr>
          <p:cNvPr id="45" name="Text 42"/>
          <p:cNvSpPr txBox="1"/>
          <p:nvPr/>
        </p:nvSpPr>
        <p:spPr>
          <a:xfrm>
            <a:off x="819302" y="3476091"/>
            <a:ext cx="974750" cy="171907"/>
          </a:xfrm>
          <a:prstGeom prst="rect">
            <a:avLst/>
          </a:prstGeom>
          <a:noFill/>
          <a:ln/>
        </p:spPr>
        <p:txBody>
          <a:bodyPr wrap="square" lIns="0" tIns="0" rIns="0" bIns="0" rtlCol="0" anchor="ctr"/>
          <a:lstStyle/>
          <a:p>
            <a:pPr marL="0" indent="0" algn="l">
              <a:buNone/>
            </a:pPr>
            <a:r>
              <a:rPr lang="en-US" sz="1100" b="1" dirty="0">
                <a:solidFill>
                  <a:srgbClr val="2563EB"/>
                </a:solidFill>
                <a:latin typeface="Consolas" pitchFamily="34" charset="0"/>
                <a:ea typeface="Consolas" pitchFamily="34" charset="-122"/>
                <a:cs typeface="Consolas" pitchFamily="34" charset="-120"/>
              </a:rPr>
              <a:t>batch_size</a:t>
            </a:r>
            <a:endParaRPr lang="en-US" sz="1100" dirty="0"/>
          </a:p>
        </p:txBody>
      </p:sp>
      <p:sp>
        <p:nvSpPr>
          <p:cNvPr id="46" name="Text 43"/>
          <p:cNvSpPr txBox="1"/>
          <p:nvPr/>
        </p:nvSpPr>
        <p:spPr>
          <a:xfrm>
            <a:off x="819302" y="3709263"/>
            <a:ext cx="2122322" cy="181051"/>
          </a:xfrm>
          <a:prstGeom prst="rect">
            <a:avLst/>
          </a:prstGeom>
          <a:noFill/>
          <a:ln/>
        </p:spPr>
        <p:txBody>
          <a:bodyPr wrap="square" lIns="0" tIns="0" rIns="0" bIns="0" rtlCol="0" anchor="ctr"/>
          <a:lstStyle/>
          <a:p>
            <a:pPr marL="0" indent="0" algn="l">
              <a:buNone/>
            </a:pPr>
            <a:r>
              <a:rPr lang="en-US" sz="900" dirty="0">
                <a:solidFill>
                  <a:srgbClr val="6B7280"/>
                </a:solidFill>
                <a:latin typeface="Noto Sans KR" pitchFamily="34" charset="0"/>
                <a:ea typeface="Noto Sans KR" pitchFamily="34" charset="-122"/>
                <a:cs typeface="Noto Sans KR" pitchFamily="34" charset="-120"/>
              </a:rPr>
              <a:t>Mini-batch size for gradient update</a:t>
            </a:r>
            <a:endParaRPr lang="en-US" sz="900" dirty="0"/>
          </a:p>
        </p:txBody>
      </p:sp>
      <p:sp>
        <p:nvSpPr>
          <p:cNvPr id="48" name="Text 45"/>
          <p:cNvSpPr txBox="1"/>
          <p:nvPr/>
        </p:nvSpPr>
        <p:spPr>
          <a:xfrm>
            <a:off x="3943807" y="3568446"/>
            <a:ext cx="278892" cy="200254"/>
          </a:xfrm>
          <a:prstGeom prst="rect">
            <a:avLst/>
          </a:prstGeom>
          <a:noFill/>
          <a:ln/>
        </p:spPr>
        <p:txBody>
          <a:bodyPr wrap="square" lIns="0" tIns="0" rIns="0" bIns="0" rtlCol="0" anchor="ctr"/>
          <a:lstStyle/>
          <a:p>
            <a:pPr marL="0" indent="0" algn="l">
              <a:buNone/>
            </a:pPr>
            <a:r>
              <a:rPr lang="en-US" sz="1100" b="1" dirty="0">
                <a:solidFill>
                  <a:srgbClr val="4B5563"/>
                </a:solidFill>
                <a:latin typeface="Noto Sans KR" pitchFamily="34" charset="0"/>
                <a:ea typeface="Noto Sans KR" pitchFamily="34" charset="-122"/>
                <a:cs typeface="Noto Sans KR" pitchFamily="34" charset="-120"/>
              </a:rPr>
              <a:t>64</a:t>
            </a:r>
            <a:endParaRPr lang="en-US" sz="1100" dirty="0"/>
          </a:p>
        </p:txBody>
      </p:sp>
      <p:sp>
        <p:nvSpPr>
          <p:cNvPr id="50" name="Text 47"/>
          <p:cNvSpPr txBox="1"/>
          <p:nvPr/>
        </p:nvSpPr>
        <p:spPr>
          <a:xfrm>
            <a:off x="5680253" y="3568446"/>
            <a:ext cx="1678838" cy="200254"/>
          </a:xfrm>
          <a:prstGeom prst="rect">
            <a:avLst/>
          </a:prstGeom>
          <a:noFill/>
          <a:ln/>
        </p:spPr>
        <p:txBody>
          <a:bodyPr wrap="square" lIns="0" tIns="0" rIns="0" bIns="0" rtlCol="0" anchor="ctr"/>
          <a:lstStyle/>
          <a:p>
            <a:pPr marL="0" indent="0" algn="l">
              <a:buNone/>
            </a:pPr>
            <a:r>
              <a:rPr lang="en-US" sz="1100" dirty="0">
                <a:solidFill>
                  <a:srgbClr val="4B5563"/>
                </a:solidFill>
                <a:latin typeface="Noto Sans KR" pitchFamily="34" charset="0"/>
                <a:ea typeface="Noto Sans KR" pitchFamily="34" charset="-122"/>
                <a:cs typeface="Noto Sans KR" pitchFamily="34" charset="-120"/>
              </a:rPr>
              <a:t>Optimization batch size</a:t>
            </a:r>
            <a:endParaRPr lang="en-US" sz="1100" dirty="0"/>
          </a:p>
        </p:txBody>
      </p:sp>
      <p:sp>
        <p:nvSpPr>
          <p:cNvPr id="51" name="Shape 48"/>
          <p:cNvSpPr/>
          <p:nvPr/>
        </p:nvSpPr>
        <p:spPr>
          <a:xfrm>
            <a:off x="580644" y="4578083"/>
            <a:ext cx="3133649" cy="9144"/>
          </a:xfrm>
          <a:prstGeom prst="rect">
            <a:avLst/>
          </a:prstGeom>
          <a:solidFill>
            <a:srgbClr val="E5E7EB"/>
          </a:solidFill>
          <a:ln/>
        </p:spPr>
      </p:sp>
      <p:sp>
        <p:nvSpPr>
          <p:cNvPr id="52" name="Text 49"/>
          <p:cNvSpPr txBox="1"/>
          <p:nvPr/>
        </p:nvSpPr>
        <p:spPr>
          <a:xfrm>
            <a:off x="819302" y="4020299"/>
            <a:ext cx="802843" cy="171907"/>
          </a:xfrm>
          <a:prstGeom prst="rect">
            <a:avLst/>
          </a:prstGeom>
          <a:noFill/>
          <a:ln/>
        </p:spPr>
        <p:txBody>
          <a:bodyPr wrap="square" lIns="0" tIns="0" rIns="0" bIns="0" rtlCol="0" anchor="ctr"/>
          <a:lstStyle/>
          <a:p>
            <a:pPr marL="0" indent="0" algn="l">
              <a:buNone/>
            </a:pPr>
            <a:r>
              <a:rPr lang="en-US" sz="1100" b="1" dirty="0">
                <a:solidFill>
                  <a:srgbClr val="2563EB"/>
                </a:solidFill>
                <a:latin typeface="Consolas" pitchFamily="34" charset="0"/>
                <a:ea typeface="Consolas" pitchFamily="34" charset="-122"/>
                <a:cs typeface="Consolas" pitchFamily="34" charset="-120"/>
              </a:rPr>
              <a:t>n_epochs</a:t>
            </a:r>
            <a:endParaRPr lang="en-US" sz="1100" dirty="0"/>
          </a:p>
        </p:txBody>
      </p:sp>
      <p:sp>
        <p:nvSpPr>
          <p:cNvPr id="53" name="Text 50"/>
          <p:cNvSpPr txBox="1"/>
          <p:nvPr/>
        </p:nvSpPr>
        <p:spPr>
          <a:xfrm>
            <a:off x="819302" y="4253471"/>
            <a:ext cx="1188720" cy="181051"/>
          </a:xfrm>
          <a:prstGeom prst="rect">
            <a:avLst/>
          </a:prstGeom>
          <a:noFill/>
          <a:ln/>
        </p:spPr>
        <p:txBody>
          <a:bodyPr wrap="square" lIns="0" tIns="0" rIns="0" bIns="0" rtlCol="0" anchor="ctr"/>
          <a:lstStyle/>
          <a:p>
            <a:pPr marL="0" indent="0" algn="l">
              <a:buNone/>
            </a:pPr>
            <a:r>
              <a:rPr lang="en-US" sz="900" dirty="0">
                <a:solidFill>
                  <a:srgbClr val="6B7280"/>
                </a:solidFill>
                <a:latin typeface="Noto Sans KR" pitchFamily="34" charset="0"/>
                <a:ea typeface="Noto Sans KR" pitchFamily="34" charset="-122"/>
                <a:cs typeface="Noto Sans KR" pitchFamily="34" charset="-120"/>
              </a:rPr>
              <a:t>Epochs per update</a:t>
            </a:r>
            <a:endParaRPr lang="en-US" sz="900" dirty="0"/>
          </a:p>
        </p:txBody>
      </p:sp>
      <p:sp>
        <p:nvSpPr>
          <p:cNvPr id="54" name="Shape 51"/>
          <p:cNvSpPr/>
          <p:nvPr/>
        </p:nvSpPr>
        <p:spPr>
          <a:xfrm>
            <a:off x="3706063" y="4578083"/>
            <a:ext cx="1742846" cy="9144"/>
          </a:xfrm>
          <a:prstGeom prst="rect">
            <a:avLst/>
          </a:prstGeom>
          <a:solidFill>
            <a:srgbClr val="E5E7EB"/>
          </a:solidFill>
          <a:ln/>
        </p:spPr>
      </p:sp>
      <p:sp>
        <p:nvSpPr>
          <p:cNvPr id="55" name="Text 52"/>
          <p:cNvSpPr txBox="1"/>
          <p:nvPr/>
        </p:nvSpPr>
        <p:spPr>
          <a:xfrm>
            <a:off x="3943807" y="4113568"/>
            <a:ext cx="278892" cy="200254"/>
          </a:xfrm>
          <a:prstGeom prst="rect">
            <a:avLst/>
          </a:prstGeom>
          <a:noFill/>
          <a:ln/>
        </p:spPr>
        <p:txBody>
          <a:bodyPr wrap="square" lIns="0" tIns="0" rIns="0" bIns="0" rtlCol="0" anchor="ctr"/>
          <a:lstStyle/>
          <a:p>
            <a:pPr marL="0" indent="0" algn="l">
              <a:buNone/>
            </a:pPr>
            <a:r>
              <a:rPr lang="en-US" sz="1100" b="1" dirty="0">
                <a:solidFill>
                  <a:srgbClr val="4B5563"/>
                </a:solidFill>
                <a:latin typeface="Noto Sans KR" pitchFamily="34" charset="0"/>
                <a:ea typeface="Noto Sans KR" pitchFamily="34" charset="-122"/>
                <a:cs typeface="Noto Sans KR" pitchFamily="34" charset="-120"/>
              </a:rPr>
              <a:t>10</a:t>
            </a:r>
            <a:endParaRPr lang="en-US" sz="1100" dirty="0"/>
          </a:p>
        </p:txBody>
      </p:sp>
      <p:sp>
        <p:nvSpPr>
          <p:cNvPr id="56" name="Shape 53"/>
          <p:cNvSpPr/>
          <p:nvPr/>
        </p:nvSpPr>
        <p:spPr>
          <a:xfrm>
            <a:off x="5442509" y="4805947"/>
            <a:ext cx="2085746" cy="9144"/>
          </a:xfrm>
          <a:prstGeom prst="rect">
            <a:avLst/>
          </a:prstGeom>
          <a:solidFill>
            <a:srgbClr val="E5E7EB"/>
          </a:solidFill>
          <a:ln/>
        </p:spPr>
      </p:sp>
      <p:sp>
        <p:nvSpPr>
          <p:cNvPr id="57" name="Text 54"/>
          <p:cNvSpPr txBox="1"/>
          <p:nvPr/>
        </p:nvSpPr>
        <p:spPr>
          <a:xfrm>
            <a:off x="5680253" y="4113568"/>
            <a:ext cx="1460297" cy="200254"/>
          </a:xfrm>
          <a:prstGeom prst="rect">
            <a:avLst/>
          </a:prstGeom>
          <a:noFill/>
          <a:ln/>
        </p:spPr>
        <p:txBody>
          <a:bodyPr wrap="square" lIns="0" tIns="0" rIns="0" bIns="0" rtlCol="0" anchor="ctr"/>
          <a:lstStyle/>
          <a:p>
            <a:pPr marL="0" indent="0" algn="l">
              <a:buNone/>
            </a:pPr>
            <a:r>
              <a:rPr lang="en-US" sz="1100" dirty="0">
                <a:solidFill>
                  <a:srgbClr val="4B5563"/>
                </a:solidFill>
                <a:latin typeface="Noto Sans KR" pitchFamily="34" charset="0"/>
                <a:ea typeface="Noto Sans KR" pitchFamily="34" charset="-122"/>
                <a:cs typeface="Noto Sans KR" pitchFamily="34" charset="-120"/>
              </a:rPr>
              <a:t>Reuse data 10 times</a:t>
            </a:r>
            <a:endParaRPr lang="en-US" sz="1100" dirty="0"/>
          </a:p>
        </p:txBody>
      </p:sp>
      <p:sp>
        <p:nvSpPr>
          <p:cNvPr id="58" name="Shape 55"/>
          <p:cNvSpPr/>
          <p:nvPr/>
        </p:nvSpPr>
        <p:spPr>
          <a:xfrm>
            <a:off x="580644" y="4587227"/>
            <a:ext cx="6953098" cy="400507"/>
          </a:xfrm>
          <a:prstGeom prst="rect">
            <a:avLst/>
          </a:prstGeom>
          <a:solidFill>
            <a:srgbClr val="EFF6FF"/>
          </a:solidFill>
          <a:ln w="12700">
            <a:solidFill>
              <a:srgbClr val="BFDBFE"/>
            </a:solidFill>
            <a:prstDash val="solid"/>
          </a:ln>
        </p:spPr>
      </p:sp>
      <p:pic>
        <p:nvPicPr>
          <p:cNvPr id="59" name="Image 1" descr="preencoded.png"/>
          <p:cNvPicPr>
            <a:picLocks noChangeAspect="1"/>
          </p:cNvPicPr>
          <p:nvPr/>
        </p:nvPicPr>
        <p:blipFill>
          <a:blip r:embed="rId4"/>
          <a:srcRect l="-1507" r="-1507"/>
          <a:stretch/>
        </p:blipFill>
        <p:spPr>
          <a:xfrm>
            <a:off x="819302" y="4722558"/>
            <a:ext cx="171907" cy="133502"/>
          </a:xfrm>
          <a:prstGeom prst="rect">
            <a:avLst/>
          </a:prstGeom>
        </p:spPr>
      </p:pic>
      <p:sp>
        <p:nvSpPr>
          <p:cNvPr id="60" name="Text 56"/>
          <p:cNvSpPr txBox="1"/>
          <p:nvPr/>
        </p:nvSpPr>
        <p:spPr>
          <a:xfrm>
            <a:off x="1067105" y="4686897"/>
            <a:ext cx="1491386" cy="191110"/>
          </a:xfrm>
          <a:prstGeom prst="rect">
            <a:avLst/>
          </a:prstGeom>
          <a:noFill/>
          <a:ln/>
        </p:spPr>
        <p:txBody>
          <a:bodyPr wrap="square" lIns="0" tIns="0" rIns="0" bIns="0" rtlCol="0" anchor="ctr"/>
          <a:lstStyle/>
          <a:p>
            <a:pPr marL="0" indent="0" algn="l">
              <a:buNone/>
            </a:pPr>
            <a:r>
              <a:rPr lang="en-US" sz="1000" dirty="0">
                <a:solidFill>
                  <a:srgbClr val="1E40AF"/>
                </a:solidFill>
                <a:latin typeface="Noto Sans KR" pitchFamily="34" charset="0"/>
                <a:ea typeface="Noto Sans KR" pitchFamily="34" charset="-122"/>
                <a:cs typeface="Noto Sans KR" pitchFamily="34" charset="-120"/>
              </a:rPr>
              <a:t>PPO Hyperparameters</a:t>
            </a:r>
            <a:endParaRPr lang="en-US" sz="1000" dirty="0"/>
          </a:p>
        </p:txBody>
      </p:sp>
      <p:sp>
        <p:nvSpPr>
          <p:cNvPr id="62" name="Text 58"/>
          <p:cNvSpPr txBox="1"/>
          <p:nvPr/>
        </p:nvSpPr>
        <p:spPr>
          <a:xfrm>
            <a:off x="819302" y="5074814"/>
            <a:ext cx="888797" cy="171907"/>
          </a:xfrm>
          <a:prstGeom prst="rect">
            <a:avLst/>
          </a:prstGeom>
          <a:noFill/>
          <a:ln/>
        </p:spPr>
        <p:txBody>
          <a:bodyPr wrap="square" lIns="0" tIns="0" rIns="0" bIns="0" rtlCol="0" anchor="ctr"/>
          <a:lstStyle/>
          <a:p>
            <a:pPr marL="0" indent="0" algn="l">
              <a:buNone/>
            </a:pPr>
            <a:r>
              <a:rPr lang="en-US" sz="1100" b="1" dirty="0">
                <a:solidFill>
                  <a:srgbClr val="2563EB"/>
                </a:solidFill>
                <a:latin typeface="Consolas" pitchFamily="34" charset="0"/>
                <a:ea typeface="Consolas" pitchFamily="34" charset="-122"/>
                <a:cs typeface="Consolas" pitchFamily="34" charset="-120"/>
              </a:rPr>
              <a:t>gamma (γ)</a:t>
            </a:r>
            <a:endParaRPr lang="en-US" sz="1100" dirty="0"/>
          </a:p>
        </p:txBody>
      </p:sp>
      <p:sp>
        <p:nvSpPr>
          <p:cNvPr id="63" name="Text 59"/>
          <p:cNvSpPr txBox="1"/>
          <p:nvPr/>
        </p:nvSpPr>
        <p:spPr>
          <a:xfrm>
            <a:off x="819302" y="5307986"/>
            <a:ext cx="979322" cy="181051"/>
          </a:xfrm>
          <a:prstGeom prst="rect">
            <a:avLst/>
          </a:prstGeom>
          <a:noFill/>
          <a:ln/>
        </p:spPr>
        <p:txBody>
          <a:bodyPr wrap="square" lIns="0" tIns="0" rIns="0" bIns="0" rtlCol="0" anchor="ctr"/>
          <a:lstStyle/>
          <a:p>
            <a:pPr marL="0" indent="0" algn="l">
              <a:buNone/>
            </a:pPr>
            <a:r>
              <a:rPr lang="en-US" sz="900" dirty="0">
                <a:solidFill>
                  <a:srgbClr val="6B7280"/>
                </a:solidFill>
                <a:latin typeface="Noto Sans KR" pitchFamily="34" charset="0"/>
                <a:ea typeface="Noto Sans KR" pitchFamily="34" charset="-122"/>
                <a:cs typeface="Noto Sans KR" pitchFamily="34" charset="-120"/>
              </a:rPr>
              <a:t>Discount factor</a:t>
            </a:r>
            <a:endParaRPr lang="en-US" sz="900" dirty="0"/>
          </a:p>
        </p:txBody>
      </p:sp>
      <p:sp>
        <p:nvSpPr>
          <p:cNvPr id="65" name="Text 61"/>
          <p:cNvSpPr txBox="1"/>
          <p:nvPr/>
        </p:nvSpPr>
        <p:spPr>
          <a:xfrm>
            <a:off x="3943807" y="5167168"/>
            <a:ext cx="412394" cy="200254"/>
          </a:xfrm>
          <a:prstGeom prst="rect">
            <a:avLst/>
          </a:prstGeom>
          <a:noFill/>
          <a:ln/>
        </p:spPr>
        <p:txBody>
          <a:bodyPr wrap="square" lIns="0" tIns="0" rIns="0" bIns="0" rtlCol="0" anchor="ctr"/>
          <a:lstStyle/>
          <a:p>
            <a:pPr marL="0" indent="0" algn="l">
              <a:buNone/>
            </a:pPr>
            <a:r>
              <a:rPr lang="en-US" sz="1100" b="1" dirty="0">
                <a:solidFill>
                  <a:srgbClr val="4B5563"/>
                </a:solidFill>
                <a:latin typeface="Noto Sans KR" pitchFamily="34" charset="0"/>
                <a:ea typeface="Noto Sans KR" pitchFamily="34" charset="-122"/>
                <a:cs typeface="Noto Sans KR" pitchFamily="34" charset="-120"/>
              </a:rPr>
              <a:t>0.99</a:t>
            </a:r>
            <a:endParaRPr lang="en-US" sz="1100" dirty="0"/>
          </a:p>
        </p:txBody>
      </p:sp>
      <p:sp>
        <p:nvSpPr>
          <p:cNvPr id="67" name="Text 63"/>
          <p:cNvSpPr txBox="1"/>
          <p:nvPr/>
        </p:nvSpPr>
        <p:spPr>
          <a:xfrm>
            <a:off x="5680253" y="5060184"/>
            <a:ext cx="1421892" cy="419710"/>
          </a:xfrm>
          <a:prstGeom prst="rect">
            <a:avLst/>
          </a:prstGeom>
          <a:noFill/>
          <a:ln/>
        </p:spPr>
        <p:txBody>
          <a:bodyPr wrap="square" lIns="0" tIns="0" rIns="0" bIns="0" rtlCol="0" anchor="ctr"/>
          <a:lstStyle/>
          <a:p>
            <a:pPr marL="0" indent="0" algn="l">
              <a:buNone/>
            </a:pPr>
            <a:r>
              <a:rPr lang="en-US" sz="1100" dirty="0">
                <a:solidFill>
                  <a:srgbClr val="4B5563"/>
                </a:solidFill>
                <a:latin typeface="Noto Sans KR" pitchFamily="34" charset="0"/>
                <a:ea typeface="Noto Sans KR" pitchFamily="34" charset="-122"/>
                <a:cs typeface="Noto Sans KR" pitchFamily="34" charset="-120"/>
              </a:rPr>
              <a:t>Focus on long-term return</a:t>
            </a:r>
            <a:endParaRPr lang="en-US" sz="1100" dirty="0"/>
          </a:p>
        </p:txBody>
      </p:sp>
      <p:sp>
        <p:nvSpPr>
          <p:cNvPr id="69" name="Text 65"/>
          <p:cNvSpPr txBox="1"/>
          <p:nvPr/>
        </p:nvSpPr>
        <p:spPr>
          <a:xfrm>
            <a:off x="819302" y="5581292"/>
            <a:ext cx="1317650" cy="171907"/>
          </a:xfrm>
          <a:prstGeom prst="rect">
            <a:avLst/>
          </a:prstGeom>
          <a:noFill/>
          <a:ln/>
        </p:spPr>
        <p:txBody>
          <a:bodyPr wrap="square" lIns="0" tIns="0" rIns="0" bIns="0" rtlCol="0" anchor="ctr"/>
          <a:lstStyle/>
          <a:p>
            <a:pPr marL="0" indent="0" algn="l">
              <a:buNone/>
            </a:pPr>
            <a:r>
              <a:rPr lang="en-US" sz="1100" b="1" dirty="0">
                <a:solidFill>
                  <a:srgbClr val="2563EB"/>
                </a:solidFill>
                <a:latin typeface="Consolas" pitchFamily="34" charset="0"/>
                <a:ea typeface="Consolas" pitchFamily="34" charset="-122"/>
                <a:cs typeface="Consolas" pitchFamily="34" charset="-120"/>
              </a:rPr>
              <a:t>gae_lambda (λ)</a:t>
            </a:r>
            <a:endParaRPr lang="en-US" sz="1100" dirty="0"/>
          </a:p>
        </p:txBody>
      </p:sp>
      <p:sp>
        <p:nvSpPr>
          <p:cNvPr id="70" name="Text 66"/>
          <p:cNvSpPr txBox="1"/>
          <p:nvPr/>
        </p:nvSpPr>
        <p:spPr>
          <a:xfrm>
            <a:off x="819302" y="5814464"/>
            <a:ext cx="1626718" cy="181051"/>
          </a:xfrm>
          <a:prstGeom prst="rect">
            <a:avLst/>
          </a:prstGeom>
          <a:noFill/>
          <a:ln/>
        </p:spPr>
        <p:txBody>
          <a:bodyPr wrap="square" lIns="0" tIns="0" rIns="0" bIns="0" rtlCol="0" anchor="ctr"/>
          <a:lstStyle/>
          <a:p>
            <a:pPr marL="0" indent="0" algn="l">
              <a:buNone/>
            </a:pPr>
            <a:r>
              <a:rPr lang="en-US" sz="900" dirty="0">
                <a:solidFill>
                  <a:srgbClr val="6B7280"/>
                </a:solidFill>
                <a:latin typeface="Noto Sans KR" pitchFamily="34" charset="0"/>
                <a:ea typeface="Noto Sans KR" pitchFamily="34" charset="-122"/>
                <a:cs typeface="Noto Sans KR" pitchFamily="34" charset="-120"/>
              </a:rPr>
              <a:t>GAE smoothing parameter</a:t>
            </a:r>
            <a:endParaRPr lang="en-US" sz="900" dirty="0"/>
          </a:p>
        </p:txBody>
      </p:sp>
      <p:sp>
        <p:nvSpPr>
          <p:cNvPr id="72" name="Text 68"/>
          <p:cNvSpPr txBox="1"/>
          <p:nvPr/>
        </p:nvSpPr>
        <p:spPr>
          <a:xfrm>
            <a:off x="3943807" y="5673646"/>
            <a:ext cx="412394" cy="200254"/>
          </a:xfrm>
          <a:prstGeom prst="rect">
            <a:avLst/>
          </a:prstGeom>
          <a:noFill/>
          <a:ln/>
        </p:spPr>
        <p:txBody>
          <a:bodyPr wrap="square" lIns="0" tIns="0" rIns="0" bIns="0" rtlCol="0" anchor="ctr"/>
          <a:lstStyle/>
          <a:p>
            <a:pPr marL="0" indent="0" algn="l">
              <a:buNone/>
            </a:pPr>
            <a:r>
              <a:rPr lang="en-US" sz="1100" b="1" dirty="0">
                <a:solidFill>
                  <a:srgbClr val="4B5563"/>
                </a:solidFill>
                <a:latin typeface="Noto Sans KR" pitchFamily="34" charset="0"/>
                <a:ea typeface="Noto Sans KR" pitchFamily="34" charset="-122"/>
                <a:cs typeface="Noto Sans KR" pitchFamily="34" charset="-120"/>
              </a:rPr>
              <a:t>0.95</a:t>
            </a:r>
            <a:endParaRPr lang="en-US" sz="1100" dirty="0"/>
          </a:p>
        </p:txBody>
      </p:sp>
      <p:sp>
        <p:nvSpPr>
          <p:cNvPr id="74" name="Text 70"/>
          <p:cNvSpPr txBox="1"/>
          <p:nvPr/>
        </p:nvSpPr>
        <p:spPr>
          <a:xfrm>
            <a:off x="5680253" y="5673646"/>
            <a:ext cx="1574597" cy="200254"/>
          </a:xfrm>
          <a:prstGeom prst="rect">
            <a:avLst/>
          </a:prstGeom>
          <a:noFill/>
          <a:ln/>
        </p:spPr>
        <p:txBody>
          <a:bodyPr wrap="square" lIns="0" tIns="0" rIns="0" bIns="0" rtlCol="0" anchor="ctr"/>
          <a:lstStyle/>
          <a:p>
            <a:pPr marL="0" indent="0" algn="l">
              <a:buNone/>
            </a:pPr>
            <a:r>
              <a:rPr lang="en-US" sz="1100" dirty="0">
                <a:solidFill>
                  <a:srgbClr val="4B5563"/>
                </a:solidFill>
                <a:latin typeface="Noto Sans KR" pitchFamily="34" charset="0"/>
                <a:ea typeface="Noto Sans KR" pitchFamily="34" charset="-122"/>
                <a:cs typeface="Noto Sans KR" pitchFamily="34" charset="-120"/>
              </a:rPr>
              <a:t>Balance bias/variance</a:t>
            </a:r>
            <a:endParaRPr lang="en-US" sz="1100" dirty="0"/>
          </a:p>
        </p:txBody>
      </p:sp>
      <p:sp>
        <p:nvSpPr>
          <p:cNvPr id="75" name="Text 71"/>
          <p:cNvSpPr txBox="1"/>
          <p:nvPr/>
        </p:nvSpPr>
        <p:spPr>
          <a:xfrm>
            <a:off x="819302" y="6161731"/>
            <a:ext cx="1317650" cy="171907"/>
          </a:xfrm>
          <a:prstGeom prst="rect">
            <a:avLst/>
          </a:prstGeom>
          <a:noFill/>
          <a:ln/>
        </p:spPr>
        <p:txBody>
          <a:bodyPr wrap="square" lIns="0" tIns="0" rIns="0" bIns="0" rtlCol="0" anchor="ctr"/>
          <a:lstStyle/>
          <a:p>
            <a:pPr marL="0" indent="0" algn="l">
              <a:buNone/>
            </a:pPr>
            <a:r>
              <a:rPr lang="en-US" sz="1100" b="1" dirty="0">
                <a:solidFill>
                  <a:srgbClr val="2563EB"/>
                </a:solidFill>
                <a:latin typeface="Consolas" pitchFamily="34" charset="0"/>
                <a:ea typeface="Consolas" pitchFamily="34" charset="-122"/>
                <a:cs typeface="Consolas" pitchFamily="34" charset="-120"/>
              </a:rPr>
              <a:t>clip_range (ε)</a:t>
            </a:r>
            <a:endParaRPr lang="en-US" sz="1100" dirty="0"/>
          </a:p>
        </p:txBody>
      </p:sp>
      <p:sp>
        <p:nvSpPr>
          <p:cNvPr id="76" name="Text 72"/>
          <p:cNvSpPr txBox="1"/>
          <p:nvPr/>
        </p:nvSpPr>
        <p:spPr>
          <a:xfrm>
            <a:off x="819302" y="6394903"/>
            <a:ext cx="1207922" cy="181051"/>
          </a:xfrm>
          <a:prstGeom prst="rect">
            <a:avLst/>
          </a:prstGeom>
          <a:noFill/>
          <a:ln/>
        </p:spPr>
        <p:txBody>
          <a:bodyPr wrap="square" lIns="0" tIns="0" rIns="0" bIns="0" rtlCol="0" anchor="ctr"/>
          <a:lstStyle/>
          <a:p>
            <a:pPr marL="0" indent="0" algn="l">
              <a:buNone/>
            </a:pPr>
            <a:r>
              <a:rPr lang="en-US" sz="900" dirty="0">
                <a:solidFill>
                  <a:srgbClr val="6B7280"/>
                </a:solidFill>
                <a:latin typeface="Noto Sans KR" pitchFamily="34" charset="0"/>
                <a:ea typeface="Noto Sans KR" pitchFamily="34" charset="-122"/>
                <a:cs typeface="Noto Sans KR" pitchFamily="34" charset="-120"/>
              </a:rPr>
              <a:t>PPO clipping range</a:t>
            </a:r>
            <a:endParaRPr lang="en-US" sz="900" dirty="0"/>
          </a:p>
        </p:txBody>
      </p:sp>
      <p:sp>
        <p:nvSpPr>
          <p:cNvPr id="77" name="Text 73"/>
          <p:cNvSpPr txBox="1"/>
          <p:nvPr/>
        </p:nvSpPr>
        <p:spPr>
          <a:xfrm>
            <a:off x="3943807" y="6254085"/>
            <a:ext cx="326441" cy="200254"/>
          </a:xfrm>
          <a:prstGeom prst="rect">
            <a:avLst/>
          </a:prstGeom>
          <a:noFill/>
          <a:ln/>
        </p:spPr>
        <p:txBody>
          <a:bodyPr wrap="square" lIns="0" tIns="0" rIns="0" bIns="0" rtlCol="0" anchor="ctr"/>
          <a:lstStyle/>
          <a:p>
            <a:pPr marL="0" indent="0" algn="l">
              <a:buNone/>
            </a:pPr>
            <a:r>
              <a:rPr lang="en-US" sz="1100" b="1" dirty="0">
                <a:solidFill>
                  <a:srgbClr val="4B5563"/>
                </a:solidFill>
                <a:latin typeface="Noto Sans KR" pitchFamily="34" charset="0"/>
                <a:ea typeface="Noto Sans KR" pitchFamily="34" charset="-122"/>
                <a:cs typeface="Noto Sans KR" pitchFamily="34" charset="-120"/>
              </a:rPr>
              <a:t>0.2</a:t>
            </a:r>
            <a:endParaRPr lang="en-US" sz="1100" dirty="0"/>
          </a:p>
        </p:txBody>
      </p:sp>
      <p:sp>
        <p:nvSpPr>
          <p:cNvPr id="78" name="Text 74"/>
          <p:cNvSpPr txBox="1"/>
          <p:nvPr/>
        </p:nvSpPr>
        <p:spPr>
          <a:xfrm>
            <a:off x="5680253" y="6254085"/>
            <a:ext cx="1555394" cy="200254"/>
          </a:xfrm>
          <a:prstGeom prst="rect">
            <a:avLst/>
          </a:prstGeom>
          <a:noFill/>
          <a:ln/>
        </p:spPr>
        <p:txBody>
          <a:bodyPr wrap="square" lIns="0" tIns="0" rIns="0" bIns="0" rtlCol="0" anchor="ctr"/>
          <a:lstStyle/>
          <a:p>
            <a:pPr marL="0" indent="0" algn="l">
              <a:buNone/>
            </a:pPr>
            <a:r>
              <a:rPr lang="en-US" sz="1100" dirty="0">
                <a:solidFill>
                  <a:srgbClr val="4B5563"/>
                </a:solidFill>
                <a:latin typeface="Noto Sans KR" pitchFamily="34" charset="0"/>
                <a:ea typeface="Noto Sans KR" pitchFamily="34" charset="-122"/>
                <a:cs typeface="Noto Sans KR" pitchFamily="34" charset="-120"/>
              </a:rPr>
              <a:t>Conservative updates</a:t>
            </a:r>
            <a:endParaRPr lang="en-US" sz="1100" dirty="0"/>
          </a:p>
        </p:txBody>
      </p:sp>
      <p:sp>
        <p:nvSpPr>
          <p:cNvPr id="79" name="Shape 75"/>
          <p:cNvSpPr/>
          <p:nvPr/>
        </p:nvSpPr>
        <p:spPr>
          <a:xfrm>
            <a:off x="7916875" y="1217918"/>
            <a:ext cx="3705149" cy="2752344"/>
          </a:xfrm>
          <a:prstGeom prst="roundRect">
            <a:avLst>
              <a:gd name="adj" fmla="val 1379"/>
            </a:avLst>
          </a:prstGeom>
          <a:solidFill>
            <a:srgbClr val="F8FAFC"/>
          </a:solidFill>
          <a:ln/>
          <a:effectLst>
            <a:outerShdw blurRad="38100" dist="25400" dir="5400000" algn="bl" rotWithShape="0">
              <a:srgbClr val="000000">
                <a:alpha val="2000"/>
              </a:srgbClr>
            </a:outerShdw>
          </a:effectLst>
        </p:spPr>
      </p:sp>
      <p:sp>
        <p:nvSpPr>
          <p:cNvPr id="80" name="Shape 76"/>
          <p:cNvSpPr/>
          <p:nvPr/>
        </p:nvSpPr>
        <p:spPr>
          <a:xfrm>
            <a:off x="7916875" y="1217918"/>
            <a:ext cx="47549" cy="2752344"/>
          </a:xfrm>
          <a:prstGeom prst="rect">
            <a:avLst/>
          </a:prstGeom>
          <a:solidFill>
            <a:srgbClr val="3B82F6"/>
          </a:solidFill>
          <a:ln/>
        </p:spPr>
      </p:sp>
      <p:pic>
        <p:nvPicPr>
          <p:cNvPr id="81" name="Image 2" descr="preencoded.png"/>
          <p:cNvPicPr>
            <a:picLocks noChangeAspect="1"/>
          </p:cNvPicPr>
          <p:nvPr/>
        </p:nvPicPr>
        <p:blipFill>
          <a:blip r:embed="rId5"/>
          <a:srcRect/>
          <a:stretch/>
        </p:blipFill>
        <p:spPr>
          <a:xfrm>
            <a:off x="8202168" y="1499553"/>
            <a:ext cx="171907" cy="171907"/>
          </a:xfrm>
          <a:prstGeom prst="rect">
            <a:avLst/>
          </a:prstGeom>
        </p:spPr>
      </p:pic>
      <p:sp>
        <p:nvSpPr>
          <p:cNvPr id="82" name="Text 77"/>
          <p:cNvSpPr txBox="1"/>
          <p:nvPr/>
        </p:nvSpPr>
        <p:spPr>
          <a:xfrm>
            <a:off x="8469173" y="1456577"/>
            <a:ext cx="2091233" cy="247802"/>
          </a:xfrm>
          <a:prstGeom prst="rect">
            <a:avLst/>
          </a:prstGeom>
          <a:noFill/>
          <a:ln/>
        </p:spPr>
        <p:txBody>
          <a:bodyPr wrap="square" lIns="0" tIns="0" rIns="0" bIns="0" rtlCol="0" anchor="ctr"/>
          <a:lstStyle/>
          <a:p>
            <a:pPr marL="0" indent="0" algn="l">
              <a:buNone/>
            </a:pPr>
            <a:r>
              <a:rPr lang="en-US" sz="1300" b="1" dirty="0">
                <a:solidFill>
                  <a:srgbClr val="1F2937"/>
                </a:solidFill>
                <a:latin typeface="Noto Sans KR" pitchFamily="34" charset="0"/>
                <a:ea typeface="Noto Sans KR" pitchFamily="34" charset="-122"/>
                <a:cs typeface="Noto Sans KR" pitchFamily="34" charset="-120"/>
              </a:rPr>
              <a:t>환경 설정 (Environment)</a:t>
            </a:r>
            <a:endParaRPr lang="en-US" sz="1300" dirty="0"/>
          </a:p>
        </p:txBody>
      </p:sp>
      <p:sp>
        <p:nvSpPr>
          <p:cNvPr id="83" name="Shape 78"/>
          <p:cNvSpPr/>
          <p:nvPr/>
        </p:nvSpPr>
        <p:spPr>
          <a:xfrm>
            <a:off x="8202168" y="1856169"/>
            <a:ext cx="1524305" cy="866851"/>
          </a:xfrm>
          <a:prstGeom prst="roundRect">
            <a:avLst>
              <a:gd name="adj" fmla="val 9273"/>
            </a:avLst>
          </a:prstGeom>
          <a:solidFill>
            <a:srgbClr val="FFFFFF"/>
          </a:solidFill>
          <a:ln w="12700">
            <a:solidFill>
              <a:srgbClr val="E2E8F0"/>
            </a:solidFill>
            <a:prstDash val="solid"/>
          </a:ln>
        </p:spPr>
      </p:sp>
      <p:sp>
        <p:nvSpPr>
          <p:cNvPr id="84" name="Text 79"/>
          <p:cNvSpPr txBox="1"/>
          <p:nvPr/>
        </p:nvSpPr>
        <p:spPr>
          <a:xfrm>
            <a:off x="8697773" y="2008874"/>
            <a:ext cx="676656" cy="277063"/>
          </a:xfrm>
          <a:prstGeom prst="rect">
            <a:avLst/>
          </a:prstGeom>
          <a:noFill/>
          <a:ln/>
        </p:spPr>
        <p:txBody>
          <a:bodyPr wrap="square" lIns="0" tIns="0" rIns="0" bIns="0" rtlCol="0" anchor="ctr"/>
          <a:lstStyle/>
          <a:p>
            <a:pPr marL="0" indent="0" algn="ctr">
              <a:buNone/>
            </a:pPr>
            <a:r>
              <a:rPr lang="en-US" sz="1500" b="1" dirty="0">
                <a:solidFill>
                  <a:srgbClr val="2563EB"/>
                </a:solidFill>
                <a:latin typeface="Noto Sans KR" pitchFamily="34" charset="0"/>
                <a:ea typeface="Noto Sans KR" pitchFamily="34" charset="-122"/>
                <a:cs typeface="Noto Sans KR" pitchFamily="34" charset="-120"/>
              </a:rPr>
              <a:t>1.0 억</a:t>
            </a:r>
            <a:endParaRPr lang="en-US" sz="1500" dirty="0"/>
          </a:p>
        </p:txBody>
      </p:sp>
      <p:sp>
        <p:nvSpPr>
          <p:cNvPr id="85" name="Text 80"/>
          <p:cNvSpPr txBox="1"/>
          <p:nvPr/>
        </p:nvSpPr>
        <p:spPr>
          <a:xfrm>
            <a:off x="8523122" y="2380121"/>
            <a:ext cx="979322" cy="181051"/>
          </a:xfrm>
          <a:prstGeom prst="rect">
            <a:avLst/>
          </a:prstGeom>
          <a:noFill/>
          <a:ln/>
        </p:spPr>
        <p:txBody>
          <a:bodyPr wrap="square" lIns="0" tIns="0" rIns="0" bIns="0" rtlCol="0" anchor="ctr"/>
          <a:lstStyle/>
          <a:p>
            <a:pPr marL="0" indent="0" algn="ctr">
              <a:buNone/>
            </a:pPr>
            <a:r>
              <a:rPr lang="en-US" sz="900" dirty="0">
                <a:solidFill>
                  <a:srgbClr val="64748B"/>
                </a:solidFill>
                <a:latin typeface="Noto Sans KR" pitchFamily="34" charset="0"/>
                <a:ea typeface="Noto Sans KR" pitchFamily="34" charset="-122"/>
                <a:cs typeface="Noto Sans KR" pitchFamily="34" charset="-120"/>
              </a:rPr>
              <a:t>초기 자본 (KRW)</a:t>
            </a:r>
            <a:endParaRPr lang="en-US" sz="900" dirty="0"/>
          </a:p>
        </p:txBody>
      </p:sp>
      <p:sp>
        <p:nvSpPr>
          <p:cNvPr id="86" name="Shape 81"/>
          <p:cNvSpPr/>
          <p:nvPr/>
        </p:nvSpPr>
        <p:spPr>
          <a:xfrm>
            <a:off x="9863633" y="1856169"/>
            <a:ext cx="1524305" cy="866851"/>
          </a:xfrm>
          <a:prstGeom prst="roundRect">
            <a:avLst>
              <a:gd name="adj" fmla="val 9273"/>
            </a:avLst>
          </a:prstGeom>
          <a:solidFill>
            <a:srgbClr val="FFFFFF"/>
          </a:solidFill>
          <a:ln w="12700">
            <a:solidFill>
              <a:srgbClr val="E2E8F0"/>
            </a:solidFill>
            <a:prstDash val="solid"/>
          </a:ln>
        </p:spPr>
      </p:sp>
      <p:sp>
        <p:nvSpPr>
          <p:cNvPr id="87" name="Text 82"/>
          <p:cNvSpPr txBox="1"/>
          <p:nvPr/>
        </p:nvSpPr>
        <p:spPr>
          <a:xfrm>
            <a:off x="10321747" y="2008874"/>
            <a:ext cx="752551" cy="277063"/>
          </a:xfrm>
          <a:prstGeom prst="rect">
            <a:avLst/>
          </a:prstGeom>
          <a:noFill/>
          <a:ln/>
        </p:spPr>
        <p:txBody>
          <a:bodyPr wrap="square" lIns="0" tIns="0" rIns="0" bIns="0" rtlCol="0" anchor="ctr"/>
          <a:lstStyle/>
          <a:p>
            <a:pPr marL="0" indent="0" algn="ctr">
              <a:buNone/>
            </a:pPr>
            <a:r>
              <a:rPr lang="en-US" sz="1500" b="1" dirty="0">
                <a:solidFill>
                  <a:srgbClr val="2563EB"/>
                </a:solidFill>
                <a:latin typeface="Noto Sans KR" pitchFamily="34" charset="0"/>
                <a:ea typeface="Noto Sans KR" pitchFamily="34" charset="-122"/>
                <a:cs typeface="Noto Sans KR" pitchFamily="34" charset="-120"/>
              </a:rPr>
              <a:t>0.15%</a:t>
            </a:r>
            <a:endParaRPr lang="en-US" sz="1500" dirty="0"/>
          </a:p>
        </p:txBody>
      </p:sp>
      <p:sp>
        <p:nvSpPr>
          <p:cNvPr id="88" name="Text 83"/>
          <p:cNvSpPr txBox="1"/>
          <p:nvPr/>
        </p:nvSpPr>
        <p:spPr>
          <a:xfrm>
            <a:off x="10377526" y="2380121"/>
            <a:ext cx="588874" cy="181051"/>
          </a:xfrm>
          <a:prstGeom prst="rect">
            <a:avLst/>
          </a:prstGeom>
          <a:noFill/>
          <a:ln/>
        </p:spPr>
        <p:txBody>
          <a:bodyPr wrap="square" lIns="0" tIns="0" rIns="0" bIns="0" rtlCol="0" anchor="ctr"/>
          <a:lstStyle/>
          <a:p>
            <a:pPr marL="0" indent="0" algn="ctr">
              <a:buNone/>
            </a:pPr>
            <a:r>
              <a:rPr lang="en-US" sz="900" dirty="0">
                <a:solidFill>
                  <a:srgbClr val="64748B"/>
                </a:solidFill>
                <a:latin typeface="Noto Sans KR" pitchFamily="34" charset="0"/>
                <a:ea typeface="Noto Sans KR" pitchFamily="34" charset="-122"/>
                <a:cs typeface="Noto Sans KR" pitchFamily="34" charset="-120"/>
              </a:rPr>
              <a:t>거래 비용</a:t>
            </a:r>
            <a:endParaRPr lang="en-US" sz="900" dirty="0"/>
          </a:p>
        </p:txBody>
      </p:sp>
      <p:sp>
        <p:nvSpPr>
          <p:cNvPr id="89" name="Shape 84"/>
          <p:cNvSpPr/>
          <p:nvPr/>
        </p:nvSpPr>
        <p:spPr>
          <a:xfrm>
            <a:off x="8202168" y="2865667"/>
            <a:ext cx="1524305" cy="866851"/>
          </a:xfrm>
          <a:prstGeom prst="roundRect">
            <a:avLst>
              <a:gd name="adj" fmla="val 9273"/>
            </a:avLst>
          </a:prstGeom>
          <a:solidFill>
            <a:srgbClr val="FFFFFF"/>
          </a:solidFill>
          <a:ln w="12700">
            <a:solidFill>
              <a:srgbClr val="E2E8F0"/>
            </a:solidFill>
            <a:prstDash val="solid"/>
          </a:ln>
        </p:spPr>
      </p:sp>
      <p:sp>
        <p:nvSpPr>
          <p:cNvPr id="90" name="Text 85"/>
          <p:cNvSpPr txBox="1"/>
          <p:nvPr/>
        </p:nvSpPr>
        <p:spPr>
          <a:xfrm>
            <a:off x="8758123" y="3018372"/>
            <a:ext cx="553212" cy="277063"/>
          </a:xfrm>
          <a:prstGeom prst="rect">
            <a:avLst/>
          </a:prstGeom>
          <a:noFill/>
          <a:ln/>
        </p:spPr>
        <p:txBody>
          <a:bodyPr wrap="square" lIns="0" tIns="0" rIns="0" bIns="0" rtlCol="0" anchor="ctr"/>
          <a:lstStyle/>
          <a:p>
            <a:pPr marL="0" indent="0" algn="ctr">
              <a:buNone/>
            </a:pPr>
            <a:r>
              <a:rPr lang="en-US" sz="1500" b="1" dirty="0">
                <a:solidFill>
                  <a:srgbClr val="2563EB"/>
                </a:solidFill>
                <a:latin typeface="Noto Sans KR" pitchFamily="34" charset="0"/>
                <a:ea typeface="Noto Sans KR" pitchFamily="34" charset="-122"/>
                <a:cs typeface="Noto Sans KR" pitchFamily="34" charset="-120"/>
              </a:rPr>
              <a:t>20일</a:t>
            </a:r>
            <a:endParaRPr lang="en-US" sz="1500" dirty="0"/>
          </a:p>
        </p:txBody>
      </p:sp>
      <p:sp>
        <p:nvSpPr>
          <p:cNvPr id="91" name="Text 86"/>
          <p:cNvSpPr txBox="1"/>
          <p:nvPr/>
        </p:nvSpPr>
        <p:spPr>
          <a:xfrm>
            <a:off x="8430768" y="3389618"/>
            <a:ext cx="1160374" cy="181051"/>
          </a:xfrm>
          <a:prstGeom prst="rect">
            <a:avLst/>
          </a:prstGeom>
          <a:noFill/>
          <a:ln/>
        </p:spPr>
        <p:txBody>
          <a:bodyPr wrap="square" lIns="0" tIns="0" rIns="0" bIns="0" rtlCol="0" anchor="ctr"/>
          <a:lstStyle/>
          <a:p>
            <a:pPr marL="0" indent="0" algn="ctr">
              <a:buNone/>
            </a:pPr>
            <a:r>
              <a:rPr lang="en-US" sz="900" dirty="0">
                <a:solidFill>
                  <a:srgbClr val="64748B"/>
                </a:solidFill>
                <a:latin typeface="Noto Sans KR" pitchFamily="34" charset="0"/>
                <a:ea typeface="Noto Sans KR" pitchFamily="34" charset="-122"/>
                <a:cs typeface="Noto Sans KR" pitchFamily="34" charset="-120"/>
              </a:rPr>
              <a:t>Lookback Window</a:t>
            </a:r>
            <a:endParaRPr lang="en-US" sz="900" dirty="0"/>
          </a:p>
        </p:txBody>
      </p:sp>
      <p:sp>
        <p:nvSpPr>
          <p:cNvPr id="92" name="Shape 87"/>
          <p:cNvSpPr/>
          <p:nvPr/>
        </p:nvSpPr>
        <p:spPr>
          <a:xfrm>
            <a:off x="9863633" y="2865667"/>
            <a:ext cx="1524305" cy="866851"/>
          </a:xfrm>
          <a:prstGeom prst="roundRect">
            <a:avLst>
              <a:gd name="adj" fmla="val 9273"/>
            </a:avLst>
          </a:prstGeom>
          <a:solidFill>
            <a:srgbClr val="FFFFFF"/>
          </a:solidFill>
          <a:ln w="12700">
            <a:solidFill>
              <a:srgbClr val="E2E8F0"/>
            </a:solidFill>
            <a:prstDash val="solid"/>
          </a:ln>
        </p:spPr>
      </p:sp>
      <p:sp>
        <p:nvSpPr>
          <p:cNvPr id="93" name="Text 88"/>
          <p:cNvSpPr txBox="1"/>
          <p:nvPr/>
        </p:nvSpPr>
        <p:spPr>
          <a:xfrm>
            <a:off x="10379354" y="3018372"/>
            <a:ext cx="638251" cy="277063"/>
          </a:xfrm>
          <a:prstGeom prst="rect">
            <a:avLst/>
          </a:prstGeom>
          <a:noFill/>
          <a:ln/>
        </p:spPr>
        <p:txBody>
          <a:bodyPr wrap="square" lIns="0" tIns="0" rIns="0" bIns="0" rtlCol="0" anchor="ctr"/>
          <a:lstStyle/>
          <a:p>
            <a:pPr marL="0" indent="0" algn="ctr">
              <a:buNone/>
            </a:pPr>
            <a:r>
              <a:rPr lang="en-US" sz="1500" b="1" dirty="0">
                <a:solidFill>
                  <a:srgbClr val="2563EB"/>
                </a:solidFill>
                <a:latin typeface="Noto Sans KR" pitchFamily="34" charset="0"/>
                <a:ea typeface="Noto Sans KR" pitchFamily="34" charset="-122"/>
                <a:cs typeface="Noto Sans KR" pitchFamily="34" charset="-120"/>
              </a:rPr>
              <a:t>2.0%</a:t>
            </a:r>
            <a:endParaRPr lang="en-US" sz="1500" dirty="0"/>
          </a:p>
        </p:txBody>
      </p:sp>
      <p:sp>
        <p:nvSpPr>
          <p:cNvPr id="94" name="Text 89"/>
          <p:cNvSpPr txBox="1"/>
          <p:nvPr/>
        </p:nvSpPr>
        <p:spPr>
          <a:xfrm>
            <a:off x="10204704" y="3389618"/>
            <a:ext cx="931774" cy="181051"/>
          </a:xfrm>
          <a:prstGeom prst="rect">
            <a:avLst/>
          </a:prstGeom>
          <a:noFill/>
          <a:ln/>
        </p:spPr>
        <p:txBody>
          <a:bodyPr wrap="square" lIns="0" tIns="0" rIns="0" bIns="0" rtlCol="0" anchor="ctr"/>
          <a:lstStyle/>
          <a:p>
            <a:pPr marL="0" indent="0" algn="ctr">
              <a:buNone/>
            </a:pPr>
            <a:r>
              <a:rPr lang="en-US" sz="900" dirty="0">
                <a:solidFill>
                  <a:srgbClr val="64748B"/>
                </a:solidFill>
                <a:latin typeface="Noto Sans KR" pitchFamily="34" charset="0"/>
                <a:ea typeface="Noto Sans KR" pitchFamily="34" charset="-122"/>
                <a:cs typeface="Noto Sans KR" pitchFamily="34" charset="-120"/>
              </a:rPr>
              <a:t>현금 수익률 (연)</a:t>
            </a:r>
            <a:endParaRPr lang="en-US" sz="900" dirty="0"/>
          </a:p>
        </p:txBody>
      </p:sp>
      <p:sp>
        <p:nvSpPr>
          <p:cNvPr id="95" name="Shape 90"/>
          <p:cNvSpPr/>
          <p:nvPr/>
        </p:nvSpPr>
        <p:spPr>
          <a:xfrm>
            <a:off x="7916875" y="4251897"/>
            <a:ext cx="3705149" cy="1509675"/>
          </a:xfrm>
          <a:prstGeom prst="roundRect">
            <a:avLst>
              <a:gd name="adj" fmla="val 12763"/>
            </a:avLst>
          </a:prstGeom>
          <a:solidFill>
            <a:srgbClr val="FFFBEB"/>
          </a:solidFill>
          <a:ln w="12700">
            <a:solidFill>
              <a:srgbClr val="FCD34D"/>
            </a:solidFill>
            <a:prstDash val="solid"/>
          </a:ln>
        </p:spPr>
      </p:sp>
      <p:sp>
        <p:nvSpPr>
          <p:cNvPr id="97" name="Text 91"/>
          <p:cNvSpPr txBox="1"/>
          <p:nvPr/>
        </p:nvSpPr>
        <p:spPr>
          <a:xfrm>
            <a:off x="8202168" y="4495374"/>
            <a:ext cx="3225089" cy="1016736"/>
          </a:xfrm>
          <a:prstGeom prst="rect">
            <a:avLst/>
          </a:prstGeom>
          <a:noFill/>
          <a:ln/>
        </p:spPr>
        <p:txBody>
          <a:bodyPr wrap="square" lIns="0" tIns="0" rIns="0" bIns="0" rtlCol="0" anchor="ctr"/>
          <a:lstStyle/>
          <a:p>
            <a:pPr marL="0" indent="0" algn="l">
              <a:buNone/>
            </a:pPr>
            <a:r>
              <a:rPr lang="en-US" sz="1050" b="1" dirty="0" err="1">
                <a:solidFill>
                  <a:srgbClr val="92400E"/>
                </a:solidFill>
                <a:latin typeface="Noto Sans KR" pitchFamily="34" charset="0"/>
                <a:ea typeface="Noto Sans KR" pitchFamily="34" charset="-122"/>
                <a:cs typeface="Noto Sans KR" pitchFamily="34" charset="-120"/>
              </a:rPr>
              <a:t>설정</a:t>
            </a:r>
            <a:r>
              <a:rPr lang="en-US" sz="1050" b="1" dirty="0">
                <a:solidFill>
                  <a:srgbClr val="92400E"/>
                </a:solidFill>
                <a:latin typeface="Noto Sans KR" pitchFamily="34" charset="0"/>
                <a:ea typeface="Noto Sans KR" pitchFamily="34" charset="-122"/>
                <a:cs typeface="Noto Sans KR" pitchFamily="34" charset="-120"/>
              </a:rPr>
              <a:t> </a:t>
            </a:r>
            <a:r>
              <a:rPr lang="en-US" sz="1050" b="1" dirty="0" err="1">
                <a:solidFill>
                  <a:srgbClr val="92400E"/>
                </a:solidFill>
                <a:latin typeface="Noto Sans KR" pitchFamily="34" charset="0"/>
                <a:ea typeface="Noto Sans KR" pitchFamily="34" charset="-122"/>
                <a:cs typeface="Noto Sans KR" pitchFamily="34" charset="-120"/>
              </a:rPr>
              <a:t>근거</a:t>
            </a:r>
            <a:endParaRPr lang="en-US" sz="1050" b="1" dirty="0">
              <a:solidFill>
                <a:srgbClr val="92400E"/>
              </a:solidFill>
              <a:latin typeface="Noto Sans KR" pitchFamily="34" charset="0"/>
              <a:ea typeface="Noto Sans KR" pitchFamily="34" charset="-122"/>
              <a:cs typeface="Noto Sans KR" pitchFamily="34" charset="-120"/>
            </a:endParaRPr>
          </a:p>
          <a:p>
            <a:pPr marL="0" indent="0" algn="l">
              <a:buNone/>
            </a:pPr>
            <a:endParaRPr lang="en-US" sz="1000" dirty="0">
              <a:solidFill>
                <a:srgbClr val="92400E"/>
              </a:solidFill>
              <a:latin typeface="Noto Sans KR" pitchFamily="34" charset="0"/>
              <a:ea typeface="Noto Sans KR" pitchFamily="34" charset="-122"/>
              <a:cs typeface="Noto Sans KR" pitchFamily="34" charset="-120"/>
            </a:endParaRPr>
          </a:p>
          <a:p>
            <a:pPr marL="171450" indent="-171450" algn="l">
              <a:buFontTx/>
              <a:buChar char="-"/>
            </a:pPr>
            <a:r>
              <a:rPr lang="en-US" sz="1000" dirty="0" err="1">
                <a:solidFill>
                  <a:srgbClr val="92400E"/>
                </a:solidFill>
                <a:latin typeface="Noto Sans KR" pitchFamily="34" charset="0"/>
                <a:ea typeface="Noto Sans KR" pitchFamily="34" charset="-122"/>
                <a:cs typeface="Noto Sans KR" pitchFamily="34" charset="-120"/>
              </a:rPr>
              <a:t>총</a:t>
            </a:r>
            <a:r>
              <a:rPr lang="en-US" sz="1000" dirty="0">
                <a:solidFill>
                  <a:srgbClr val="92400E"/>
                </a:solidFill>
                <a:latin typeface="Noto Sans KR" pitchFamily="34" charset="0"/>
                <a:ea typeface="Noto Sans KR" pitchFamily="34" charset="-122"/>
                <a:cs typeface="Noto Sans KR" pitchFamily="34" charset="-120"/>
              </a:rPr>
              <a:t> 스텝 수(100k)는 약 23개월 데이터(465일) 대비 </a:t>
            </a:r>
            <a:r>
              <a:rPr lang="en-US" sz="1000" dirty="0" err="1">
                <a:solidFill>
                  <a:srgbClr val="92400E"/>
                </a:solidFill>
                <a:latin typeface="Noto Sans KR" pitchFamily="34" charset="0"/>
                <a:ea typeface="Noto Sans KR" pitchFamily="34" charset="-122"/>
                <a:cs typeface="Noto Sans KR" pitchFamily="34" charset="-120"/>
              </a:rPr>
              <a:t>충분한</a:t>
            </a:r>
            <a:r>
              <a:rPr lang="en-US" sz="1000" dirty="0">
                <a:solidFill>
                  <a:srgbClr val="92400E"/>
                </a:solidFill>
                <a:latin typeface="Noto Sans KR" pitchFamily="34" charset="0"/>
                <a:ea typeface="Noto Sans KR" pitchFamily="34" charset="-122"/>
                <a:cs typeface="Noto Sans KR" pitchFamily="34" charset="-120"/>
              </a:rPr>
              <a:t> epoch 반복을 </a:t>
            </a:r>
            <a:r>
              <a:rPr lang="en-US" sz="1000" dirty="0" err="1">
                <a:solidFill>
                  <a:srgbClr val="92400E"/>
                </a:solidFill>
                <a:latin typeface="Noto Sans KR" pitchFamily="34" charset="0"/>
                <a:ea typeface="Noto Sans KR" pitchFamily="34" charset="-122"/>
                <a:cs typeface="Noto Sans KR" pitchFamily="34" charset="-120"/>
              </a:rPr>
              <a:t>위해</a:t>
            </a:r>
            <a:r>
              <a:rPr lang="en-US" sz="1000" dirty="0">
                <a:solidFill>
                  <a:srgbClr val="92400E"/>
                </a:solidFill>
                <a:latin typeface="Noto Sans KR" pitchFamily="34" charset="0"/>
                <a:ea typeface="Noto Sans KR" pitchFamily="34" charset="-122"/>
                <a:cs typeface="Noto Sans KR" pitchFamily="34" charset="-120"/>
              </a:rPr>
              <a:t> </a:t>
            </a:r>
            <a:r>
              <a:rPr lang="en-US" sz="1000" dirty="0" err="1">
                <a:solidFill>
                  <a:srgbClr val="92400E"/>
                </a:solidFill>
                <a:latin typeface="Noto Sans KR" pitchFamily="34" charset="0"/>
                <a:ea typeface="Noto Sans KR" pitchFamily="34" charset="-122"/>
                <a:cs typeface="Noto Sans KR" pitchFamily="34" charset="-120"/>
              </a:rPr>
              <a:t>설정</a:t>
            </a:r>
            <a:endParaRPr lang="en-US" sz="1000" dirty="0">
              <a:solidFill>
                <a:srgbClr val="92400E"/>
              </a:solidFill>
              <a:latin typeface="Noto Sans KR" pitchFamily="34" charset="0"/>
              <a:ea typeface="Noto Sans KR" pitchFamily="34" charset="-122"/>
              <a:cs typeface="Noto Sans KR" pitchFamily="34" charset="-120"/>
            </a:endParaRPr>
          </a:p>
          <a:p>
            <a:pPr marL="171450" indent="-171450" algn="l">
              <a:buFontTx/>
              <a:buChar char="-"/>
            </a:pPr>
            <a:r>
              <a:rPr lang="en-US" sz="1000" dirty="0">
                <a:solidFill>
                  <a:srgbClr val="92400E"/>
                </a:solidFill>
                <a:latin typeface="Noto Sans KR" pitchFamily="34" charset="0"/>
                <a:ea typeface="Noto Sans KR" pitchFamily="34" charset="-122"/>
                <a:cs typeface="Noto Sans KR" pitchFamily="34" charset="-120"/>
              </a:rPr>
              <a:t> 거래 비용(0.15%)은 실제 국내 주식 시장 수수료 및 세금을 반영한 </a:t>
            </a:r>
            <a:r>
              <a:rPr lang="en-US" sz="1000" dirty="0" err="1">
                <a:solidFill>
                  <a:srgbClr val="92400E"/>
                </a:solidFill>
                <a:latin typeface="Noto Sans KR" pitchFamily="34" charset="0"/>
                <a:ea typeface="Noto Sans KR" pitchFamily="34" charset="-122"/>
                <a:cs typeface="Noto Sans KR" pitchFamily="34" charset="-120"/>
              </a:rPr>
              <a:t>현실적인</a:t>
            </a:r>
            <a:r>
              <a:rPr lang="en-US" sz="1000" dirty="0">
                <a:solidFill>
                  <a:srgbClr val="92400E"/>
                </a:solidFill>
                <a:latin typeface="Noto Sans KR" pitchFamily="34" charset="0"/>
                <a:ea typeface="Noto Sans KR" pitchFamily="34" charset="-122"/>
                <a:cs typeface="Noto Sans KR" pitchFamily="34" charset="-120"/>
              </a:rPr>
              <a:t> </a:t>
            </a:r>
            <a:r>
              <a:rPr lang="en-US" sz="1000" dirty="0" err="1">
                <a:solidFill>
                  <a:srgbClr val="92400E"/>
                </a:solidFill>
                <a:latin typeface="Noto Sans KR" pitchFamily="34" charset="0"/>
                <a:ea typeface="Noto Sans KR" pitchFamily="34" charset="-122"/>
                <a:cs typeface="Noto Sans KR" pitchFamily="34" charset="-120"/>
              </a:rPr>
              <a:t>수치로</a:t>
            </a:r>
            <a:r>
              <a:rPr lang="en-US" sz="1000" dirty="0">
                <a:solidFill>
                  <a:srgbClr val="92400E"/>
                </a:solidFill>
                <a:latin typeface="Noto Sans KR" pitchFamily="34" charset="0"/>
                <a:ea typeface="Noto Sans KR" pitchFamily="34" charset="-122"/>
                <a:cs typeface="Noto Sans KR" pitchFamily="34" charset="-120"/>
              </a:rPr>
              <a:t> </a:t>
            </a:r>
            <a:r>
              <a:rPr lang="en-US" sz="1000" dirty="0" err="1">
                <a:solidFill>
                  <a:srgbClr val="92400E"/>
                </a:solidFill>
                <a:latin typeface="Noto Sans KR" pitchFamily="34" charset="0"/>
                <a:ea typeface="Noto Sans KR" pitchFamily="34" charset="-122"/>
                <a:cs typeface="Noto Sans KR" pitchFamily="34" charset="-120"/>
              </a:rPr>
              <a:t>설정</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8" name="Text 6"/>
          <p:cNvSpPr txBox="1"/>
          <p:nvPr/>
        </p:nvSpPr>
        <p:spPr>
          <a:xfrm>
            <a:off x="571500" y="234950"/>
            <a:ext cx="3096158" cy="457200"/>
          </a:xfrm>
          <a:prstGeom prst="rect">
            <a:avLst/>
          </a:prstGeom>
          <a:noFill/>
          <a:ln/>
        </p:spPr>
        <p:txBody>
          <a:bodyPr wrap="square" lIns="0" tIns="0" rIns="0" bIns="0" rtlCol="0" anchor="ctr"/>
          <a:lstStyle/>
          <a:p>
            <a:pPr marL="0" indent="0" algn="l">
              <a:buNone/>
            </a:pPr>
            <a:r>
              <a:rPr lang="en-US" sz="2400" b="1" dirty="0" err="1">
                <a:solidFill>
                  <a:srgbClr val="111827"/>
                </a:solidFill>
                <a:latin typeface="Noto Sans KR" pitchFamily="34" charset="0"/>
                <a:ea typeface="Noto Sans KR" pitchFamily="34" charset="-122"/>
                <a:cs typeface="Noto Sans KR" pitchFamily="34" charset="-120"/>
              </a:rPr>
              <a:t>평가</a:t>
            </a:r>
            <a:r>
              <a:rPr lang="en-US" sz="2400" b="1" dirty="0">
                <a:solidFill>
                  <a:srgbClr val="111827"/>
                </a:solidFill>
                <a:latin typeface="Noto Sans KR" pitchFamily="34" charset="0"/>
                <a:ea typeface="Noto Sans KR" pitchFamily="34" charset="-122"/>
                <a:cs typeface="Noto Sans KR" pitchFamily="34" charset="-120"/>
              </a:rPr>
              <a:t> 지표</a:t>
            </a:r>
            <a:endParaRPr lang="en-US" sz="2400" dirty="0"/>
          </a:p>
        </p:txBody>
      </p:sp>
      <p:sp>
        <p:nvSpPr>
          <p:cNvPr id="27" name="Shape 24"/>
          <p:cNvSpPr/>
          <p:nvPr/>
        </p:nvSpPr>
        <p:spPr>
          <a:xfrm>
            <a:off x="571500" y="1711249"/>
            <a:ext cx="5381244" cy="3448202"/>
          </a:xfrm>
          <a:prstGeom prst="roundRect">
            <a:avLst>
              <a:gd name="adj" fmla="val 1172"/>
            </a:avLst>
          </a:prstGeom>
          <a:solidFill>
            <a:srgbClr val="F9FAFB"/>
          </a:solidFill>
          <a:ln/>
          <a:effectLst>
            <a:outerShdw blurRad="63500" dist="38100" dir="5400000" algn="bl" rotWithShape="0">
              <a:srgbClr val="000000">
                <a:alpha val="5000"/>
              </a:srgbClr>
            </a:outerShdw>
          </a:effectLst>
        </p:spPr>
      </p:sp>
      <p:sp>
        <p:nvSpPr>
          <p:cNvPr id="28" name="Shape 25"/>
          <p:cNvSpPr/>
          <p:nvPr/>
        </p:nvSpPr>
        <p:spPr>
          <a:xfrm>
            <a:off x="571500" y="1711249"/>
            <a:ext cx="57607" cy="3448202"/>
          </a:xfrm>
          <a:prstGeom prst="rect">
            <a:avLst/>
          </a:prstGeom>
          <a:solidFill>
            <a:srgbClr val="10B981"/>
          </a:solidFill>
          <a:ln/>
        </p:spPr>
      </p:sp>
      <p:sp>
        <p:nvSpPr>
          <p:cNvPr id="29" name="Shape 26"/>
          <p:cNvSpPr/>
          <p:nvPr/>
        </p:nvSpPr>
        <p:spPr>
          <a:xfrm>
            <a:off x="866851" y="2358644"/>
            <a:ext cx="4848149" cy="9144"/>
          </a:xfrm>
          <a:prstGeom prst="rect">
            <a:avLst/>
          </a:prstGeom>
          <a:solidFill>
            <a:srgbClr val="E5E7EB"/>
          </a:solidFill>
          <a:ln/>
        </p:spPr>
      </p:sp>
      <p:pic>
        <p:nvPicPr>
          <p:cNvPr id="30" name="Image 1" descr="preencoded.png"/>
          <p:cNvPicPr>
            <a:picLocks noChangeAspect="1"/>
          </p:cNvPicPr>
          <p:nvPr/>
        </p:nvPicPr>
        <p:blipFill>
          <a:blip r:embed="rId3"/>
          <a:srcRect/>
          <a:stretch/>
        </p:blipFill>
        <p:spPr>
          <a:xfrm>
            <a:off x="866851" y="2002028"/>
            <a:ext cx="209398" cy="209398"/>
          </a:xfrm>
          <a:prstGeom prst="rect">
            <a:avLst/>
          </a:prstGeom>
        </p:spPr>
      </p:pic>
      <p:sp>
        <p:nvSpPr>
          <p:cNvPr id="31" name="Text 27"/>
          <p:cNvSpPr txBox="1"/>
          <p:nvPr/>
        </p:nvSpPr>
        <p:spPr>
          <a:xfrm>
            <a:off x="1171346" y="1948993"/>
            <a:ext cx="3119933" cy="305410"/>
          </a:xfrm>
          <a:prstGeom prst="rect">
            <a:avLst/>
          </a:prstGeom>
          <a:noFill/>
          <a:ln/>
        </p:spPr>
        <p:txBody>
          <a:bodyPr wrap="square" lIns="0" tIns="0" rIns="0" bIns="0" rtlCol="0" anchor="ctr"/>
          <a:lstStyle/>
          <a:p>
            <a:pPr marL="0" indent="0" algn="l">
              <a:buNone/>
            </a:pPr>
            <a:r>
              <a:rPr lang="en-US" sz="1600" b="1" dirty="0">
                <a:solidFill>
                  <a:srgbClr val="1F2937"/>
                </a:solidFill>
                <a:latin typeface="Noto Sans KR" pitchFamily="34" charset="0"/>
                <a:ea typeface="Noto Sans KR" pitchFamily="34" charset="-122"/>
                <a:cs typeface="Noto Sans KR" pitchFamily="34" charset="-120"/>
              </a:rPr>
              <a:t>평가 지표 (Evaluation Metrics)</a:t>
            </a:r>
            <a:endParaRPr lang="en-US" sz="1600" dirty="0"/>
          </a:p>
        </p:txBody>
      </p:sp>
      <p:sp>
        <p:nvSpPr>
          <p:cNvPr id="32" name="Shape 28"/>
          <p:cNvSpPr/>
          <p:nvPr/>
        </p:nvSpPr>
        <p:spPr>
          <a:xfrm>
            <a:off x="866851" y="2511349"/>
            <a:ext cx="2352751" cy="705002"/>
          </a:xfrm>
          <a:prstGeom prst="roundRect">
            <a:avLst>
              <a:gd name="adj" fmla="val 17527"/>
            </a:avLst>
          </a:prstGeom>
          <a:solidFill>
            <a:srgbClr val="FFFFFF"/>
          </a:solidFill>
          <a:ln w="12700">
            <a:solidFill>
              <a:srgbClr val="E5E7EB"/>
            </a:solidFill>
            <a:prstDash val="solid"/>
          </a:ln>
        </p:spPr>
      </p:sp>
      <p:sp>
        <p:nvSpPr>
          <p:cNvPr id="33" name="Shape 29"/>
          <p:cNvSpPr/>
          <p:nvPr/>
        </p:nvSpPr>
        <p:spPr>
          <a:xfrm>
            <a:off x="1019556" y="2671369"/>
            <a:ext cx="381305" cy="381305"/>
          </a:xfrm>
          <a:prstGeom prst="roundRect">
            <a:avLst>
              <a:gd name="adj" fmla="val 47962"/>
            </a:avLst>
          </a:prstGeom>
          <a:solidFill>
            <a:srgbClr val="ECFDF5"/>
          </a:solidFill>
          <a:ln/>
        </p:spPr>
      </p:sp>
      <p:pic>
        <p:nvPicPr>
          <p:cNvPr id="34" name="Image 2" descr="preencoded.png"/>
          <p:cNvPicPr>
            <a:picLocks noChangeAspect="1"/>
          </p:cNvPicPr>
          <p:nvPr/>
        </p:nvPicPr>
        <p:blipFill>
          <a:blip r:embed="rId4"/>
          <a:srcRect l="-1773" r="-1773"/>
          <a:stretch/>
        </p:blipFill>
        <p:spPr>
          <a:xfrm>
            <a:off x="1143000" y="2775610"/>
            <a:ext cx="133502" cy="171907"/>
          </a:xfrm>
          <a:prstGeom prst="rect">
            <a:avLst/>
          </a:prstGeom>
        </p:spPr>
      </p:pic>
      <p:sp>
        <p:nvSpPr>
          <p:cNvPr id="35" name="Text 30"/>
          <p:cNvSpPr txBox="1"/>
          <p:nvPr/>
        </p:nvSpPr>
        <p:spPr>
          <a:xfrm>
            <a:off x="1514246" y="2664054"/>
            <a:ext cx="724205" cy="228600"/>
          </a:xfrm>
          <a:prstGeom prst="rect">
            <a:avLst/>
          </a:prstGeom>
          <a:noFill/>
          <a:ln/>
        </p:spPr>
        <p:txBody>
          <a:bodyPr wrap="square" lIns="0" tIns="0" rIns="0" bIns="0" rtlCol="0" anchor="ctr"/>
          <a:lstStyle/>
          <a:p>
            <a:pPr marL="0" indent="0" algn="l">
              <a:buNone/>
            </a:pPr>
            <a:r>
              <a:rPr lang="en-US" sz="1200" b="1" dirty="0">
                <a:solidFill>
                  <a:srgbClr val="374151"/>
                </a:solidFill>
                <a:latin typeface="Noto Sans KR" pitchFamily="34" charset="0"/>
                <a:ea typeface="Noto Sans KR" pitchFamily="34" charset="-122"/>
                <a:cs typeface="Noto Sans KR" pitchFamily="34" charset="-120"/>
              </a:rPr>
              <a:t>총 수익률</a:t>
            </a:r>
            <a:endParaRPr lang="en-US" sz="1200" dirty="0"/>
          </a:p>
        </p:txBody>
      </p:sp>
      <p:sp>
        <p:nvSpPr>
          <p:cNvPr id="36" name="Text 31"/>
          <p:cNvSpPr txBox="1"/>
          <p:nvPr/>
        </p:nvSpPr>
        <p:spPr>
          <a:xfrm>
            <a:off x="1514246" y="2898140"/>
            <a:ext cx="771754" cy="162763"/>
          </a:xfrm>
          <a:prstGeom prst="rect">
            <a:avLst/>
          </a:prstGeom>
          <a:noFill/>
          <a:ln/>
        </p:spPr>
        <p:txBody>
          <a:bodyPr wrap="square" lIns="0" tIns="0" rIns="0" bIns="0" rtlCol="0" anchor="ctr"/>
          <a:lstStyle/>
          <a:p>
            <a:pPr marL="0" indent="0" algn="l">
              <a:buNone/>
            </a:pPr>
            <a:r>
              <a:rPr lang="en-US" sz="900" b="1" dirty="0">
                <a:solidFill>
                  <a:srgbClr val="6B7280"/>
                </a:solidFill>
                <a:latin typeface="Noto Sans KR" pitchFamily="34" charset="0"/>
                <a:ea typeface="Noto Sans KR" pitchFamily="34" charset="-122"/>
                <a:cs typeface="Noto Sans KR" pitchFamily="34" charset="-120"/>
              </a:rPr>
              <a:t>Total Return</a:t>
            </a:r>
            <a:endParaRPr lang="en-US" sz="900" dirty="0"/>
          </a:p>
        </p:txBody>
      </p:sp>
      <p:sp>
        <p:nvSpPr>
          <p:cNvPr id="37" name="Shape 32"/>
          <p:cNvSpPr/>
          <p:nvPr/>
        </p:nvSpPr>
        <p:spPr>
          <a:xfrm>
            <a:off x="3362249" y="2511349"/>
            <a:ext cx="2352751" cy="705002"/>
          </a:xfrm>
          <a:prstGeom prst="roundRect">
            <a:avLst>
              <a:gd name="adj" fmla="val 17527"/>
            </a:avLst>
          </a:prstGeom>
          <a:solidFill>
            <a:srgbClr val="FFFFFF"/>
          </a:solidFill>
          <a:ln w="12700">
            <a:solidFill>
              <a:srgbClr val="E5E7EB"/>
            </a:solidFill>
            <a:prstDash val="solid"/>
          </a:ln>
        </p:spPr>
      </p:sp>
      <p:sp>
        <p:nvSpPr>
          <p:cNvPr id="38" name="Shape 33"/>
          <p:cNvSpPr/>
          <p:nvPr/>
        </p:nvSpPr>
        <p:spPr>
          <a:xfrm>
            <a:off x="3514954" y="2671369"/>
            <a:ext cx="381305" cy="381305"/>
          </a:xfrm>
          <a:prstGeom prst="roundRect">
            <a:avLst>
              <a:gd name="adj" fmla="val 47962"/>
            </a:avLst>
          </a:prstGeom>
          <a:solidFill>
            <a:srgbClr val="ECFDF5"/>
          </a:solidFill>
          <a:ln/>
        </p:spPr>
      </p:sp>
      <p:pic>
        <p:nvPicPr>
          <p:cNvPr id="39" name="Image 3" descr="preencoded.png"/>
          <p:cNvPicPr>
            <a:picLocks noChangeAspect="1"/>
          </p:cNvPicPr>
          <p:nvPr/>
        </p:nvPicPr>
        <p:blipFill>
          <a:blip r:embed="rId5"/>
          <a:srcRect l="-760" r="-760"/>
          <a:stretch/>
        </p:blipFill>
        <p:spPr>
          <a:xfrm>
            <a:off x="3629254" y="2775610"/>
            <a:ext cx="152705" cy="171907"/>
          </a:xfrm>
          <a:prstGeom prst="rect">
            <a:avLst/>
          </a:prstGeom>
        </p:spPr>
      </p:pic>
      <p:sp>
        <p:nvSpPr>
          <p:cNvPr id="40" name="Text 34"/>
          <p:cNvSpPr txBox="1"/>
          <p:nvPr/>
        </p:nvSpPr>
        <p:spPr>
          <a:xfrm>
            <a:off x="4009644" y="2664054"/>
            <a:ext cx="1000354" cy="228600"/>
          </a:xfrm>
          <a:prstGeom prst="rect">
            <a:avLst/>
          </a:prstGeom>
          <a:noFill/>
          <a:ln/>
        </p:spPr>
        <p:txBody>
          <a:bodyPr wrap="square" lIns="0" tIns="0" rIns="0" bIns="0" rtlCol="0" anchor="ctr"/>
          <a:lstStyle/>
          <a:p>
            <a:pPr marL="0" indent="0" algn="l">
              <a:buNone/>
            </a:pPr>
            <a:r>
              <a:rPr lang="en-US" sz="1200" b="1" dirty="0">
                <a:solidFill>
                  <a:srgbClr val="374151"/>
                </a:solidFill>
                <a:latin typeface="Noto Sans KR" pitchFamily="34" charset="0"/>
                <a:ea typeface="Noto Sans KR" pitchFamily="34" charset="-122"/>
                <a:cs typeface="Noto Sans KR" pitchFamily="34" charset="-120"/>
              </a:rPr>
              <a:t>연환산 수익률</a:t>
            </a:r>
            <a:endParaRPr lang="en-US" sz="1200" dirty="0"/>
          </a:p>
        </p:txBody>
      </p:sp>
      <p:sp>
        <p:nvSpPr>
          <p:cNvPr id="41" name="Text 35"/>
          <p:cNvSpPr txBox="1"/>
          <p:nvPr/>
        </p:nvSpPr>
        <p:spPr>
          <a:xfrm>
            <a:off x="4009644" y="2898140"/>
            <a:ext cx="1114654" cy="162763"/>
          </a:xfrm>
          <a:prstGeom prst="rect">
            <a:avLst/>
          </a:prstGeom>
          <a:noFill/>
          <a:ln/>
        </p:spPr>
        <p:txBody>
          <a:bodyPr wrap="square" lIns="0" tIns="0" rIns="0" bIns="0" rtlCol="0" anchor="ctr"/>
          <a:lstStyle/>
          <a:p>
            <a:pPr marL="0" indent="0" algn="l">
              <a:buNone/>
            </a:pPr>
            <a:r>
              <a:rPr lang="en-US" sz="900" b="1" dirty="0">
                <a:solidFill>
                  <a:srgbClr val="6B7280"/>
                </a:solidFill>
                <a:latin typeface="Noto Sans KR" pitchFamily="34" charset="0"/>
                <a:ea typeface="Noto Sans KR" pitchFamily="34" charset="-122"/>
                <a:cs typeface="Noto Sans KR" pitchFamily="34" charset="-120"/>
              </a:rPr>
              <a:t>Annualized Return</a:t>
            </a:r>
            <a:endParaRPr lang="en-US" sz="900" dirty="0"/>
          </a:p>
        </p:txBody>
      </p:sp>
      <p:sp>
        <p:nvSpPr>
          <p:cNvPr id="42" name="Shape 36"/>
          <p:cNvSpPr/>
          <p:nvPr/>
        </p:nvSpPr>
        <p:spPr>
          <a:xfrm>
            <a:off x="866851" y="3355340"/>
            <a:ext cx="2352751" cy="705002"/>
          </a:xfrm>
          <a:prstGeom prst="roundRect">
            <a:avLst>
              <a:gd name="adj" fmla="val 17527"/>
            </a:avLst>
          </a:prstGeom>
          <a:solidFill>
            <a:srgbClr val="FFFFFF"/>
          </a:solidFill>
          <a:ln w="12700">
            <a:solidFill>
              <a:srgbClr val="E5E7EB"/>
            </a:solidFill>
            <a:prstDash val="solid"/>
          </a:ln>
        </p:spPr>
      </p:sp>
      <p:sp>
        <p:nvSpPr>
          <p:cNvPr id="43" name="Shape 37"/>
          <p:cNvSpPr/>
          <p:nvPr/>
        </p:nvSpPr>
        <p:spPr>
          <a:xfrm>
            <a:off x="1019556" y="3515360"/>
            <a:ext cx="381305" cy="381305"/>
          </a:xfrm>
          <a:prstGeom prst="roundRect">
            <a:avLst>
              <a:gd name="adj" fmla="val 47962"/>
            </a:avLst>
          </a:prstGeom>
          <a:solidFill>
            <a:srgbClr val="ECFDF5"/>
          </a:solidFill>
          <a:ln/>
        </p:spPr>
      </p:sp>
      <p:pic>
        <p:nvPicPr>
          <p:cNvPr id="44" name="Image 4" descr="preencoded.png"/>
          <p:cNvPicPr>
            <a:picLocks noChangeAspect="1"/>
          </p:cNvPicPr>
          <p:nvPr/>
        </p:nvPicPr>
        <p:blipFill>
          <a:blip r:embed="rId6"/>
          <a:srcRect l="-1064" r="-1064"/>
          <a:stretch/>
        </p:blipFill>
        <p:spPr>
          <a:xfrm>
            <a:off x="1100023" y="3619602"/>
            <a:ext cx="219456" cy="171907"/>
          </a:xfrm>
          <a:prstGeom prst="rect">
            <a:avLst/>
          </a:prstGeom>
        </p:spPr>
      </p:pic>
      <p:sp>
        <p:nvSpPr>
          <p:cNvPr id="45" name="Text 38"/>
          <p:cNvSpPr txBox="1"/>
          <p:nvPr/>
        </p:nvSpPr>
        <p:spPr>
          <a:xfrm>
            <a:off x="1514246" y="3507130"/>
            <a:ext cx="1077163" cy="228600"/>
          </a:xfrm>
          <a:prstGeom prst="rect">
            <a:avLst/>
          </a:prstGeom>
          <a:noFill/>
          <a:ln/>
        </p:spPr>
        <p:txBody>
          <a:bodyPr wrap="square" lIns="0" tIns="0" rIns="0" bIns="0" rtlCol="0" anchor="ctr"/>
          <a:lstStyle/>
          <a:p>
            <a:pPr marL="0" indent="0" algn="l">
              <a:buNone/>
            </a:pPr>
            <a:r>
              <a:rPr lang="en-US" sz="1200" b="1" dirty="0">
                <a:solidFill>
                  <a:srgbClr val="374151"/>
                </a:solidFill>
                <a:latin typeface="Noto Sans KR" pitchFamily="34" charset="0"/>
                <a:ea typeface="Noto Sans KR" pitchFamily="34" charset="-122"/>
                <a:cs typeface="Noto Sans KR" pitchFamily="34" charset="-120"/>
              </a:rPr>
              <a:t>Sharpe Ratio</a:t>
            </a:r>
            <a:endParaRPr lang="en-US" sz="1200" dirty="0"/>
          </a:p>
        </p:txBody>
      </p:sp>
      <p:sp>
        <p:nvSpPr>
          <p:cNvPr id="46" name="Text 39"/>
          <p:cNvSpPr txBox="1"/>
          <p:nvPr/>
        </p:nvSpPr>
        <p:spPr>
          <a:xfrm>
            <a:off x="1514246" y="3742131"/>
            <a:ext cx="1257300" cy="162763"/>
          </a:xfrm>
          <a:prstGeom prst="rect">
            <a:avLst/>
          </a:prstGeom>
          <a:noFill/>
          <a:ln/>
        </p:spPr>
        <p:txBody>
          <a:bodyPr wrap="square" lIns="0" tIns="0" rIns="0" bIns="0" rtlCol="0" anchor="ctr"/>
          <a:lstStyle/>
          <a:p>
            <a:pPr marL="0" indent="0" algn="l">
              <a:buNone/>
            </a:pPr>
            <a:r>
              <a:rPr lang="en-US" sz="900" b="1" dirty="0">
                <a:solidFill>
                  <a:srgbClr val="6B7280"/>
                </a:solidFill>
                <a:latin typeface="Noto Sans KR" pitchFamily="34" charset="0"/>
                <a:ea typeface="Noto Sans KR" pitchFamily="34" charset="-122"/>
                <a:cs typeface="Noto Sans KR" pitchFamily="34" charset="-120"/>
              </a:rPr>
              <a:t>Risk-Adjusted Return</a:t>
            </a:r>
            <a:endParaRPr lang="en-US" sz="900" dirty="0"/>
          </a:p>
        </p:txBody>
      </p:sp>
      <p:sp>
        <p:nvSpPr>
          <p:cNvPr id="47" name="Shape 40"/>
          <p:cNvSpPr/>
          <p:nvPr/>
        </p:nvSpPr>
        <p:spPr>
          <a:xfrm>
            <a:off x="3362249" y="3355340"/>
            <a:ext cx="2352751" cy="705002"/>
          </a:xfrm>
          <a:prstGeom prst="roundRect">
            <a:avLst>
              <a:gd name="adj" fmla="val 17527"/>
            </a:avLst>
          </a:prstGeom>
          <a:solidFill>
            <a:srgbClr val="FFFFFF"/>
          </a:solidFill>
          <a:ln w="12700">
            <a:solidFill>
              <a:srgbClr val="E5E7EB"/>
            </a:solidFill>
            <a:prstDash val="solid"/>
          </a:ln>
        </p:spPr>
      </p:sp>
      <p:sp>
        <p:nvSpPr>
          <p:cNvPr id="48" name="Shape 41"/>
          <p:cNvSpPr/>
          <p:nvPr/>
        </p:nvSpPr>
        <p:spPr>
          <a:xfrm>
            <a:off x="3514954" y="3515360"/>
            <a:ext cx="381305" cy="381305"/>
          </a:xfrm>
          <a:prstGeom prst="roundRect">
            <a:avLst>
              <a:gd name="adj" fmla="val 47962"/>
            </a:avLst>
          </a:prstGeom>
          <a:solidFill>
            <a:srgbClr val="FEE2E2"/>
          </a:solidFill>
          <a:ln/>
        </p:spPr>
      </p:sp>
      <p:pic>
        <p:nvPicPr>
          <p:cNvPr id="49" name="Image 5" descr="preencoded.png"/>
          <p:cNvPicPr>
            <a:picLocks noChangeAspect="1"/>
          </p:cNvPicPr>
          <p:nvPr/>
        </p:nvPicPr>
        <p:blipFill>
          <a:blip r:embed="rId7"/>
          <a:srcRect t="-842" b="-842"/>
          <a:stretch/>
        </p:blipFill>
        <p:spPr>
          <a:xfrm>
            <a:off x="3610051" y="3619602"/>
            <a:ext cx="190195" cy="171907"/>
          </a:xfrm>
          <a:prstGeom prst="rect">
            <a:avLst/>
          </a:prstGeom>
        </p:spPr>
      </p:pic>
      <p:sp>
        <p:nvSpPr>
          <p:cNvPr id="50" name="Text 42"/>
          <p:cNvSpPr txBox="1"/>
          <p:nvPr/>
        </p:nvSpPr>
        <p:spPr>
          <a:xfrm>
            <a:off x="4009644" y="3507130"/>
            <a:ext cx="1257300" cy="228600"/>
          </a:xfrm>
          <a:prstGeom prst="rect">
            <a:avLst/>
          </a:prstGeom>
          <a:noFill/>
          <a:ln/>
        </p:spPr>
        <p:txBody>
          <a:bodyPr wrap="square" lIns="0" tIns="0" rIns="0" bIns="0" rtlCol="0" anchor="ctr"/>
          <a:lstStyle/>
          <a:p>
            <a:pPr marL="0" indent="0" algn="l">
              <a:buNone/>
            </a:pPr>
            <a:r>
              <a:rPr lang="en-US" sz="1200" b="1" dirty="0">
                <a:solidFill>
                  <a:srgbClr val="374151"/>
                </a:solidFill>
                <a:latin typeface="Noto Sans KR" pitchFamily="34" charset="0"/>
                <a:ea typeface="Noto Sans KR" pitchFamily="34" charset="-122"/>
                <a:cs typeface="Noto Sans KR" pitchFamily="34" charset="-120"/>
              </a:rPr>
              <a:t>Max Drawdown</a:t>
            </a:r>
            <a:endParaRPr lang="en-US" sz="1200" dirty="0"/>
          </a:p>
        </p:txBody>
      </p:sp>
      <p:sp>
        <p:nvSpPr>
          <p:cNvPr id="51" name="Text 43"/>
          <p:cNvSpPr txBox="1"/>
          <p:nvPr/>
        </p:nvSpPr>
        <p:spPr>
          <a:xfrm>
            <a:off x="4009644" y="3742131"/>
            <a:ext cx="914400" cy="162763"/>
          </a:xfrm>
          <a:prstGeom prst="rect">
            <a:avLst/>
          </a:prstGeom>
          <a:noFill/>
          <a:ln/>
        </p:spPr>
        <p:txBody>
          <a:bodyPr wrap="square" lIns="0" tIns="0" rIns="0" bIns="0" rtlCol="0" anchor="ctr"/>
          <a:lstStyle/>
          <a:p>
            <a:pPr marL="0" indent="0" algn="l">
              <a:buNone/>
            </a:pPr>
            <a:r>
              <a:rPr lang="en-US" sz="900" b="1" dirty="0">
                <a:solidFill>
                  <a:srgbClr val="6B7280"/>
                </a:solidFill>
                <a:latin typeface="Noto Sans KR" pitchFamily="34" charset="0"/>
                <a:ea typeface="Noto Sans KR" pitchFamily="34" charset="-122"/>
                <a:cs typeface="Noto Sans KR" pitchFamily="34" charset="-120"/>
              </a:rPr>
              <a:t>Maximum Loss</a:t>
            </a:r>
            <a:endParaRPr lang="en-US" sz="900" dirty="0"/>
          </a:p>
        </p:txBody>
      </p:sp>
      <p:sp>
        <p:nvSpPr>
          <p:cNvPr id="52" name="Shape 44"/>
          <p:cNvSpPr/>
          <p:nvPr/>
        </p:nvSpPr>
        <p:spPr>
          <a:xfrm>
            <a:off x="866851" y="4199331"/>
            <a:ext cx="4848149" cy="705002"/>
          </a:xfrm>
          <a:prstGeom prst="roundRect">
            <a:avLst>
              <a:gd name="adj" fmla="val 17527"/>
            </a:avLst>
          </a:prstGeom>
          <a:solidFill>
            <a:srgbClr val="FFFFFF"/>
          </a:solidFill>
          <a:ln w="12700">
            <a:solidFill>
              <a:srgbClr val="E5E7EB"/>
            </a:solidFill>
            <a:prstDash val="solid"/>
          </a:ln>
        </p:spPr>
      </p:sp>
      <p:sp>
        <p:nvSpPr>
          <p:cNvPr id="53" name="Shape 45"/>
          <p:cNvSpPr/>
          <p:nvPr/>
        </p:nvSpPr>
        <p:spPr>
          <a:xfrm>
            <a:off x="1019556" y="4359351"/>
            <a:ext cx="381305" cy="381305"/>
          </a:xfrm>
          <a:prstGeom prst="roundRect">
            <a:avLst>
              <a:gd name="adj" fmla="val 47962"/>
            </a:avLst>
          </a:prstGeom>
          <a:solidFill>
            <a:srgbClr val="FFF7ED"/>
          </a:solidFill>
          <a:ln/>
        </p:spPr>
      </p:sp>
      <p:pic>
        <p:nvPicPr>
          <p:cNvPr id="54" name="Image 6" descr="preencoded.png"/>
          <p:cNvPicPr>
            <a:picLocks noChangeAspect="1"/>
          </p:cNvPicPr>
          <p:nvPr/>
        </p:nvPicPr>
        <p:blipFill>
          <a:blip r:embed="rId8"/>
          <a:srcRect l="-1064" r="-1064"/>
          <a:stretch/>
        </p:blipFill>
        <p:spPr>
          <a:xfrm>
            <a:off x="1100023" y="4463593"/>
            <a:ext cx="219456" cy="171907"/>
          </a:xfrm>
          <a:prstGeom prst="rect">
            <a:avLst/>
          </a:prstGeom>
        </p:spPr>
      </p:pic>
      <p:sp>
        <p:nvSpPr>
          <p:cNvPr id="55" name="Text 46"/>
          <p:cNvSpPr txBox="1"/>
          <p:nvPr/>
        </p:nvSpPr>
        <p:spPr>
          <a:xfrm>
            <a:off x="1514246" y="4351122"/>
            <a:ext cx="1353312" cy="228600"/>
          </a:xfrm>
          <a:prstGeom prst="rect">
            <a:avLst/>
          </a:prstGeom>
          <a:noFill/>
          <a:ln/>
        </p:spPr>
        <p:txBody>
          <a:bodyPr wrap="square" lIns="0" tIns="0" rIns="0" bIns="0" rtlCol="0" anchor="ctr"/>
          <a:lstStyle/>
          <a:p>
            <a:pPr marL="0" indent="0" algn="l">
              <a:buNone/>
            </a:pPr>
            <a:r>
              <a:rPr lang="en-US" sz="1200" b="1" dirty="0">
                <a:solidFill>
                  <a:srgbClr val="374151"/>
                </a:solidFill>
                <a:latin typeface="Noto Sans KR" pitchFamily="34" charset="0"/>
                <a:ea typeface="Noto Sans KR" pitchFamily="34" charset="-122"/>
                <a:cs typeface="Noto Sans KR" pitchFamily="34" charset="-120"/>
              </a:rPr>
              <a:t>변동성 (Volatility)</a:t>
            </a:r>
            <a:endParaRPr lang="en-US" sz="1200" dirty="0"/>
          </a:p>
        </p:txBody>
      </p:sp>
      <p:sp>
        <p:nvSpPr>
          <p:cNvPr id="56" name="Text 47"/>
          <p:cNvSpPr txBox="1"/>
          <p:nvPr/>
        </p:nvSpPr>
        <p:spPr>
          <a:xfrm>
            <a:off x="1514246" y="4585208"/>
            <a:ext cx="1772107" cy="162763"/>
          </a:xfrm>
          <a:prstGeom prst="rect">
            <a:avLst/>
          </a:prstGeom>
          <a:noFill/>
          <a:ln/>
        </p:spPr>
        <p:txBody>
          <a:bodyPr wrap="square" lIns="0" tIns="0" rIns="0" bIns="0" rtlCol="0" anchor="ctr"/>
          <a:lstStyle/>
          <a:p>
            <a:pPr marL="0" indent="0" algn="l">
              <a:buNone/>
            </a:pPr>
            <a:r>
              <a:rPr lang="en-US" sz="900" b="1" dirty="0">
                <a:solidFill>
                  <a:srgbClr val="6B7280"/>
                </a:solidFill>
                <a:latin typeface="Noto Sans KR" pitchFamily="34" charset="0"/>
                <a:ea typeface="Noto Sans KR" pitchFamily="34" charset="-122"/>
                <a:cs typeface="Noto Sans KR" pitchFamily="34" charset="-120"/>
              </a:rPr>
              <a:t>Standard Deviation of Returns</a:t>
            </a:r>
            <a:endParaRPr lang="en-US" sz="900" dirty="0"/>
          </a:p>
        </p:txBody>
      </p:sp>
      <p:sp>
        <p:nvSpPr>
          <p:cNvPr id="57" name="Shape 48"/>
          <p:cNvSpPr/>
          <p:nvPr/>
        </p:nvSpPr>
        <p:spPr>
          <a:xfrm>
            <a:off x="6238951" y="1711249"/>
            <a:ext cx="5381244" cy="3448202"/>
          </a:xfrm>
          <a:prstGeom prst="roundRect">
            <a:avLst>
              <a:gd name="adj" fmla="val 1172"/>
            </a:avLst>
          </a:prstGeom>
          <a:solidFill>
            <a:srgbClr val="F9FAFB"/>
          </a:solidFill>
          <a:ln/>
          <a:effectLst>
            <a:outerShdw blurRad="63500" dist="38100" dir="5400000" algn="bl" rotWithShape="0">
              <a:srgbClr val="000000">
                <a:alpha val="5000"/>
              </a:srgbClr>
            </a:outerShdw>
          </a:effectLst>
        </p:spPr>
      </p:sp>
      <p:sp>
        <p:nvSpPr>
          <p:cNvPr id="58" name="Shape 49"/>
          <p:cNvSpPr/>
          <p:nvPr/>
        </p:nvSpPr>
        <p:spPr>
          <a:xfrm>
            <a:off x="6238951" y="1711249"/>
            <a:ext cx="57607" cy="3448202"/>
          </a:xfrm>
          <a:prstGeom prst="rect">
            <a:avLst/>
          </a:prstGeom>
          <a:solidFill>
            <a:srgbClr val="8B5CF6"/>
          </a:solidFill>
          <a:ln/>
        </p:spPr>
      </p:sp>
      <p:sp>
        <p:nvSpPr>
          <p:cNvPr id="59" name="Shape 50"/>
          <p:cNvSpPr/>
          <p:nvPr/>
        </p:nvSpPr>
        <p:spPr>
          <a:xfrm>
            <a:off x="6534302" y="2358644"/>
            <a:ext cx="4848149" cy="9144"/>
          </a:xfrm>
          <a:prstGeom prst="rect">
            <a:avLst/>
          </a:prstGeom>
          <a:solidFill>
            <a:srgbClr val="E5E7EB"/>
          </a:solidFill>
          <a:ln/>
        </p:spPr>
      </p:sp>
      <p:pic>
        <p:nvPicPr>
          <p:cNvPr id="60" name="Image 7" descr="preencoded.png"/>
          <p:cNvPicPr>
            <a:picLocks noChangeAspect="1"/>
          </p:cNvPicPr>
          <p:nvPr/>
        </p:nvPicPr>
        <p:blipFill>
          <a:blip r:embed="rId9"/>
          <a:srcRect/>
          <a:stretch/>
        </p:blipFill>
        <p:spPr>
          <a:xfrm>
            <a:off x="6534302" y="2002028"/>
            <a:ext cx="209398" cy="209398"/>
          </a:xfrm>
          <a:prstGeom prst="rect">
            <a:avLst/>
          </a:prstGeom>
        </p:spPr>
      </p:pic>
      <p:sp>
        <p:nvSpPr>
          <p:cNvPr id="61" name="Text 51"/>
          <p:cNvSpPr txBox="1"/>
          <p:nvPr/>
        </p:nvSpPr>
        <p:spPr>
          <a:xfrm>
            <a:off x="6838798" y="1948993"/>
            <a:ext cx="3176626" cy="305410"/>
          </a:xfrm>
          <a:prstGeom prst="rect">
            <a:avLst/>
          </a:prstGeom>
          <a:noFill/>
          <a:ln/>
        </p:spPr>
        <p:txBody>
          <a:bodyPr wrap="square" lIns="0" tIns="0" rIns="0" bIns="0" rtlCol="0" anchor="ctr"/>
          <a:lstStyle/>
          <a:p>
            <a:pPr marL="0" indent="0" algn="l">
              <a:buNone/>
            </a:pPr>
            <a:r>
              <a:rPr lang="en-US" sz="1600" b="1" dirty="0" err="1">
                <a:solidFill>
                  <a:srgbClr val="1F2937"/>
                </a:solidFill>
                <a:latin typeface="Noto Sans KR" pitchFamily="34" charset="0"/>
                <a:ea typeface="Noto Sans KR" pitchFamily="34" charset="-122"/>
                <a:cs typeface="Noto Sans KR" pitchFamily="34" charset="-120"/>
              </a:rPr>
              <a:t>비교</a:t>
            </a:r>
            <a:r>
              <a:rPr lang="en-US" sz="1600" b="1" dirty="0">
                <a:solidFill>
                  <a:srgbClr val="1F2937"/>
                </a:solidFill>
                <a:latin typeface="Noto Sans KR" pitchFamily="34" charset="0"/>
                <a:ea typeface="Noto Sans KR" pitchFamily="34" charset="-122"/>
                <a:cs typeface="Noto Sans KR" pitchFamily="34" charset="-120"/>
              </a:rPr>
              <a:t> </a:t>
            </a:r>
            <a:r>
              <a:rPr lang="en-US" sz="1600" b="1" dirty="0" err="1">
                <a:solidFill>
                  <a:srgbClr val="1F2937"/>
                </a:solidFill>
                <a:latin typeface="Noto Sans KR" pitchFamily="34" charset="0"/>
                <a:ea typeface="Noto Sans KR" pitchFamily="34" charset="-122"/>
                <a:cs typeface="Noto Sans KR" pitchFamily="34" charset="-120"/>
              </a:rPr>
              <a:t>대상</a:t>
            </a:r>
            <a:r>
              <a:rPr lang="en-US" sz="1600" b="1" dirty="0">
                <a:solidFill>
                  <a:srgbClr val="1F2937"/>
                </a:solidFill>
                <a:latin typeface="Noto Sans KR" pitchFamily="34" charset="0"/>
                <a:ea typeface="Noto Sans KR" pitchFamily="34" charset="-122"/>
                <a:cs typeface="Noto Sans KR" pitchFamily="34" charset="-120"/>
              </a:rPr>
              <a:t> (Baseline Strategies)</a:t>
            </a:r>
            <a:endParaRPr lang="en-US" sz="1600" dirty="0"/>
          </a:p>
        </p:txBody>
      </p:sp>
      <p:sp>
        <p:nvSpPr>
          <p:cNvPr id="62" name="Shape 52"/>
          <p:cNvSpPr/>
          <p:nvPr/>
        </p:nvSpPr>
        <p:spPr>
          <a:xfrm>
            <a:off x="6534302" y="2511349"/>
            <a:ext cx="4848149" cy="1133856"/>
          </a:xfrm>
          <a:prstGeom prst="roundRect">
            <a:avLst>
              <a:gd name="adj" fmla="val 8132"/>
            </a:avLst>
          </a:prstGeom>
          <a:solidFill>
            <a:srgbClr val="FFFFFF"/>
          </a:solidFill>
          <a:ln/>
          <a:effectLst>
            <a:outerShdw blurRad="38100" dist="25400" dir="5400000" algn="bl" rotWithShape="0">
              <a:srgbClr val="000000">
                <a:alpha val="5000"/>
              </a:srgbClr>
            </a:outerShdw>
          </a:effectLst>
        </p:spPr>
      </p:sp>
      <p:sp>
        <p:nvSpPr>
          <p:cNvPr id="63" name="Shape 53"/>
          <p:cNvSpPr/>
          <p:nvPr/>
        </p:nvSpPr>
        <p:spPr>
          <a:xfrm>
            <a:off x="6534302" y="2511349"/>
            <a:ext cx="38405" cy="1133856"/>
          </a:xfrm>
          <a:prstGeom prst="rect">
            <a:avLst/>
          </a:prstGeom>
          <a:solidFill>
            <a:srgbClr val="8B5CF6"/>
          </a:solidFill>
          <a:ln/>
        </p:spPr>
      </p:sp>
      <p:pic>
        <p:nvPicPr>
          <p:cNvPr id="64" name="Image 8" descr="preencoded.png"/>
          <p:cNvPicPr>
            <a:picLocks noChangeAspect="1"/>
          </p:cNvPicPr>
          <p:nvPr/>
        </p:nvPicPr>
        <p:blipFill>
          <a:blip r:embed="rId10"/>
          <a:srcRect t="-180" b="-180"/>
          <a:stretch/>
        </p:blipFill>
        <p:spPr>
          <a:xfrm>
            <a:off x="6762902" y="2747264"/>
            <a:ext cx="190195" cy="152705"/>
          </a:xfrm>
          <a:prstGeom prst="rect">
            <a:avLst/>
          </a:prstGeom>
        </p:spPr>
      </p:pic>
      <p:sp>
        <p:nvSpPr>
          <p:cNvPr id="65" name="Text 54"/>
          <p:cNvSpPr txBox="1"/>
          <p:nvPr/>
        </p:nvSpPr>
        <p:spPr>
          <a:xfrm>
            <a:off x="7029907" y="2701544"/>
            <a:ext cx="1877263" cy="228600"/>
          </a:xfrm>
          <a:prstGeom prst="rect">
            <a:avLst/>
          </a:prstGeom>
          <a:noFill/>
          <a:ln/>
        </p:spPr>
        <p:txBody>
          <a:bodyPr wrap="square" lIns="0" tIns="0" rIns="0" bIns="0" rtlCol="0" anchor="ctr"/>
          <a:lstStyle/>
          <a:p>
            <a:pPr marL="0" indent="0" algn="l">
              <a:buNone/>
            </a:pPr>
            <a:r>
              <a:rPr lang="en-US" sz="1200" b="1" dirty="0">
                <a:solidFill>
                  <a:srgbClr val="4B5563"/>
                </a:solidFill>
                <a:latin typeface="Noto Sans KR" pitchFamily="34" charset="0"/>
                <a:ea typeface="Noto Sans KR" pitchFamily="34" charset="-122"/>
                <a:cs typeface="Noto Sans KR" pitchFamily="34" charset="-120"/>
              </a:rPr>
              <a:t>Equal Weight (균등 비중)</a:t>
            </a:r>
            <a:endParaRPr lang="en-US" sz="1200" dirty="0"/>
          </a:p>
        </p:txBody>
      </p:sp>
      <p:sp>
        <p:nvSpPr>
          <p:cNvPr id="66" name="Text 55"/>
          <p:cNvSpPr txBox="1"/>
          <p:nvPr/>
        </p:nvSpPr>
        <p:spPr>
          <a:xfrm>
            <a:off x="6762902" y="3002382"/>
            <a:ext cx="4536338" cy="428854"/>
          </a:xfrm>
          <a:prstGeom prst="rect">
            <a:avLst/>
          </a:prstGeom>
          <a:noFill/>
          <a:ln/>
        </p:spPr>
        <p:txBody>
          <a:bodyPr wrap="square" lIns="0" tIns="0" rIns="0" bIns="0" rtlCol="0" anchor="ctr"/>
          <a:lstStyle/>
          <a:p>
            <a:pPr marL="0" indent="0" algn="l">
              <a:buNone/>
            </a:pPr>
            <a:r>
              <a:rPr lang="en-US" sz="1100" dirty="0">
                <a:solidFill>
                  <a:srgbClr val="6B7280"/>
                </a:solidFill>
                <a:latin typeface="Noto Sans KR" pitchFamily="34" charset="0"/>
                <a:ea typeface="Noto Sans KR" pitchFamily="34" charset="-122"/>
                <a:cs typeface="Noto Sans KR" pitchFamily="34" charset="-120"/>
              </a:rPr>
              <a:t>모든 자산에 동일한 비중(1/N)을 할당하고 정기적으로 리밸런싱하는 전략으로, 분산 투자의 가장 </a:t>
            </a:r>
            <a:r>
              <a:rPr lang="en-US" sz="1100" dirty="0" err="1">
                <a:solidFill>
                  <a:srgbClr val="6B7280"/>
                </a:solidFill>
                <a:latin typeface="Noto Sans KR" pitchFamily="34" charset="0"/>
                <a:ea typeface="Noto Sans KR" pitchFamily="34" charset="-122"/>
                <a:cs typeface="Noto Sans KR" pitchFamily="34" charset="-120"/>
              </a:rPr>
              <a:t>기본적인</a:t>
            </a:r>
            <a:r>
              <a:rPr lang="en-US" sz="1100" dirty="0">
                <a:solidFill>
                  <a:srgbClr val="6B7280"/>
                </a:solidFill>
                <a:latin typeface="Noto Sans KR" pitchFamily="34" charset="0"/>
                <a:ea typeface="Noto Sans KR" pitchFamily="34" charset="-122"/>
                <a:cs typeface="Noto Sans KR" pitchFamily="34" charset="-120"/>
              </a:rPr>
              <a:t> </a:t>
            </a:r>
            <a:r>
              <a:rPr lang="en-US" sz="1100" dirty="0" err="1">
                <a:solidFill>
                  <a:srgbClr val="6B7280"/>
                </a:solidFill>
                <a:latin typeface="Noto Sans KR" pitchFamily="34" charset="0"/>
                <a:ea typeface="Noto Sans KR" pitchFamily="34" charset="-122"/>
                <a:cs typeface="Noto Sans KR" pitchFamily="34" charset="-120"/>
              </a:rPr>
              <a:t>벤치마크</a:t>
            </a:r>
            <a:endParaRPr lang="en-US" sz="1100" dirty="0"/>
          </a:p>
        </p:txBody>
      </p:sp>
      <p:sp>
        <p:nvSpPr>
          <p:cNvPr id="67" name="Shape 56"/>
          <p:cNvSpPr/>
          <p:nvPr/>
        </p:nvSpPr>
        <p:spPr>
          <a:xfrm>
            <a:off x="6534302" y="3783279"/>
            <a:ext cx="4848149" cy="1133856"/>
          </a:xfrm>
          <a:prstGeom prst="roundRect">
            <a:avLst>
              <a:gd name="adj" fmla="val 8132"/>
            </a:avLst>
          </a:prstGeom>
          <a:solidFill>
            <a:srgbClr val="FFFFFF"/>
          </a:solidFill>
          <a:ln/>
          <a:effectLst>
            <a:outerShdw blurRad="38100" dist="25400" dir="5400000" algn="bl" rotWithShape="0">
              <a:srgbClr val="000000">
                <a:alpha val="5000"/>
              </a:srgbClr>
            </a:outerShdw>
          </a:effectLst>
        </p:spPr>
      </p:sp>
      <p:sp>
        <p:nvSpPr>
          <p:cNvPr id="68" name="Shape 57"/>
          <p:cNvSpPr/>
          <p:nvPr/>
        </p:nvSpPr>
        <p:spPr>
          <a:xfrm>
            <a:off x="6534302" y="3783279"/>
            <a:ext cx="38405" cy="1133856"/>
          </a:xfrm>
          <a:prstGeom prst="rect">
            <a:avLst/>
          </a:prstGeom>
          <a:solidFill>
            <a:srgbClr val="8B5CF6"/>
          </a:solidFill>
          <a:ln/>
        </p:spPr>
      </p:sp>
      <p:pic>
        <p:nvPicPr>
          <p:cNvPr id="69" name="Image 9" descr="preencoded.png"/>
          <p:cNvPicPr>
            <a:picLocks noChangeAspect="1"/>
          </p:cNvPicPr>
          <p:nvPr/>
        </p:nvPicPr>
        <p:blipFill>
          <a:blip r:embed="rId11"/>
          <a:srcRect l="-33" r="-33"/>
          <a:stretch/>
        </p:blipFill>
        <p:spPr>
          <a:xfrm>
            <a:off x="6762902" y="4020109"/>
            <a:ext cx="171907" cy="152705"/>
          </a:xfrm>
          <a:prstGeom prst="rect">
            <a:avLst/>
          </a:prstGeom>
        </p:spPr>
      </p:pic>
      <p:sp>
        <p:nvSpPr>
          <p:cNvPr id="70" name="Text 58"/>
          <p:cNvSpPr txBox="1"/>
          <p:nvPr/>
        </p:nvSpPr>
        <p:spPr>
          <a:xfrm>
            <a:off x="7010705" y="3974389"/>
            <a:ext cx="1905610" cy="228600"/>
          </a:xfrm>
          <a:prstGeom prst="rect">
            <a:avLst/>
          </a:prstGeom>
          <a:noFill/>
          <a:ln/>
        </p:spPr>
        <p:txBody>
          <a:bodyPr wrap="square" lIns="0" tIns="0" rIns="0" bIns="0" rtlCol="0" anchor="ctr"/>
          <a:lstStyle/>
          <a:p>
            <a:pPr marL="0" indent="0" algn="l">
              <a:buNone/>
            </a:pPr>
            <a:r>
              <a:rPr lang="en-US" sz="1200" b="1" dirty="0">
                <a:solidFill>
                  <a:srgbClr val="4B5563"/>
                </a:solidFill>
                <a:latin typeface="Noto Sans KR" pitchFamily="34" charset="0"/>
                <a:ea typeface="Noto Sans KR" pitchFamily="34" charset="-122"/>
                <a:cs typeface="Noto Sans KR" pitchFamily="34" charset="-120"/>
              </a:rPr>
              <a:t>Buy &amp; Hold (매수 후 보유)</a:t>
            </a:r>
            <a:endParaRPr lang="en-US" sz="1200" dirty="0"/>
          </a:p>
        </p:txBody>
      </p:sp>
      <p:sp>
        <p:nvSpPr>
          <p:cNvPr id="71" name="Text 59"/>
          <p:cNvSpPr txBox="1"/>
          <p:nvPr/>
        </p:nvSpPr>
        <p:spPr>
          <a:xfrm>
            <a:off x="6762902" y="4275226"/>
            <a:ext cx="4451299" cy="428854"/>
          </a:xfrm>
          <a:prstGeom prst="rect">
            <a:avLst/>
          </a:prstGeom>
          <a:noFill/>
          <a:ln/>
        </p:spPr>
        <p:txBody>
          <a:bodyPr wrap="square" lIns="0" tIns="0" rIns="0" bIns="0" rtlCol="0" anchor="ctr"/>
          <a:lstStyle/>
          <a:p>
            <a:pPr marL="0" indent="0" algn="l">
              <a:buNone/>
            </a:pPr>
            <a:r>
              <a:rPr lang="en-US" sz="1100" dirty="0">
                <a:solidFill>
                  <a:srgbClr val="6B7280"/>
                </a:solidFill>
                <a:latin typeface="Noto Sans KR" pitchFamily="34" charset="0"/>
                <a:ea typeface="Noto Sans KR" pitchFamily="34" charset="-122"/>
                <a:cs typeface="Noto Sans KR" pitchFamily="34" charset="-120"/>
              </a:rPr>
              <a:t>초기 시점에 자산을 매수하고 매도 없이 끝까지 보유하는 소극적 전략으로, </a:t>
            </a:r>
            <a:br>
              <a:rPr lang="en-US" sz="1100" dirty="0">
                <a:solidFill>
                  <a:srgbClr val="6B7280"/>
                </a:solidFill>
                <a:latin typeface="Noto Sans KR" pitchFamily="34" charset="0"/>
                <a:ea typeface="Noto Sans KR" pitchFamily="34" charset="-122"/>
                <a:cs typeface="Noto Sans KR" pitchFamily="34" charset="-120"/>
              </a:rPr>
            </a:br>
            <a:r>
              <a:rPr lang="en-US" sz="1100" dirty="0" err="1">
                <a:solidFill>
                  <a:srgbClr val="6B7280"/>
                </a:solidFill>
                <a:latin typeface="Noto Sans KR" pitchFamily="34" charset="0"/>
                <a:ea typeface="Noto Sans KR" pitchFamily="34" charset="-122"/>
                <a:cs typeface="Noto Sans KR" pitchFamily="34" charset="-120"/>
              </a:rPr>
              <a:t>거래</a:t>
            </a:r>
            <a:r>
              <a:rPr lang="en-US" sz="1100" dirty="0">
                <a:solidFill>
                  <a:srgbClr val="6B7280"/>
                </a:solidFill>
                <a:latin typeface="Noto Sans KR" pitchFamily="34" charset="0"/>
                <a:ea typeface="Noto Sans KR" pitchFamily="34" charset="-122"/>
                <a:cs typeface="Noto Sans KR" pitchFamily="34" charset="-120"/>
              </a:rPr>
              <a:t> 비용이 발생하지 않는 </a:t>
            </a:r>
            <a:r>
              <a:rPr lang="en-US" sz="1100" dirty="0" err="1">
                <a:solidFill>
                  <a:srgbClr val="6B7280"/>
                </a:solidFill>
                <a:latin typeface="Noto Sans KR" pitchFamily="34" charset="0"/>
                <a:ea typeface="Noto Sans KR" pitchFamily="34" charset="-122"/>
                <a:cs typeface="Noto Sans KR" pitchFamily="34" charset="-120"/>
              </a:rPr>
              <a:t>것이</a:t>
            </a:r>
            <a:r>
              <a:rPr lang="en-US" sz="1100" dirty="0">
                <a:solidFill>
                  <a:srgbClr val="6B7280"/>
                </a:solidFill>
                <a:latin typeface="Noto Sans KR" pitchFamily="34" charset="0"/>
                <a:ea typeface="Noto Sans KR" pitchFamily="34" charset="-122"/>
                <a:cs typeface="Noto Sans KR" pitchFamily="34" charset="-120"/>
              </a:rPr>
              <a:t> </a:t>
            </a:r>
            <a:r>
              <a:rPr lang="en-US" sz="1100" dirty="0" err="1">
                <a:solidFill>
                  <a:srgbClr val="6B7280"/>
                </a:solidFill>
                <a:latin typeface="Noto Sans KR" pitchFamily="34" charset="0"/>
                <a:ea typeface="Noto Sans KR" pitchFamily="34" charset="-122"/>
                <a:cs typeface="Noto Sans KR" pitchFamily="34" charset="-120"/>
              </a:rPr>
              <a:t>특징이나</a:t>
            </a:r>
            <a:r>
              <a:rPr lang="en-US" altLang="ko-KR" sz="1100" dirty="0">
                <a:solidFill>
                  <a:srgbClr val="6B7280"/>
                </a:solidFill>
                <a:latin typeface="Noto Sans KR" pitchFamily="34" charset="0"/>
                <a:ea typeface="Noto Sans KR" pitchFamily="34" charset="-122"/>
                <a:cs typeface="Noto Sans KR" pitchFamily="34" charset="-120"/>
              </a:rPr>
              <a:t>, </a:t>
            </a:r>
            <a:r>
              <a:rPr lang="ko-KR" altLang="en-US" sz="1100" dirty="0">
                <a:solidFill>
                  <a:srgbClr val="6B7280"/>
                </a:solidFill>
                <a:latin typeface="Noto Sans KR" pitchFamily="34" charset="0"/>
                <a:ea typeface="Noto Sans KR" pitchFamily="34" charset="-122"/>
                <a:cs typeface="Noto Sans KR" pitchFamily="34" charset="-120"/>
              </a:rPr>
              <a:t>이 경우에는 위와 유사한 케이스임</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5" name="Shape 3"/>
          <p:cNvSpPr/>
          <p:nvPr/>
        </p:nvSpPr>
        <p:spPr>
          <a:xfrm>
            <a:off x="-476402" y="5734202"/>
            <a:ext cx="1904695" cy="1904695"/>
          </a:xfrm>
          <a:prstGeom prst="ellipse">
            <a:avLst/>
          </a:prstGeom>
          <a:solidFill>
            <a:srgbClr val="2563EB">
              <a:alpha val="3000"/>
            </a:srgbClr>
          </a:solidFill>
          <a:ln/>
        </p:spPr>
      </p:sp>
      <p:sp>
        <p:nvSpPr>
          <p:cNvPr id="8" name="Text 6"/>
          <p:cNvSpPr txBox="1"/>
          <p:nvPr/>
        </p:nvSpPr>
        <p:spPr>
          <a:xfrm>
            <a:off x="571500" y="286207"/>
            <a:ext cx="6363310" cy="457200"/>
          </a:xfrm>
          <a:prstGeom prst="rect">
            <a:avLst/>
          </a:prstGeom>
          <a:noFill/>
          <a:ln/>
        </p:spPr>
        <p:txBody>
          <a:bodyPr wrap="square" lIns="0" tIns="0" rIns="0" bIns="0" rtlCol="0" anchor="ctr"/>
          <a:lstStyle/>
          <a:p>
            <a:pPr marL="0" indent="0" algn="l">
              <a:buNone/>
            </a:pPr>
            <a:r>
              <a:rPr lang="en-US" sz="2400" b="1" dirty="0">
                <a:solidFill>
                  <a:srgbClr val="111827"/>
                </a:solidFill>
                <a:latin typeface="Noto Sans KR" pitchFamily="34" charset="0"/>
                <a:ea typeface="Noto Sans KR" pitchFamily="34" charset="-122"/>
                <a:cs typeface="Noto Sans KR" pitchFamily="34" charset="-120"/>
              </a:rPr>
              <a:t>실험 결과 비교 (Performance Comparison)</a:t>
            </a:r>
            <a:endParaRPr lang="en-US" sz="2400" dirty="0"/>
          </a:p>
        </p:txBody>
      </p:sp>
      <p:sp>
        <p:nvSpPr>
          <p:cNvPr id="10" name="Shape 8"/>
          <p:cNvSpPr/>
          <p:nvPr/>
        </p:nvSpPr>
        <p:spPr>
          <a:xfrm>
            <a:off x="571500" y="836613"/>
            <a:ext cx="3562502" cy="1171346"/>
          </a:xfrm>
          <a:prstGeom prst="roundRect">
            <a:avLst>
              <a:gd name="adj" fmla="val 7616"/>
            </a:avLst>
          </a:prstGeom>
          <a:solidFill>
            <a:srgbClr val="EFF6FF"/>
          </a:solidFill>
          <a:ln w="12700">
            <a:solidFill>
              <a:srgbClr val="BFDBFE"/>
            </a:solidFill>
            <a:prstDash val="solid"/>
          </a:ln>
          <a:effectLst>
            <a:outerShdw blurRad="63500" dist="38100" dir="5400000" algn="bl" rotWithShape="0">
              <a:srgbClr val="000000">
                <a:alpha val="5000"/>
              </a:srgbClr>
            </a:outerShdw>
          </a:effectLst>
        </p:spPr>
      </p:sp>
      <p:sp>
        <p:nvSpPr>
          <p:cNvPr id="11" name="Shape 9"/>
          <p:cNvSpPr/>
          <p:nvPr/>
        </p:nvSpPr>
        <p:spPr>
          <a:xfrm>
            <a:off x="771754" y="1184085"/>
            <a:ext cx="476402" cy="476402"/>
          </a:xfrm>
          <a:prstGeom prst="roundRect">
            <a:avLst>
              <a:gd name="adj" fmla="val 46065"/>
            </a:avLst>
          </a:prstGeom>
          <a:solidFill>
            <a:srgbClr val="DBEAFE"/>
          </a:solidFill>
          <a:ln/>
        </p:spPr>
      </p:sp>
      <p:pic>
        <p:nvPicPr>
          <p:cNvPr id="12" name="Image 0" descr="preencoded.png"/>
          <p:cNvPicPr>
            <a:picLocks noChangeAspect="1"/>
          </p:cNvPicPr>
          <p:nvPr/>
        </p:nvPicPr>
        <p:blipFill>
          <a:blip r:embed="rId3"/>
          <a:srcRect t="-45" b="-45"/>
          <a:stretch/>
        </p:blipFill>
        <p:spPr>
          <a:xfrm>
            <a:off x="881482" y="1308443"/>
            <a:ext cx="256946" cy="228600"/>
          </a:xfrm>
          <a:prstGeom prst="rect">
            <a:avLst/>
          </a:prstGeom>
        </p:spPr>
      </p:pic>
      <p:sp>
        <p:nvSpPr>
          <p:cNvPr id="13" name="Text 10"/>
          <p:cNvSpPr txBox="1"/>
          <p:nvPr/>
        </p:nvSpPr>
        <p:spPr>
          <a:xfrm>
            <a:off x="1438351" y="1036866"/>
            <a:ext cx="890626" cy="191110"/>
          </a:xfrm>
          <a:prstGeom prst="rect">
            <a:avLst/>
          </a:prstGeom>
          <a:noFill/>
          <a:ln/>
        </p:spPr>
        <p:txBody>
          <a:bodyPr wrap="square" lIns="0" tIns="0" rIns="0" bIns="0" rtlCol="0" anchor="ctr"/>
          <a:lstStyle/>
          <a:p>
            <a:pPr marL="0" indent="0" algn="l">
              <a:buNone/>
            </a:pPr>
            <a:r>
              <a:rPr lang="en-US" sz="1000" dirty="0">
                <a:solidFill>
                  <a:srgbClr val="6B7280"/>
                </a:solidFill>
                <a:latin typeface="Noto Sans KR" pitchFamily="34" charset="0"/>
                <a:ea typeface="Noto Sans KR" pitchFamily="34" charset="-122"/>
                <a:cs typeface="Noto Sans KR" pitchFamily="34" charset="-120"/>
              </a:rPr>
              <a:t>Total Return</a:t>
            </a:r>
            <a:endParaRPr lang="en-US" sz="1000" dirty="0"/>
          </a:p>
        </p:txBody>
      </p:sp>
      <p:sp>
        <p:nvSpPr>
          <p:cNvPr id="14" name="Text 11"/>
          <p:cNvSpPr txBox="1"/>
          <p:nvPr/>
        </p:nvSpPr>
        <p:spPr>
          <a:xfrm>
            <a:off x="1438351" y="1246264"/>
            <a:ext cx="1371600" cy="381305"/>
          </a:xfrm>
          <a:prstGeom prst="rect">
            <a:avLst/>
          </a:prstGeom>
          <a:noFill/>
          <a:ln/>
        </p:spPr>
        <p:txBody>
          <a:bodyPr wrap="square" lIns="0" tIns="0" rIns="0" bIns="0" rtlCol="0" anchor="ctr"/>
          <a:lstStyle/>
          <a:p>
            <a:pPr marL="0" indent="0" algn="l">
              <a:buNone/>
            </a:pPr>
            <a:r>
              <a:rPr lang="en-US" sz="2100" b="1" dirty="0">
                <a:solidFill>
                  <a:srgbClr val="1F2937"/>
                </a:solidFill>
                <a:latin typeface="Noto Sans KR" pitchFamily="34" charset="0"/>
                <a:ea typeface="Noto Sans KR" pitchFamily="34" charset="-122"/>
                <a:cs typeface="Noto Sans KR" pitchFamily="34" charset="-120"/>
              </a:rPr>
              <a:t>108.03%</a:t>
            </a:r>
            <a:endParaRPr lang="en-US" sz="2100" dirty="0"/>
          </a:p>
        </p:txBody>
      </p:sp>
      <p:pic>
        <p:nvPicPr>
          <p:cNvPr id="15" name="Image 1" descr="preencoded.png"/>
          <p:cNvPicPr>
            <a:picLocks noChangeAspect="1"/>
          </p:cNvPicPr>
          <p:nvPr/>
        </p:nvPicPr>
        <p:blipFill>
          <a:blip r:embed="rId4"/>
          <a:srcRect l="-133" r="-133"/>
          <a:stretch/>
        </p:blipFill>
        <p:spPr>
          <a:xfrm>
            <a:off x="1438351" y="1665059"/>
            <a:ext cx="85954" cy="114300"/>
          </a:xfrm>
          <a:prstGeom prst="rect">
            <a:avLst/>
          </a:prstGeom>
        </p:spPr>
      </p:pic>
      <p:sp>
        <p:nvSpPr>
          <p:cNvPr id="16" name="Text 12"/>
          <p:cNvSpPr txBox="1"/>
          <p:nvPr/>
        </p:nvSpPr>
        <p:spPr>
          <a:xfrm>
            <a:off x="1561795" y="1636713"/>
            <a:ext cx="1228954" cy="171907"/>
          </a:xfrm>
          <a:prstGeom prst="rect">
            <a:avLst/>
          </a:prstGeom>
          <a:noFill/>
          <a:ln/>
        </p:spPr>
        <p:txBody>
          <a:bodyPr wrap="square" lIns="0" tIns="0" rIns="0" bIns="0" rtlCol="0" anchor="ctr"/>
          <a:lstStyle/>
          <a:p>
            <a:pPr marL="0" indent="0" algn="l">
              <a:buNone/>
            </a:pPr>
            <a:r>
              <a:rPr lang="en-US" sz="900" b="1" dirty="0">
                <a:solidFill>
                  <a:srgbClr val="059669"/>
                </a:solidFill>
                <a:latin typeface="Noto Sans KR" pitchFamily="34" charset="0"/>
                <a:ea typeface="Noto Sans KR" pitchFamily="34" charset="-122"/>
                <a:cs typeface="Noto Sans KR" pitchFamily="34" charset="-120"/>
              </a:rPr>
              <a:t>vs Baseline +80.9%p</a:t>
            </a:r>
            <a:endParaRPr lang="en-US" sz="900" dirty="0"/>
          </a:p>
        </p:txBody>
      </p:sp>
      <p:sp>
        <p:nvSpPr>
          <p:cNvPr id="17" name="Shape 13"/>
          <p:cNvSpPr/>
          <p:nvPr/>
        </p:nvSpPr>
        <p:spPr>
          <a:xfrm>
            <a:off x="4317797" y="836613"/>
            <a:ext cx="3562502" cy="1171346"/>
          </a:xfrm>
          <a:prstGeom prst="roundRect">
            <a:avLst>
              <a:gd name="adj" fmla="val 7616"/>
            </a:avLst>
          </a:prstGeom>
          <a:solidFill>
            <a:srgbClr val="FFFFFF"/>
          </a:solidFill>
          <a:ln w="12700">
            <a:solidFill>
              <a:srgbClr val="E5E7EB"/>
            </a:solidFill>
            <a:prstDash val="solid"/>
          </a:ln>
          <a:effectLst>
            <a:outerShdw blurRad="63500" dist="38100" dir="5400000" algn="bl" rotWithShape="0">
              <a:srgbClr val="000000">
                <a:alpha val="5000"/>
              </a:srgbClr>
            </a:outerShdw>
          </a:effectLst>
        </p:spPr>
      </p:sp>
      <p:sp>
        <p:nvSpPr>
          <p:cNvPr id="18" name="Shape 14"/>
          <p:cNvSpPr/>
          <p:nvPr/>
        </p:nvSpPr>
        <p:spPr>
          <a:xfrm>
            <a:off x="4518050" y="1184085"/>
            <a:ext cx="476402" cy="476402"/>
          </a:xfrm>
          <a:prstGeom prst="roundRect">
            <a:avLst>
              <a:gd name="adj" fmla="val 46065"/>
            </a:avLst>
          </a:prstGeom>
          <a:solidFill>
            <a:srgbClr val="FEF3C7"/>
          </a:solidFill>
          <a:ln/>
        </p:spPr>
      </p:sp>
      <p:pic>
        <p:nvPicPr>
          <p:cNvPr id="19" name="Image 2" descr="preencoded.png"/>
          <p:cNvPicPr>
            <a:picLocks noChangeAspect="1"/>
          </p:cNvPicPr>
          <p:nvPr/>
        </p:nvPicPr>
        <p:blipFill>
          <a:blip r:embed="rId5"/>
          <a:srcRect/>
          <a:stretch/>
        </p:blipFill>
        <p:spPr>
          <a:xfrm>
            <a:off x="4641494" y="1308443"/>
            <a:ext cx="228600" cy="228600"/>
          </a:xfrm>
          <a:prstGeom prst="rect">
            <a:avLst/>
          </a:prstGeom>
        </p:spPr>
      </p:pic>
      <p:sp>
        <p:nvSpPr>
          <p:cNvPr id="20" name="Text 15"/>
          <p:cNvSpPr txBox="1"/>
          <p:nvPr/>
        </p:nvSpPr>
        <p:spPr>
          <a:xfrm>
            <a:off x="5184648" y="1036866"/>
            <a:ext cx="1281989" cy="191110"/>
          </a:xfrm>
          <a:prstGeom prst="rect">
            <a:avLst/>
          </a:prstGeom>
          <a:noFill/>
          <a:ln/>
        </p:spPr>
        <p:txBody>
          <a:bodyPr wrap="square" lIns="0" tIns="0" rIns="0" bIns="0" rtlCol="0" anchor="ctr"/>
          <a:lstStyle/>
          <a:p>
            <a:pPr marL="0" indent="0" algn="l">
              <a:buNone/>
            </a:pPr>
            <a:r>
              <a:rPr lang="en-US" sz="1000" dirty="0">
                <a:solidFill>
                  <a:srgbClr val="6B7280"/>
                </a:solidFill>
                <a:latin typeface="Noto Sans KR" pitchFamily="34" charset="0"/>
                <a:ea typeface="Noto Sans KR" pitchFamily="34" charset="-122"/>
                <a:cs typeface="Noto Sans KR" pitchFamily="34" charset="-120"/>
              </a:rPr>
              <a:t>Annualized Return</a:t>
            </a:r>
            <a:endParaRPr lang="en-US" sz="1000" dirty="0"/>
          </a:p>
        </p:txBody>
      </p:sp>
      <p:sp>
        <p:nvSpPr>
          <p:cNvPr id="21" name="Text 16"/>
          <p:cNvSpPr txBox="1"/>
          <p:nvPr/>
        </p:nvSpPr>
        <p:spPr>
          <a:xfrm>
            <a:off x="5184648" y="1246264"/>
            <a:ext cx="1209751" cy="381305"/>
          </a:xfrm>
          <a:prstGeom prst="rect">
            <a:avLst/>
          </a:prstGeom>
          <a:noFill/>
          <a:ln/>
        </p:spPr>
        <p:txBody>
          <a:bodyPr wrap="square" lIns="0" tIns="0" rIns="0" bIns="0" rtlCol="0" anchor="ctr"/>
          <a:lstStyle/>
          <a:p>
            <a:pPr marL="0" indent="0" algn="l">
              <a:buNone/>
            </a:pPr>
            <a:r>
              <a:rPr lang="en-US" sz="2100" b="1" dirty="0">
                <a:solidFill>
                  <a:srgbClr val="1F2937"/>
                </a:solidFill>
                <a:latin typeface="Noto Sans KR" pitchFamily="34" charset="0"/>
                <a:ea typeface="Noto Sans KR" pitchFamily="34" charset="-122"/>
                <a:cs typeface="Noto Sans KR" pitchFamily="34" charset="-120"/>
              </a:rPr>
              <a:t>51.55%</a:t>
            </a:r>
            <a:endParaRPr lang="en-US" sz="2100" dirty="0"/>
          </a:p>
        </p:txBody>
      </p:sp>
      <p:sp>
        <p:nvSpPr>
          <p:cNvPr id="22" name="Text 17"/>
          <p:cNvSpPr txBox="1"/>
          <p:nvPr/>
        </p:nvSpPr>
        <p:spPr>
          <a:xfrm>
            <a:off x="5184648" y="1636713"/>
            <a:ext cx="1095451" cy="171907"/>
          </a:xfrm>
          <a:prstGeom prst="rect">
            <a:avLst/>
          </a:prstGeom>
          <a:noFill/>
          <a:ln/>
        </p:spPr>
        <p:txBody>
          <a:bodyPr wrap="square" lIns="0" tIns="0" rIns="0" bIns="0" rtlCol="0" anchor="ctr"/>
          <a:lstStyle/>
          <a:p>
            <a:pPr marL="0" indent="0" algn="l">
              <a:buNone/>
            </a:pPr>
            <a:r>
              <a:rPr lang="en-US" sz="900" b="1" dirty="0">
                <a:solidFill>
                  <a:srgbClr val="059669"/>
                </a:solidFill>
                <a:latin typeface="Noto Sans KR" pitchFamily="34" charset="0"/>
                <a:ea typeface="Noto Sans KR" pitchFamily="34" charset="-122"/>
                <a:cs typeface="Noto Sans KR" pitchFamily="34" charset="-120"/>
              </a:rPr>
              <a:t>High Performance</a:t>
            </a:r>
            <a:endParaRPr lang="en-US" sz="900" dirty="0"/>
          </a:p>
        </p:txBody>
      </p:sp>
      <p:sp>
        <p:nvSpPr>
          <p:cNvPr id="23" name="Shape 18"/>
          <p:cNvSpPr/>
          <p:nvPr/>
        </p:nvSpPr>
        <p:spPr>
          <a:xfrm>
            <a:off x="8064094" y="836613"/>
            <a:ext cx="3562502" cy="1171346"/>
          </a:xfrm>
          <a:prstGeom prst="roundRect">
            <a:avLst>
              <a:gd name="adj" fmla="val 7616"/>
            </a:avLst>
          </a:prstGeom>
          <a:solidFill>
            <a:srgbClr val="FFFFFF"/>
          </a:solidFill>
          <a:ln w="12700">
            <a:solidFill>
              <a:srgbClr val="E5E7EB"/>
            </a:solidFill>
            <a:prstDash val="solid"/>
          </a:ln>
          <a:effectLst>
            <a:outerShdw blurRad="63500" dist="38100" dir="5400000" algn="bl" rotWithShape="0">
              <a:srgbClr val="000000">
                <a:alpha val="5000"/>
              </a:srgbClr>
            </a:outerShdw>
          </a:effectLst>
        </p:spPr>
      </p:sp>
      <p:sp>
        <p:nvSpPr>
          <p:cNvPr id="24" name="Shape 19"/>
          <p:cNvSpPr/>
          <p:nvPr/>
        </p:nvSpPr>
        <p:spPr>
          <a:xfrm>
            <a:off x="8264347" y="1184085"/>
            <a:ext cx="476402" cy="476402"/>
          </a:xfrm>
          <a:prstGeom prst="roundRect">
            <a:avLst>
              <a:gd name="adj" fmla="val 46065"/>
            </a:avLst>
          </a:prstGeom>
          <a:solidFill>
            <a:srgbClr val="FEE2E2"/>
          </a:solidFill>
          <a:ln/>
        </p:spPr>
      </p:sp>
      <p:pic>
        <p:nvPicPr>
          <p:cNvPr id="25" name="Image 3" descr="preencoded.png"/>
          <p:cNvPicPr>
            <a:picLocks noChangeAspect="1"/>
          </p:cNvPicPr>
          <p:nvPr/>
        </p:nvPicPr>
        <p:blipFill>
          <a:blip r:embed="rId6"/>
          <a:srcRect/>
          <a:stretch/>
        </p:blipFill>
        <p:spPr>
          <a:xfrm>
            <a:off x="8388706" y="1308443"/>
            <a:ext cx="228600" cy="228600"/>
          </a:xfrm>
          <a:prstGeom prst="rect">
            <a:avLst/>
          </a:prstGeom>
        </p:spPr>
      </p:pic>
      <p:sp>
        <p:nvSpPr>
          <p:cNvPr id="26" name="Text 20"/>
          <p:cNvSpPr txBox="1"/>
          <p:nvPr/>
        </p:nvSpPr>
        <p:spPr>
          <a:xfrm>
            <a:off x="8930945" y="1036866"/>
            <a:ext cx="1090879" cy="191110"/>
          </a:xfrm>
          <a:prstGeom prst="rect">
            <a:avLst/>
          </a:prstGeom>
          <a:noFill/>
          <a:ln/>
        </p:spPr>
        <p:txBody>
          <a:bodyPr wrap="square" lIns="0" tIns="0" rIns="0" bIns="0" rtlCol="0" anchor="ctr"/>
          <a:lstStyle/>
          <a:p>
            <a:pPr marL="0" indent="0" algn="l">
              <a:buNone/>
            </a:pPr>
            <a:r>
              <a:rPr lang="en-US" sz="1000" dirty="0">
                <a:solidFill>
                  <a:srgbClr val="6B7280"/>
                </a:solidFill>
                <a:latin typeface="Noto Sans KR" pitchFamily="34" charset="0"/>
                <a:ea typeface="Noto Sans KR" pitchFamily="34" charset="-122"/>
                <a:cs typeface="Noto Sans KR" pitchFamily="34" charset="-120"/>
              </a:rPr>
              <a:t>Max Drawdown</a:t>
            </a:r>
            <a:endParaRPr lang="en-US" sz="1000" dirty="0"/>
          </a:p>
        </p:txBody>
      </p:sp>
      <p:sp>
        <p:nvSpPr>
          <p:cNvPr id="27" name="Text 21"/>
          <p:cNvSpPr txBox="1"/>
          <p:nvPr/>
        </p:nvSpPr>
        <p:spPr>
          <a:xfrm>
            <a:off x="8930945" y="1246264"/>
            <a:ext cx="1314907" cy="381305"/>
          </a:xfrm>
          <a:prstGeom prst="rect">
            <a:avLst/>
          </a:prstGeom>
          <a:noFill/>
          <a:ln/>
        </p:spPr>
        <p:txBody>
          <a:bodyPr wrap="square" lIns="0" tIns="0" rIns="0" bIns="0" rtlCol="0" anchor="ctr"/>
          <a:lstStyle/>
          <a:p>
            <a:pPr marL="0" indent="0" algn="l">
              <a:buNone/>
            </a:pPr>
            <a:r>
              <a:rPr lang="en-US" sz="2100" b="1" dirty="0">
                <a:solidFill>
                  <a:srgbClr val="1F2937"/>
                </a:solidFill>
                <a:latin typeface="Noto Sans KR" pitchFamily="34" charset="0"/>
                <a:ea typeface="Noto Sans KR" pitchFamily="34" charset="-122"/>
                <a:cs typeface="Noto Sans KR" pitchFamily="34" charset="-120"/>
              </a:rPr>
              <a:t>-16.56%</a:t>
            </a:r>
            <a:endParaRPr lang="en-US" sz="2100" dirty="0"/>
          </a:p>
        </p:txBody>
      </p:sp>
      <p:sp>
        <p:nvSpPr>
          <p:cNvPr id="28" name="Text 22"/>
          <p:cNvSpPr txBox="1"/>
          <p:nvPr/>
        </p:nvSpPr>
        <p:spPr>
          <a:xfrm>
            <a:off x="8930945" y="1636713"/>
            <a:ext cx="962863" cy="171907"/>
          </a:xfrm>
          <a:prstGeom prst="rect">
            <a:avLst/>
          </a:prstGeom>
          <a:noFill/>
          <a:ln/>
        </p:spPr>
        <p:txBody>
          <a:bodyPr wrap="square" lIns="0" tIns="0" rIns="0" bIns="0" rtlCol="0" anchor="ctr"/>
          <a:lstStyle/>
          <a:p>
            <a:pPr marL="0" indent="0" algn="l">
              <a:buNone/>
            </a:pPr>
            <a:r>
              <a:rPr lang="en-US" sz="900" b="1" dirty="0">
                <a:solidFill>
                  <a:srgbClr val="059669"/>
                </a:solidFill>
                <a:latin typeface="Noto Sans KR" pitchFamily="34" charset="0"/>
                <a:ea typeface="Noto Sans KR" pitchFamily="34" charset="-122"/>
                <a:cs typeface="Noto Sans KR" pitchFamily="34" charset="-120"/>
              </a:rPr>
              <a:t>Target: -15.00%</a:t>
            </a:r>
            <a:endParaRPr lang="en-US" sz="900" dirty="0"/>
          </a:p>
        </p:txBody>
      </p:sp>
      <p:sp>
        <p:nvSpPr>
          <p:cNvPr id="31" name="Shape 25"/>
          <p:cNvSpPr/>
          <p:nvPr/>
        </p:nvSpPr>
        <p:spPr>
          <a:xfrm>
            <a:off x="580644" y="2706688"/>
            <a:ext cx="2095805" cy="19202"/>
          </a:xfrm>
          <a:prstGeom prst="rect">
            <a:avLst/>
          </a:prstGeom>
          <a:solidFill>
            <a:srgbClr val="E5E7EB"/>
          </a:solidFill>
          <a:ln/>
        </p:spPr>
      </p:sp>
      <p:sp>
        <p:nvSpPr>
          <p:cNvPr id="32" name="Text 26"/>
          <p:cNvSpPr txBox="1"/>
          <p:nvPr/>
        </p:nvSpPr>
        <p:spPr>
          <a:xfrm>
            <a:off x="1334110" y="2330415"/>
            <a:ext cx="698602" cy="200254"/>
          </a:xfrm>
          <a:prstGeom prst="rect">
            <a:avLst/>
          </a:prstGeom>
          <a:noFill/>
          <a:ln/>
        </p:spPr>
        <p:txBody>
          <a:bodyPr wrap="square" lIns="0" tIns="0" rIns="0" bIns="0" rtlCol="0" anchor="ctr"/>
          <a:lstStyle/>
          <a:p>
            <a:pPr marL="0" indent="0" algn="ctr">
              <a:buNone/>
            </a:pPr>
            <a:r>
              <a:rPr lang="en-US" sz="1100" b="1" dirty="0">
                <a:solidFill>
                  <a:srgbClr val="374151"/>
                </a:solidFill>
                <a:latin typeface="Noto Sans KR" pitchFamily="34" charset="0"/>
                <a:ea typeface="Noto Sans KR" pitchFamily="34" charset="-122"/>
                <a:cs typeface="Noto Sans KR" pitchFamily="34" charset="-120"/>
              </a:rPr>
              <a:t>Strategy</a:t>
            </a:r>
            <a:endParaRPr lang="en-US" sz="1100" dirty="0"/>
          </a:p>
        </p:txBody>
      </p:sp>
      <p:sp>
        <p:nvSpPr>
          <p:cNvPr id="34" name="Shape 28"/>
          <p:cNvSpPr/>
          <p:nvPr/>
        </p:nvSpPr>
        <p:spPr>
          <a:xfrm>
            <a:off x="2675534" y="2706688"/>
            <a:ext cx="1238098" cy="19202"/>
          </a:xfrm>
          <a:prstGeom prst="rect">
            <a:avLst/>
          </a:prstGeom>
          <a:solidFill>
            <a:srgbClr val="E5E7EB"/>
          </a:solidFill>
          <a:ln/>
        </p:spPr>
      </p:sp>
      <p:sp>
        <p:nvSpPr>
          <p:cNvPr id="35" name="Text 29"/>
          <p:cNvSpPr txBox="1"/>
          <p:nvPr/>
        </p:nvSpPr>
        <p:spPr>
          <a:xfrm>
            <a:off x="2857500" y="2330415"/>
            <a:ext cx="983894" cy="200254"/>
          </a:xfrm>
          <a:prstGeom prst="rect">
            <a:avLst/>
          </a:prstGeom>
          <a:noFill/>
          <a:ln/>
        </p:spPr>
        <p:txBody>
          <a:bodyPr wrap="square" lIns="0" tIns="0" rIns="0" bIns="0" rtlCol="0" anchor="ctr"/>
          <a:lstStyle/>
          <a:p>
            <a:pPr marL="0" indent="0" algn="ctr">
              <a:buNone/>
            </a:pPr>
            <a:r>
              <a:rPr lang="en-US" sz="1100" b="1" dirty="0">
                <a:solidFill>
                  <a:srgbClr val="374151"/>
                </a:solidFill>
                <a:latin typeface="Noto Sans KR" pitchFamily="34" charset="0"/>
                <a:ea typeface="Noto Sans KR" pitchFamily="34" charset="-122"/>
                <a:cs typeface="Noto Sans KR" pitchFamily="34" charset="-120"/>
              </a:rPr>
              <a:t>Total Return</a:t>
            </a:r>
            <a:endParaRPr lang="en-US" sz="1100" dirty="0"/>
          </a:p>
        </p:txBody>
      </p:sp>
      <p:sp>
        <p:nvSpPr>
          <p:cNvPr id="37" name="Shape 31"/>
          <p:cNvSpPr/>
          <p:nvPr/>
        </p:nvSpPr>
        <p:spPr>
          <a:xfrm>
            <a:off x="3907231" y="2706688"/>
            <a:ext cx="1181405" cy="19202"/>
          </a:xfrm>
          <a:prstGeom prst="rect">
            <a:avLst/>
          </a:prstGeom>
          <a:solidFill>
            <a:srgbClr val="E5E7EB"/>
          </a:solidFill>
          <a:ln/>
        </p:spPr>
      </p:sp>
      <p:sp>
        <p:nvSpPr>
          <p:cNvPr id="38" name="Text 32"/>
          <p:cNvSpPr txBox="1"/>
          <p:nvPr/>
        </p:nvSpPr>
        <p:spPr>
          <a:xfrm>
            <a:off x="4242816" y="2223430"/>
            <a:ext cx="612648" cy="419710"/>
          </a:xfrm>
          <a:prstGeom prst="rect">
            <a:avLst/>
          </a:prstGeom>
          <a:noFill/>
          <a:ln/>
        </p:spPr>
        <p:txBody>
          <a:bodyPr wrap="square" lIns="0" tIns="0" rIns="0" bIns="0" rtlCol="0" anchor="ctr"/>
          <a:lstStyle/>
          <a:p>
            <a:pPr marL="0" indent="0" algn="ctr">
              <a:buNone/>
            </a:pPr>
            <a:r>
              <a:rPr lang="en-US" sz="1100" b="1" dirty="0">
                <a:solidFill>
                  <a:srgbClr val="374151"/>
                </a:solidFill>
                <a:latin typeface="Noto Sans KR" pitchFamily="34" charset="0"/>
                <a:ea typeface="Noto Sans KR" pitchFamily="34" charset="-122"/>
                <a:cs typeface="Noto Sans KR" pitchFamily="34" charset="-120"/>
              </a:rPr>
              <a:t>Sharpe Ratio</a:t>
            </a:r>
            <a:endParaRPr lang="en-US" sz="1100" dirty="0"/>
          </a:p>
        </p:txBody>
      </p:sp>
      <p:sp>
        <p:nvSpPr>
          <p:cNvPr id="40" name="Shape 34"/>
          <p:cNvSpPr/>
          <p:nvPr/>
        </p:nvSpPr>
        <p:spPr>
          <a:xfrm>
            <a:off x="5080406" y="2706688"/>
            <a:ext cx="1352398" cy="19202"/>
          </a:xfrm>
          <a:prstGeom prst="rect">
            <a:avLst/>
          </a:prstGeom>
          <a:solidFill>
            <a:srgbClr val="E5E7EB"/>
          </a:solidFill>
          <a:ln/>
        </p:spPr>
      </p:sp>
      <p:sp>
        <p:nvSpPr>
          <p:cNvPr id="41" name="Text 35"/>
          <p:cNvSpPr txBox="1"/>
          <p:nvPr/>
        </p:nvSpPr>
        <p:spPr>
          <a:xfrm>
            <a:off x="5376672" y="2223430"/>
            <a:ext cx="869594" cy="419710"/>
          </a:xfrm>
          <a:prstGeom prst="rect">
            <a:avLst/>
          </a:prstGeom>
          <a:noFill/>
          <a:ln/>
        </p:spPr>
        <p:txBody>
          <a:bodyPr wrap="square" lIns="0" tIns="0" rIns="0" bIns="0" rtlCol="0" anchor="ctr"/>
          <a:lstStyle/>
          <a:p>
            <a:pPr marL="0" indent="0" algn="ctr">
              <a:buNone/>
            </a:pPr>
            <a:r>
              <a:rPr lang="en-US" sz="1100" b="1" dirty="0">
                <a:solidFill>
                  <a:srgbClr val="374151"/>
                </a:solidFill>
                <a:latin typeface="Noto Sans KR" pitchFamily="34" charset="0"/>
                <a:ea typeface="Noto Sans KR" pitchFamily="34" charset="-122"/>
                <a:cs typeface="Noto Sans KR" pitchFamily="34" charset="-120"/>
              </a:rPr>
              <a:t>Max Drawdown</a:t>
            </a:r>
            <a:endParaRPr lang="en-US" sz="1100" dirty="0"/>
          </a:p>
        </p:txBody>
      </p:sp>
      <p:sp>
        <p:nvSpPr>
          <p:cNvPr id="42" name="Shape 36"/>
          <p:cNvSpPr/>
          <p:nvPr/>
        </p:nvSpPr>
        <p:spPr>
          <a:xfrm>
            <a:off x="580644" y="2725890"/>
            <a:ext cx="5857646" cy="761695"/>
          </a:xfrm>
          <a:prstGeom prst="rect">
            <a:avLst/>
          </a:prstGeom>
          <a:solidFill>
            <a:srgbClr val="EFF6FF"/>
          </a:solidFill>
          <a:ln/>
        </p:spPr>
      </p:sp>
      <p:sp>
        <p:nvSpPr>
          <p:cNvPr id="43" name="Shape 37"/>
          <p:cNvSpPr/>
          <p:nvPr/>
        </p:nvSpPr>
        <p:spPr>
          <a:xfrm>
            <a:off x="580644" y="3478441"/>
            <a:ext cx="2095805" cy="9144"/>
          </a:xfrm>
          <a:prstGeom prst="rect">
            <a:avLst/>
          </a:prstGeom>
          <a:solidFill>
            <a:srgbClr val="E5E7EB"/>
          </a:solidFill>
          <a:ln/>
        </p:spPr>
      </p:sp>
      <p:sp>
        <p:nvSpPr>
          <p:cNvPr id="44" name="Text 38"/>
          <p:cNvSpPr txBox="1"/>
          <p:nvPr/>
        </p:nvSpPr>
        <p:spPr>
          <a:xfrm>
            <a:off x="724205" y="2878595"/>
            <a:ext cx="1248156" cy="457200"/>
          </a:xfrm>
          <a:prstGeom prst="rect">
            <a:avLst/>
          </a:prstGeom>
          <a:noFill/>
          <a:ln/>
        </p:spPr>
        <p:txBody>
          <a:bodyPr wrap="square" lIns="0" tIns="0" rIns="0" bIns="0" rtlCol="0" anchor="ctr"/>
          <a:lstStyle/>
          <a:p>
            <a:pPr marL="0" indent="0" algn="l">
              <a:buNone/>
            </a:pPr>
            <a:r>
              <a:rPr lang="en-US" sz="1200" b="1" dirty="0">
                <a:solidFill>
                  <a:srgbClr val="1E40AF"/>
                </a:solidFill>
                <a:latin typeface="Noto Sans KR" pitchFamily="34" charset="0"/>
                <a:ea typeface="Noto Sans KR" pitchFamily="34" charset="-122"/>
                <a:cs typeface="Noto Sans KR" pitchFamily="34" charset="-120"/>
              </a:rPr>
              <a:t>RL Agent (PPO) Proposed</a:t>
            </a:r>
            <a:endParaRPr lang="en-US" sz="1200" dirty="0"/>
          </a:p>
        </p:txBody>
      </p:sp>
      <p:sp>
        <p:nvSpPr>
          <p:cNvPr id="45" name="Shape 39"/>
          <p:cNvSpPr/>
          <p:nvPr/>
        </p:nvSpPr>
        <p:spPr>
          <a:xfrm>
            <a:off x="2675534" y="3478441"/>
            <a:ext cx="1238098" cy="9144"/>
          </a:xfrm>
          <a:prstGeom prst="rect">
            <a:avLst/>
          </a:prstGeom>
          <a:solidFill>
            <a:srgbClr val="E5E7EB"/>
          </a:solidFill>
          <a:ln/>
        </p:spPr>
      </p:sp>
      <p:sp>
        <p:nvSpPr>
          <p:cNvPr id="46" name="Text 40"/>
          <p:cNvSpPr txBox="1"/>
          <p:nvPr/>
        </p:nvSpPr>
        <p:spPr>
          <a:xfrm>
            <a:off x="2973629" y="2992895"/>
            <a:ext cx="752551" cy="228600"/>
          </a:xfrm>
          <a:prstGeom prst="rect">
            <a:avLst/>
          </a:prstGeom>
          <a:noFill/>
          <a:ln/>
        </p:spPr>
        <p:txBody>
          <a:bodyPr wrap="square" lIns="0" tIns="0" rIns="0" bIns="0" rtlCol="0" anchor="ctr"/>
          <a:lstStyle/>
          <a:p>
            <a:pPr marL="0" indent="0" algn="ctr">
              <a:buNone/>
            </a:pPr>
            <a:r>
              <a:rPr lang="en-US" sz="1200" b="1" dirty="0">
                <a:solidFill>
                  <a:srgbClr val="1E40AF"/>
                </a:solidFill>
                <a:latin typeface="Noto Sans KR" pitchFamily="34" charset="0"/>
                <a:ea typeface="Noto Sans KR" pitchFamily="34" charset="-122"/>
                <a:cs typeface="Noto Sans KR" pitchFamily="34" charset="-120"/>
              </a:rPr>
              <a:t>108.03%</a:t>
            </a:r>
            <a:endParaRPr lang="en-US" sz="1200" dirty="0"/>
          </a:p>
        </p:txBody>
      </p:sp>
      <p:sp>
        <p:nvSpPr>
          <p:cNvPr id="47" name="Shape 41"/>
          <p:cNvSpPr/>
          <p:nvPr/>
        </p:nvSpPr>
        <p:spPr>
          <a:xfrm>
            <a:off x="3907231" y="3478441"/>
            <a:ext cx="1181405" cy="9144"/>
          </a:xfrm>
          <a:prstGeom prst="rect">
            <a:avLst/>
          </a:prstGeom>
          <a:solidFill>
            <a:srgbClr val="E5E7EB"/>
          </a:solidFill>
          <a:ln/>
        </p:spPr>
      </p:sp>
      <p:sp>
        <p:nvSpPr>
          <p:cNvPr id="48" name="Text 42"/>
          <p:cNvSpPr txBox="1"/>
          <p:nvPr/>
        </p:nvSpPr>
        <p:spPr>
          <a:xfrm>
            <a:off x="4336999" y="2992895"/>
            <a:ext cx="428854" cy="228600"/>
          </a:xfrm>
          <a:prstGeom prst="rect">
            <a:avLst/>
          </a:prstGeom>
          <a:noFill/>
          <a:ln/>
        </p:spPr>
        <p:txBody>
          <a:bodyPr wrap="square" lIns="0" tIns="0" rIns="0" bIns="0" rtlCol="0" anchor="ctr"/>
          <a:lstStyle/>
          <a:p>
            <a:pPr marL="0" indent="0" algn="ctr">
              <a:buNone/>
            </a:pPr>
            <a:r>
              <a:rPr lang="en-US" sz="1200" b="1" dirty="0">
                <a:solidFill>
                  <a:srgbClr val="1E40AF"/>
                </a:solidFill>
                <a:latin typeface="Noto Sans KR" pitchFamily="34" charset="0"/>
                <a:ea typeface="Noto Sans KR" pitchFamily="34" charset="-122"/>
                <a:cs typeface="Noto Sans KR" pitchFamily="34" charset="-120"/>
              </a:rPr>
              <a:t>1.17</a:t>
            </a:r>
            <a:endParaRPr lang="en-US" sz="1200" dirty="0"/>
          </a:p>
        </p:txBody>
      </p:sp>
      <p:sp>
        <p:nvSpPr>
          <p:cNvPr id="49" name="Shape 43"/>
          <p:cNvSpPr/>
          <p:nvPr/>
        </p:nvSpPr>
        <p:spPr>
          <a:xfrm>
            <a:off x="5080406" y="3478441"/>
            <a:ext cx="1352398" cy="9144"/>
          </a:xfrm>
          <a:prstGeom prst="rect">
            <a:avLst/>
          </a:prstGeom>
          <a:solidFill>
            <a:srgbClr val="E5E7EB"/>
          </a:solidFill>
          <a:ln/>
        </p:spPr>
      </p:sp>
      <p:sp>
        <p:nvSpPr>
          <p:cNvPr id="50" name="Text 44"/>
          <p:cNvSpPr txBox="1"/>
          <p:nvPr/>
        </p:nvSpPr>
        <p:spPr>
          <a:xfrm>
            <a:off x="5455310" y="2992895"/>
            <a:ext cx="724205" cy="228600"/>
          </a:xfrm>
          <a:prstGeom prst="rect">
            <a:avLst/>
          </a:prstGeom>
          <a:noFill/>
          <a:ln/>
        </p:spPr>
        <p:txBody>
          <a:bodyPr wrap="square" lIns="0" tIns="0" rIns="0" bIns="0" rtlCol="0" anchor="ctr"/>
          <a:lstStyle/>
          <a:p>
            <a:pPr marL="0" indent="0" algn="ctr">
              <a:buNone/>
            </a:pPr>
            <a:r>
              <a:rPr lang="en-US" sz="1200" b="1" dirty="0">
                <a:solidFill>
                  <a:srgbClr val="1E40AF"/>
                </a:solidFill>
                <a:latin typeface="Noto Sans KR" pitchFamily="34" charset="0"/>
                <a:ea typeface="Noto Sans KR" pitchFamily="34" charset="-122"/>
                <a:cs typeface="Noto Sans KR" pitchFamily="34" charset="-120"/>
              </a:rPr>
              <a:t>-16.56%</a:t>
            </a:r>
            <a:endParaRPr lang="en-US" sz="1200" dirty="0"/>
          </a:p>
        </p:txBody>
      </p:sp>
      <p:sp>
        <p:nvSpPr>
          <p:cNvPr id="51" name="Shape 45"/>
          <p:cNvSpPr/>
          <p:nvPr/>
        </p:nvSpPr>
        <p:spPr>
          <a:xfrm>
            <a:off x="580644" y="3997820"/>
            <a:ext cx="2095805" cy="9144"/>
          </a:xfrm>
          <a:prstGeom prst="rect">
            <a:avLst/>
          </a:prstGeom>
          <a:solidFill>
            <a:srgbClr val="E5E7EB"/>
          </a:solidFill>
          <a:ln/>
        </p:spPr>
      </p:sp>
      <p:sp>
        <p:nvSpPr>
          <p:cNvPr id="52" name="Text 46"/>
          <p:cNvSpPr txBox="1"/>
          <p:nvPr/>
        </p:nvSpPr>
        <p:spPr>
          <a:xfrm>
            <a:off x="724205" y="3631146"/>
            <a:ext cx="1114654" cy="228600"/>
          </a:xfrm>
          <a:prstGeom prst="rect">
            <a:avLst/>
          </a:prstGeom>
          <a:noFill/>
          <a:ln/>
        </p:spPr>
        <p:txBody>
          <a:bodyPr wrap="square" lIns="0" tIns="0" rIns="0" bIns="0" rtlCol="0" anchor="ctr"/>
          <a:lstStyle/>
          <a:p>
            <a:pPr marL="0" indent="0" algn="l">
              <a:buNone/>
            </a:pPr>
            <a:r>
              <a:rPr lang="en-US" sz="1200" b="1" dirty="0">
                <a:solidFill>
                  <a:srgbClr val="1F2937"/>
                </a:solidFill>
                <a:latin typeface="Noto Sans KR" pitchFamily="34" charset="0"/>
                <a:ea typeface="Noto Sans KR" pitchFamily="34" charset="-122"/>
                <a:cs typeface="Noto Sans KR" pitchFamily="34" charset="-120"/>
              </a:rPr>
              <a:t>Equal Weight</a:t>
            </a:r>
            <a:endParaRPr lang="en-US" sz="1200" dirty="0"/>
          </a:p>
        </p:txBody>
      </p:sp>
      <p:sp>
        <p:nvSpPr>
          <p:cNvPr id="53" name="Shape 47"/>
          <p:cNvSpPr/>
          <p:nvPr/>
        </p:nvSpPr>
        <p:spPr>
          <a:xfrm>
            <a:off x="2675534" y="3997820"/>
            <a:ext cx="1238098" cy="9144"/>
          </a:xfrm>
          <a:prstGeom prst="rect">
            <a:avLst/>
          </a:prstGeom>
          <a:solidFill>
            <a:srgbClr val="E5E7EB"/>
          </a:solidFill>
          <a:ln/>
        </p:spPr>
      </p:sp>
      <p:sp>
        <p:nvSpPr>
          <p:cNvPr id="54" name="Text 48"/>
          <p:cNvSpPr txBox="1"/>
          <p:nvPr/>
        </p:nvSpPr>
        <p:spPr>
          <a:xfrm>
            <a:off x="3030322" y="3631146"/>
            <a:ext cx="638251" cy="228600"/>
          </a:xfrm>
          <a:prstGeom prst="rect">
            <a:avLst/>
          </a:prstGeom>
          <a:noFill/>
          <a:ln/>
        </p:spPr>
        <p:txBody>
          <a:bodyPr wrap="square" lIns="0" tIns="0" rIns="0" bIns="0" rtlCol="0" anchor="ctr"/>
          <a:lstStyle/>
          <a:p>
            <a:pPr marL="0" indent="0" algn="ctr">
              <a:buNone/>
            </a:pPr>
            <a:r>
              <a:rPr lang="en-US" sz="1200" dirty="0">
                <a:solidFill>
                  <a:srgbClr val="4B5563"/>
                </a:solidFill>
                <a:latin typeface="Noto Sans KR" pitchFamily="34" charset="0"/>
                <a:ea typeface="Noto Sans KR" pitchFamily="34" charset="-122"/>
                <a:cs typeface="Noto Sans KR" pitchFamily="34" charset="-120"/>
              </a:rPr>
              <a:t>27.05%</a:t>
            </a:r>
            <a:endParaRPr lang="en-US" sz="1200" dirty="0"/>
          </a:p>
        </p:txBody>
      </p:sp>
      <p:sp>
        <p:nvSpPr>
          <p:cNvPr id="55" name="Shape 49"/>
          <p:cNvSpPr/>
          <p:nvPr/>
        </p:nvSpPr>
        <p:spPr>
          <a:xfrm>
            <a:off x="3907231" y="3997820"/>
            <a:ext cx="1181405" cy="9144"/>
          </a:xfrm>
          <a:prstGeom prst="rect">
            <a:avLst/>
          </a:prstGeom>
          <a:solidFill>
            <a:srgbClr val="E5E7EB"/>
          </a:solidFill>
          <a:ln/>
        </p:spPr>
      </p:sp>
      <p:sp>
        <p:nvSpPr>
          <p:cNvPr id="56" name="Text 50"/>
          <p:cNvSpPr txBox="1"/>
          <p:nvPr/>
        </p:nvSpPr>
        <p:spPr>
          <a:xfrm>
            <a:off x="4101084" y="3631146"/>
            <a:ext cx="905256" cy="228600"/>
          </a:xfrm>
          <a:prstGeom prst="rect">
            <a:avLst/>
          </a:prstGeom>
          <a:noFill/>
          <a:ln/>
        </p:spPr>
        <p:txBody>
          <a:bodyPr wrap="square" lIns="0" tIns="0" rIns="0" bIns="0" rtlCol="0" anchor="ctr"/>
          <a:lstStyle/>
          <a:p>
            <a:pPr marL="0" indent="0" algn="ctr">
              <a:buNone/>
            </a:pPr>
            <a:r>
              <a:rPr lang="en-US" sz="1200" dirty="0">
                <a:solidFill>
                  <a:srgbClr val="4B5563"/>
                </a:solidFill>
                <a:latin typeface="Noto Sans KR" pitchFamily="34" charset="0"/>
                <a:ea typeface="Noto Sans KR" pitchFamily="34" charset="-122"/>
                <a:cs typeface="Noto Sans KR" pitchFamily="34" charset="-120"/>
              </a:rPr>
              <a:t>2.46 Stable</a:t>
            </a:r>
            <a:endParaRPr lang="en-US" sz="1200" dirty="0"/>
          </a:p>
        </p:txBody>
      </p:sp>
      <p:sp>
        <p:nvSpPr>
          <p:cNvPr id="57" name="Shape 51"/>
          <p:cNvSpPr/>
          <p:nvPr/>
        </p:nvSpPr>
        <p:spPr>
          <a:xfrm>
            <a:off x="5080406" y="3997820"/>
            <a:ext cx="1352398" cy="9144"/>
          </a:xfrm>
          <a:prstGeom prst="rect">
            <a:avLst/>
          </a:prstGeom>
          <a:solidFill>
            <a:srgbClr val="E5E7EB"/>
          </a:solidFill>
          <a:ln/>
        </p:spPr>
      </p:sp>
      <p:sp>
        <p:nvSpPr>
          <p:cNvPr id="58" name="Text 52"/>
          <p:cNvSpPr txBox="1"/>
          <p:nvPr/>
        </p:nvSpPr>
        <p:spPr>
          <a:xfrm>
            <a:off x="5512003" y="3631146"/>
            <a:ext cx="609905" cy="228600"/>
          </a:xfrm>
          <a:prstGeom prst="rect">
            <a:avLst/>
          </a:prstGeom>
          <a:noFill/>
          <a:ln/>
        </p:spPr>
        <p:txBody>
          <a:bodyPr wrap="square" lIns="0" tIns="0" rIns="0" bIns="0" rtlCol="0" anchor="ctr"/>
          <a:lstStyle/>
          <a:p>
            <a:pPr marL="0" indent="0" algn="ctr">
              <a:buNone/>
            </a:pPr>
            <a:r>
              <a:rPr lang="en-US" sz="1200" dirty="0">
                <a:solidFill>
                  <a:srgbClr val="4B5563"/>
                </a:solidFill>
                <a:latin typeface="Noto Sans KR" pitchFamily="34" charset="0"/>
                <a:ea typeface="Noto Sans KR" pitchFamily="34" charset="-122"/>
                <a:cs typeface="Noto Sans KR" pitchFamily="34" charset="-120"/>
              </a:rPr>
              <a:t>-6.05%</a:t>
            </a:r>
            <a:endParaRPr lang="en-US" sz="1200" dirty="0"/>
          </a:p>
        </p:txBody>
      </p:sp>
      <p:sp>
        <p:nvSpPr>
          <p:cNvPr id="59" name="Shape 53"/>
          <p:cNvSpPr/>
          <p:nvPr/>
        </p:nvSpPr>
        <p:spPr>
          <a:xfrm>
            <a:off x="580644" y="4750372"/>
            <a:ext cx="2095805" cy="9144"/>
          </a:xfrm>
          <a:prstGeom prst="rect">
            <a:avLst/>
          </a:prstGeom>
          <a:solidFill>
            <a:srgbClr val="E5E7EB"/>
          </a:solidFill>
          <a:ln/>
        </p:spPr>
      </p:sp>
      <p:sp>
        <p:nvSpPr>
          <p:cNvPr id="60" name="Text 54"/>
          <p:cNvSpPr txBox="1"/>
          <p:nvPr/>
        </p:nvSpPr>
        <p:spPr>
          <a:xfrm>
            <a:off x="724205" y="4269397"/>
            <a:ext cx="962863" cy="228600"/>
          </a:xfrm>
          <a:prstGeom prst="rect">
            <a:avLst/>
          </a:prstGeom>
          <a:noFill/>
          <a:ln/>
        </p:spPr>
        <p:txBody>
          <a:bodyPr wrap="square" lIns="0" tIns="0" rIns="0" bIns="0" rtlCol="0" anchor="ctr"/>
          <a:lstStyle/>
          <a:p>
            <a:pPr marL="0" indent="0" algn="l">
              <a:buNone/>
            </a:pPr>
            <a:r>
              <a:rPr lang="en-US" sz="1200" b="1" dirty="0">
                <a:solidFill>
                  <a:srgbClr val="1F2937"/>
                </a:solidFill>
                <a:latin typeface="Noto Sans KR" pitchFamily="34" charset="0"/>
                <a:ea typeface="Noto Sans KR" pitchFamily="34" charset="-122"/>
                <a:cs typeface="Noto Sans KR" pitchFamily="34" charset="-120"/>
              </a:rPr>
              <a:t>Buy &amp; Hold</a:t>
            </a:r>
            <a:endParaRPr lang="en-US" sz="1200" dirty="0"/>
          </a:p>
        </p:txBody>
      </p:sp>
      <p:sp>
        <p:nvSpPr>
          <p:cNvPr id="61" name="Shape 55"/>
          <p:cNvSpPr/>
          <p:nvPr/>
        </p:nvSpPr>
        <p:spPr>
          <a:xfrm>
            <a:off x="2675534" y="4750372"/>
            <a:ext cx="1238098" cy="9144"/>
          </a:xfrm>
          <a:prstGeom prst="rect">
            <a:avLst/>
          </a:prstGeom>
          <a:solidFill>
            <a:srgbClr val="E5E7EB"/>
          </a:solidFill>
          <a:ln/>
        </p:spPr>
      </p:sp>
      <p:sp>
        <p:nvSpPr>
          <p:cNvPr id="62" name="Text 56"/>
          <p:cNvSpPr txBox="1"/>
          <p:nvPr/>
        </p:nvSpPr>
        <p:spPr>
          <a:xfrm>
            <a:off x="3009290" y="4155097"/>
            <a:ext cx="685800" cy="457200"/>
          </a:xfrm>
          <a:prstGeom prst="rect">
            <a:avLst/>
          </a:prstGeom>
          <a:noFill/>
          <a:ln/>
        </p:spPr>
        <p:txBody>
          <a:bodyPr wrap="square" lIns="0" tIns="0" rIns="0" bIns="0" rtlCol="0" anchor="ctr"/>
          <a:lstStyle/>
          <a:p>
            <a:pPr marL="0" indent="0" algn="ctr">
              <a:buNone/>
            </a:pPr>
            <a:r>
              <a:rPr lang="en-US" sz="1200" dirty="0">
                <a:solidFill>
                  <a:srgbClr val="4B5563"/>
                </a:solidFill>
                <a:latin typeface="Noto Sans KR" pitchFamily="34" charset="0"/>
                <a:ea typeface="Noto Sans KR" pitchFamily="34" charset="-122"/>
                <a:cs typeface="Noto Sans KR" pitchFamily="34" charset="-120"/>
              </a:rPr>
              <a:t>20~25% (Est.)</a:t>
            </a:r>
            <a:endParaRPr lang="en-US" sz="1200" dirty="0"/>
          </a:p>
        </p:txBody>
      </p:sp>
      <p:sp>
        <p:nvSpPr>
          <p:cNvPr id="63" name="Shape 57"/>
          <p:cNvSpPr/>
          <p:nvPr/>
        </p:nvSpPr>
        <p:spPr>
          <a:xfrm>
            <a:off x="3907231" y="4750372"/>
            <a:ext cx="1181405" cy="9144"/>
          </a:xfrm>
          <a:prstGeom prst="rect">
            <a:avLst/>
          </a:prstGeom>
          <a:solidFill>
            <a:srgbClr val="E5E7EB"/>
          </a:solidFill>
          <a:ln/>
        </p:spPr>
      </p:sp>
      <p:sp>
        <p:nvSpPr>
          <p:cNvPr id="64" name="Text 58"/>
          <p:cNvSpPr txBox="1"/>
          <p:nvPr/>
        </p:nvSpPr>
        <p:spPr>
          <a:xfrm>
            <a:off x="4345229" y="4269397"/>
            <a:ext cx="419710" cy="228600"/>
          </a:xfrm>
          <a:prstGeom prst="rect">
            <a:avLst/>
          </a:prstGeom>
          <a:noFill/>
          <a:ln/>
        </p:spPr>
        <p:txBody>
          <a:bodyPr wrap="square" lIns="0" tIns="0" rIns="0" bIns="0" rtlCol="0" anchor="ctr"/>
          <a:lstStyle/>
          <a:p>
            <a:pPr marL="0" indent="0" algn="ctr">
              <a:buNone/>
            </a:pPr>
            <a:r>
              <a:rPr lang="en-US" sz="1200" dirty="0">
                <a:solidFill>
                  <a:srgbClr val="4B5563"/>
                </a:solidFill>
                <a:latin typeface="Noto Sans KR" pitchFamily="34" charset="0"/>
                <a:ea typeface="Noto Sans KR" pitchFamily="34" charset="-122"/>
                <a:cs typeface="Noto Sans KR" pitchFamily="34" charset="-120"/>
              </a:rPr>
              <a:t>~2.0</a:t>
            </a:r>
            <a:endParaRPr lang="en-US" sz="1200" dirty="0"/>
          </a:p>
        </p:txBody>
      </p:sp>
      <p:sp>
        <p:nvSpPr>
          <p:cNvPr id="65" name="Shape 59"/>
          <p:cNvSpPr/>
          <p:nvPr/>
        </p:nvSpPr>
        <p:spPr>
          <a:xfrm>
            <a:off x="5080406" y="4750372"/>
            <a:ext cx="1352398" cy="9144"/>
          </a:xfrm>
          <a:prstGeom prst="rect">
            <a:avLst/>
          </a:prstGeom>
          <a:solidFill>
            <a:srgbClr val="E5E7EB"/>
          </a:solidFill>
          <a:ln/>
        </p:spPr>
      </p:sp>
      <p:sp>
        <p:nvSpPr>
          <p:cNvPr id="66" name="Text 60"/>
          <p:cNvSpPr txBox="1"/>
          <p:nvPr/>
        </p:nvSpPr>
        <p:spPr>
          <a:xfrm>
            <a:off x="5512003" y="4269397"/>
            <a:ext cx="609905" cy="228600"/>
          </a:xfrm>
          <a:prstGeom prst="rect">
            <a:avLst/>
          </a:prstGeom>
          <a:noFill/>
          <a:ln/>
        </p:spPr>
        <p:txBody>
          <a:bodyPr wrap="square" lIns="0" tIns="0" rIns="0" bIns="0" rtlCol="0" anchor="ctr"/>
          <a:lstStyle/>
          <a:p>
            <a:pPr marL="0" indent="0" algn="ctr">
              <a:buNone/>
            </a:pPr>
            <a:r>
              <a:rPr lang="en-US" sz="1200" dirty="0">
                <a:solidFill>
                  <a:srgbClr val="4B5563"/>
                </a:solidFill>
                <a:latin typeface="Noto Sans KR" pitchFamily="34" charset="0"/>
                <a:ea typeface="Noto Sans KR" pitchFamily="34" charset="-122"/>
                <a:cs typeface="Noto Sans KR" pitchFamily="34" charset="-120"/>
              </a:rPr>
              <a:t>~-8.0%</a:t>
            </a:r>
            <a:endParaRPr lang="en-US" sz="1200" dirty="0"/>
          </a:p>
        </p:txBody>
      </p:sp>
      <p:sp>
        <p:nvSpPr>
          <p:cNvPr id="67" name="Shape 61"/>
          <p:cNvSpPr/>
          <p:nvPr/>
        </p:nvSpPr>
        <p:spPr>
          <a:xfrm>
            <a:off x="571500" y="4948733"/>
            <a:ext cx="5876849" cy="1600200"/>
          </a:xfrm>
          <a:prstGeom prst="roundRect">
            <a:avLst>
              <a:gd name="adj" fmla="val 2721"/>
            </a:avLst>
          </a:prstGeom>
          <a:solidFill>
            <a:srgbClr val="F8FAFC"/>
          </a:solidFill>
          <a:ln/>
        </p:spPr>
      </p:sp>
      <p:sp>
        <p:nvSpPr>
          <p:cNvPr id="68" name="Shape 62"/>
          <p:cNvSpPr/>
          <p:nvPr/>
        </p:nvSpPr>
        <p:spPr>
          <a:xfrm>
            <a:off x="571500" y="4948733"/>
            <a:ext cx="47549" cy="1600200"/>
          </a:xfrm>
          <a:prstGeom prst="rect">
            <a:avLst/>
          </a:prstGeom>
          <a:solidFill>
            <a:srgbClr val="2563EB"/>
          </a:solidFill>
          <a:ln/>
        </p:spPr>
      </p:sp>
      <p:pic>
        <p:nvPicPr>
          <p:cNvPr id="69" name="Image 4" descr="preencoded.png"/>
          <p:cNvPicPr>
            <a:picLocks noChangeAspect="1"/>
          </p:cNvPicPr>
          <p:nvPr/>
        </p:nvPicPr>
        <p:blipFill>
          <a:blip r:embed="rId7"/>
          <a:srcRect t="-100" b="-100"/>
          <a:stretch/>
        </p:blipFill>
        <p:spPr>
          <a:xfrm>
            <a:off x="809244" y="5187391"/>
            <a:ext cx="114300" cy="152705"/>
          </a:xfrm>
          <a:prstGeom prst="rect">
            <a:avLst/>
          </a:prstGeom>
        </p:spPr>
      </p:pic>
      <p:sp>
        <p:nvSpPr>
          <p:cNvPr id="70" name="Text 63"/>
          <p:cNvSpPr txBox="1"/>
          <p:nvPr/>
        </p:nvSpPr>
        <p:spPr>
          <a:xfrm>
            <a:off x="1000354" y="5139843"/>
            <a:ext cx="724205" cy="228600"/>
          </a:xfrm>
          <a:prstGeom prst="rect">
            <a:avLst/>
          </a:prstGeom>
          <a:noFill/>
          <a:ln/>
        </p:spPr>
        <p:txBody>
          <a:bodyPr wrap="square" lIns="0" tIns="0" rIns="0" bIns="0" rtlCol="0" anchor="ctr"/>
          <a:lstStyle/>
          <a:p>
            <a:pPr marL="0" indent="0" algn="l">
              <a:buNone/>
            </a:pPr>
            <a:r>
              <a:rPr lang="en-US" sz="1200" b="1" dirty="0">
                <a:solidFill>
                  <a:srgbClr val="1E3A8A"/>
                </a:solidFill>
                <a:latin typeface="Noto Sans KR" pitchFamily="34" charset="0"/>
                <a:ea typeface="Noto Sans KR" pitchFamily="34" charset="-122"/>
                <a:cs typeface="Noto Sans KR" pitchFamily="34" charset="-120"/>
              </a:rPr>
              <a:t>결과 해석</a:t>
            </a:r>
            <a:endParaRPr lang="en-US" sz="1200" dirty="0"/>
          </a:p>
        </p:txBody>
      </p:sp>
      <p:sp>
        <p:nvSpPr>
          <p:cNvPr id="71" name="Text 64"/>
          <p:cNvSpPr txBox="1"/>
          <p:nvPr/>
        </p:nvSpPr>
        <p:spPr>
          <a:xfrm>
            <a:off x="809244" y="5454396"/>
            <a:ext cx="5536692" cy="886054"/>
          </a:xfrm>
          <a:prstGeom prst="rect">
            <a:avLst/>
          </a:prstGeom>
          <a:noFill/>
          <a:ln/>
        </p:spPr>
        <p:txBody>
          <a:bodyPr wrap="square" lIns="0" tIns="0" rIns="0" bIns="0" rtlCol="0" anchor="ctr"/>
          <a:lstStyle/>
          <a:p>
            <a:pPr marL="0" indent="0" algn="l">
              <a:buNone/>
            </a:pPr>
            <a:r>
              <a:rPr lang="en-US" sz="1100" b="1" dirty="0" err="1">
                <a:solidFill>
                  <a:srgbClr val="4B5563"/>
                </a:solidFill>
                <a:latin typeface="Noto Sans KR" pitchFamily="34" charset="0"/>
                <a:ea typeface="Noto Sans KR" pitchFamily="34" charset="-122"/>
                <a:cs typeface="Noto Sans KR" pitchFamily="34" charset="-120"/>
              </a:rPr>
              <a:t>수익성</a:t>
            </a:r>
            <a:r>
              <a:rPr lang="en-US" sz="1100" b="1" dirty="0">
                <a:solidFill>
                  <a:srgbClr val="4B5563"/>
                </a:solidFill>
                <a:latin typeface="Noto Sans KR" pitchFamily="34" charset="0"/>
                <a:ea typeface="Noto Sans KR" pitchFamily="34" charset="-122"/>
                <a:cs typeface="Noto Sans KR" pitchFamily="34" charset="-120"/>
              </a:rPr>
              <a:t> </a:t>
            </a:r>
            <a:r>
              <a:rPr lang="en-US" sz="1100" b="1" dirty="0" err="1">
                <a:solidFill>
                  <a:srgbClr val="4B5563"/>
                </a:solidFill>
                <a:latin typeface="Noto Sans KR" pitchFamily="34" charset="0"/>
                <a:ea typeface="Noto Sans KR" pitchFamily="34" charset="-122"/>
                <a:cs typeface="Noto Sans KR" pitchFamily="34" charset="-120"/>
              </a:rPr>
              <a:t>우위</a:t>
            </a:r>
            <a:br>
              <a:rPr lang="en-US" sz="1100" dirty="0">
                <a:solidFill>
                  <a:srgbClr val="4B5563"/>
                </a:solidFill>
                <a:latin typeface="Noto Sans KR" pitchFamily="34" charset="0"/>
                <a:ea typeface="Noto Sans KR" pitchFamily="34" charset="-122"/>
                <a:cs typeface="Noto Sans KR" pitchFamily="34" charset="-120"/>
              </a:rPr>
            </a:br>
            <a:r>
              <a:rPr lang="en-US" sz="1100" dirty="0">
                <a:solidFill>
                  <a:srgbClr val="4B5563"/>
                </a:solidFill>
                <a:latin typeface="Noto Sans KR" pitchFamily="34" charset="0"/>
                <a:ea typeface="Noto Sans KR" pitchFamily="34" charset="-122"/>
                <a:cs typeface="Noto Sans KR" pitchFamily="34" charset="-120"/>
              </a:rPr>
              <a:t>: RL Agent는 Equal Weight 대비 약 4배 높은 총 </a:t>
            </a:r>
            <a:r>
              <a:rPr lang="en-US" sz="1100" dirty="0" err="1">
                <a:solidFill>
                  <a:srgbClr val="4B5563"/>
                </a:solidFill>
                <a:latin typeface="Noto Sans KR" pitchFamily="34" charset="0"/>
                <a:ea typeface="Noto Sans KR" pitchFamily="34" charset="-122"/>
                <a:cs typeface="Noto Sans KR" pitchFamily="34" charset="-120"/>
              </a:rPr>
              <a:t>수익률을</a:t>
            </a:r>
            <a:r>
              <a:rPr lang="en-US" sz="1100" dirty="0">
                <a:solidFill>
                  <a:srgbClr val="4B5563"/>
                </a:solidFill>
                <a:latin typeface="Noto Sans KR" pitchFamily="34" charset="0"/>
                <a:ea typeface="Noto Sans KR" pitchFamily="34" charset="-122"/>
                <a:cs typeface="Noto Sans KR" pitchFamily="34" charset="-120"/>
              </a:rPr>
              <a:t> </a:t>
            </a:r>
            <a:r>
              <a:rPr lang="en-US" sz="1100" dirty="0" err="1">
                <a:solidFill>
                  <a:srgbClr val="4B5563"/>
                </a:solidFill>
                <a:latin typeface="Noto Sans KR" pitchFamily="34" charset="0"/>
                <a:ea typeface="Noto Sans KR" pitchFamily="34" charset="-122"/>
                <a:cs typeface="Noto Sans KR" pitchFamily="34" charset="-120"/>
              </a:rPr>
              <a:t>기록</a:t>
            </a:r>
            <a:endParaRPr lang="en-US" sz="1100" dirty="0">
              <a:solidFill>
                <a:srgbClr val="4B5563"/>
              </a:solidFill>
              <a:latin typeface="Noto Sans KR" pitchFamily="34" charset="0"/>
              <a:ea typeface="Noto Sans KR" pitchFamily="34" charset="-122"/>
              <a:cs typeface="Noto Sans KR" pitchFamily="34" charset="-120"/>
            </a:endParaRPr>
          </a:p>
          <a:p>
            <a:pPr marL="0" indent="0" algn="l">
              <a:buNone/>
            </a:pPr>
            <a:endParaRPr lang="en-US" sz="1100" dirty="0">
              <a:solidFill>
                <a:srgbClr val="4B5563"/>
              </a:solidFill>
              <a:latin typeface="Noto Sans KR" pitchFamily="34" charset="0"/>
              <a:ea typeface="Noto Sans KR" pitchFamily="34" charset="-122"/>
              <a:cs typeface="Noto Sans KR" pitchFamily="34" charset="-120"/>
            </a:endParaRPr>
          </a:p>
          <a:p>
            <a:pPr marL="0" indent="0" algn="l">
              <a:buNone/>
            </a:pPr>
            <a:r>
              <a:rPr lang="en-US" sz="1100" b="1" dirty="0" err="1">
                <a:solidFill>
                  <a:srgbClr val="4B5563"/>
                </a:solidFill>
                <a:latin typeface="Noto Sans KR" pitchFamily="34" charset="0"/>
                <a:ea typeface="Noto Sans KR" pitchFamily="34" charset="-122"/>
                <a:cs typeface="Noto Sans KR" pitchFamily="34" charset="-120"/>
              </a:rPr>
              <a:t>리스크</a:t>
            </a:r>
            <a:r>
              <a:rPr lang="en-US" sz="1100" b="1" dirty="0">
                <a:solidFill>
                  <a:srgbClr val="4B5563"/>
                </a:solidFill>
                <a:latin typeface="Noto Sans KR" pitchFamily="34" charset="0"/>
                <a:ea typeface="Noto Sans KR" pitchFamily="34" charset="-122"/>
                <a:cs typeface="Noto Sans KR" pitchFamily="34" charset="-120"/>
              </a:rPr>
              <a:t> </a:t>
            </a:r>
            <a:r>
              <a:rPr lang="en-US" sz="1100" b="1" dirty="0" err="1">
                <a:solidFill>
                  <a:srgbClr val="4B5563"/>
                </a:solidFill>
                <a:latin typeface="Noto Sans KR" pitchFamily="34" charset="0"/>
                <a:ea typeface="Noto Sans KR" pitchFamily="34" charset="-122"/>
                <a:cs typeface="Noto Sans KR" pitchFamily="34" charset="-120"/>
              </a:rPr>
              <a:t>트레이드오프</a:t>
            </a:r>
            <a:r>
              <a:rPr lang="en-US" sz="1100" b="1" dirty="0">
                <a:solidFill>
                  <a:srgbClr val="4B5563"/>
                </a:solidFill>
                <a:latin typeface="Noto Sans KR" pitchFamily="34" charset="0"/>
                <a:ea typeface="Noto Sans KR" pitchFamily="34" charset="-122"/>
                <a:cs typeface="Noto Sans KR" pitchFamily="34" charset="-120"/>
              </a:rPr>
              <a:t> </a:t>
            </a:r>
            <a:r>
              <a:rPr lang="en-US" sz="1100" b="1" dirty="0" err="1">
                <a:solidFill>
                  <a:srgbClr val="4B5563"/>
                </a:solidFill>
                <a:latin typeface="Noto Sans KR" pitchFamily="34" charset="0"/>
                <a:ea typeface="Noto Sans KR" pitchFamily="34" charset="-122"/>
                <a:cs typeface="Noto Sans KR" pitchFamily="34" charset="-120"/>
              </a:rPr>
              <a:t>존재</a:t>
            </a:r>
            <a:endParaRPr lang="en-US" sz="1100" b="1" dirty="0">
              <a:solidFill>
                <a:srgbClr val="4B5563"/>
              </a:solidFill>
              <a:latin typeface="Noto Sans KR" pitchFamily="34" charset="0"/>
              <a:ea typeface="Noto Sans KR" pitchFamily="34" charset="-122"/>
              <a:cs typeface="Noto Sans KR" pitchFamily="34" charset="-120"/>
            </a:endParaRPr>
          </a:p>
          <a:p>
            <a:pPr marL="0" indent="0" algn="l">
              <a:buNone/>
            </a:pPr>
            <a:r>
              <a:rPr lang="en-US" sz="1100" b="1" dirty="0">
                <a:solidFill>
                  <a:srgbClr val="4B5563"/>
                </a:solidFill>
                <a:latin typeface="Noto Sans KR" pitchFamily="34" charset="0"/>
                <a:ea typeface="Noto Sans KR" pitchFamily="34" charset="-122"/>
                <a:cs typeface="Noto Sans KR" pitchFamily="34" charset="-120"/>
              </a:rPr>
              <a:t>: </a:t>
            </a:r>
            <a:r>
              <a:rPr lang="en-US" sz="1100" dirty="0">
                <a:solidFill>
                  <a:srgbClr val="4B5563"/>
                </a:solidFill>
                <a:latin typeface="Noto Sans KR" pitchFamily="34" charset="0"/>
                <a:ea typeface="Noto Sans KR" pitchFamily="34" charset="-122"/>
                <a:cs typeface="Noto Sans KR" pitchFamily="34" charset="-120"/>
              </a:rPr>
              <a:t>공격적인 투자 성향으로 인해 Sharpe Ratio(1.17)는 Baseline(2.46)보다 낮았으며, </a:t>
            </a:r>
            <a:br>
              <a:rPr lang="en-US" sz="1100" dirty="0">
                <a:solidFill>
                  <a:srgbClr val="4B5563"/>
                </a:solidFill>
                <a:latin typeface="Noto Sans KR" pitchFamily="34" charset="0"/>
                <a:ea typeface="Noto Sans KR" pitchFamily="34" charset="-122"/>
                <a:cs typeface="Noto Sans KR" pitchFamily="34" charset="-120"/>
              </a:rPr>
            </a:br>
            <a:r>
              <a:rPr lang="en-US" sz="1100" dirty="0">
                <a:solidFill>
                  <a:srgbClr val="4B5563"/>
                </a:solidFill>
                <a:latin typeface="Noto Sans KR" pitchFamily="34" charset="0"/>
                <a:ea typeface="Noto Sans KR" pitchFamily="34" charset="-122"/>
                <a:cs typeface="Noto Sans KR" pitchFamily="34" charset="-120"/>
              </a:rPr>
              <a:t>MDD(-16.56%) 또한 목표치(-15%)를 소폭 초과하여 안정성 </a:t>
            </a:r>
            <a:r>
              <a:rPr lang="en-US" sz="1100" dirty="0" err="1">
                <a:solidFill>
                  <a:srgbClr val="4B5563"/>
                </a:solidFill>
                <a:latin typeface="Noto Sans KR" pitchFamily="34" charset="0"/>
                <a:ea typeface="Noto Sans KR" pitchFamily="34" charset="-122"/>
                <a:cs typeface="Noto Sans KR" pitchFamily="34" charset="-120"/>
              </a:rPr>
              <a:t>보완이</a:t>
            </a:r>
            <a:r>
              <a:rPr lang="en-US" sz="1100" dirty="0">
                <a:solidFill>
                  <a:srgbClr val="4B5563"/>
                </a:solidFill>
                <a:latin typeface="Noto Sans KR" pitchFamily="34" charset="0"/>
                <a:ea typeface="Noto Sans KR" pitchFamily="34" charset="-122"/>
                <a:cs typeface="Noto Sans KR" pitchFamily="34" charset="-120"/>
              </a:rPr>
              <a:t> </a:t>
            </a:r>
            <a:r>
              <a:rPr lang="en-US" sz="1100" dirty="0" err="1">
                <a:solidFill>
                  <a:srgbClr val="4B5563"/>
                </a:solidFill>
                <a:latin typeface="Noto Sans KR" pitchFamily="34" charset="0"/>
                <a:ea typeface="Noto Sans KR" pitchFamily="34" charset="-122"/>
                <a:cs typeface="Noto Sans KR" pitchFamily="34" charset="-120"/>
              </a:rPr>
              <a:t>필요</a:t>
            </a:r>
            <a:endParaRPr lang="en-US" sz="1100" dirty="0"/>
          </a:p>
        </p:txBody>
      </p:sp>
      <p:sp>
        <p:nvSpPr>
          <p:cNvPr id="72" name="Shape 65"/>
          <p:cNvSpPr/>
          <p:nvPr/>
        </p:nvSpPr>
        <p:spPr>
          <a:xfrm>
            <a:off x="6728155" y="2294166"/>
            <a:ext cx="4895698" cy="4254767"/>
          </a:xfrm>
          <a:prstGeom prst="roundRect">
            <a:avLst>
              <a:gd name="adj" fmla="val 436"/>
            </a:avLst>
          </a:prstGeom>
          <a:solidFill>
            <a:srgbClr val="FFFFFF"/>
          </a:solidFill>
          <a:ln w="12700">
            <a:solidFill>
              <a:srgbClr val="E5E7EB"/>
            </a:solidFill>
            <a:prstDash val="solid"/>
          </a:ln>
        </p:spPr>
      </p:sp>
      <p:pic>
        <p:nvPicPr>
          <p:cNvPr id="73" name="Image 5" descr="preencoded.png"/>
          <p:cNvPicPr>
            <a:picLocks noChangeAspect="1"/>
          </p:cNvPicPr>
          <p:nvPr/>
        </p:nvPicPr>
        <p:blipFill>
          <a:blip r:embed="rId8"/>
          <a:srcRect/>
          <a:stretch/>
        </p:blipFill>
        <p:spPr>
          <a:xfrm>
            <a:off x="6928409" y="2537397"/>
            <a:ext cx="171907" cy="171907"/>
          </a:xfrm>
          <a:prstGeom prst="rect">
            <a:avLst/>
          </a:prstGeom>
        </p:spPr>
      </p:pic>
      <p:sp>
        <p:nvSpPr>
          <p:cNvPr id="74" name="Text 66"/>
          <p:cNvSpPr txBox="1"/>
          <p:nvPr/>
        </p:nvSpPr>
        <p:spPr>
          <a:xfrm>
            <a:off x="7175297" y="2494420"/>
            <a:ext cx="1853489" cy="247802"/>
          </a:xfrm>
          <a:prstGeom prst="rect">
            <a:avLst/>
          </a:prstGeom>
          <a:noFill/>
          <a:ln/>
        </p:spPr>
        <p:txBody>
          <a:bodyPr wrap="square" lIns="0" tIns="0" rIns="0" bIns="0" rtlCol="0" anchor="ctr"/>
          <a:lstStyle/>
          <a:p>
            <a:pPr marL="0" indent="0" algn="l">
              <a:buNone/>
            </a:pPr>
            <a:r>
              <a:rPr lang="en-US" sz="1300" b="1" dirty="0">
                <a:solidFill>
                  <a:srgbClr val="1F2937"/>
                </a:solidFill>
                <a:latin typeface="Noto Sans KR" pitchFamily="34" charset="0"/>
                <a:ea typeface="Noto Sans KR" pitchFamily="34" charset="-122"/>
                <a:cs typeface="Noto Sans KR" pitchFamily="34" charset="-120"/>
              </a:rPr>
              <a:t>수익률 및 샤프지수 비교</a:t>
            </a:r>
            <a:endParaRPr lang="en-US" sz="1300" dirty="0"/>
          </a:p>
        </p:txBody>
      </p:sp>
      <p:pic>
        <p:nvPicPr>
          <p:cNvPr id="75" name="Image 6" descr="preencoded.png"/>
          <p:cNvPicPr>
            <a:picLocks noChangeAspect="1"/>
          </p:cNvPicPr>
          <p:nvPr/>
        </p:nvPicPr>
        <p:blipFill>
          <a:blip r:embed="rId9"/>
          <a:srcRect l="-105" r="-105"/>
          <a:stretch/>
        </p:blipFill>
        <p:spPr>
          <a:xfrm>
            <a:off x="6928409" y="2894013"/>
            <a:ext cx="4496105" cy="3446437"/>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6"/>
          <p:cNvSpPr txBox="1"/>
          <p:nvPr/>
        </p:nvSpPr>
        <p:spPr>
          <a:xfrm>
            <a:off x="571500" y="286207"/>
            <a:ext cx="5372100" cy="457200"/>
          </a:xfrm>
          <a:prstGeom prst="rect">
            <a:avLst/>
          </a:prstGeom>
          <a:noFill/>
          <a:ln/>
        </p:spPr>
        <p:txBody>
          <a:bodyPr wrap="square" lIns="0" tIns="0" rIns="0" bIns="0" rtlCol="0" anchor="ctr"/>
          <a:lstStyle/>
          <a:p>
            <a:pPr marL="0" indent="0" algn="l">
              <a:buNone/>
            </a:pPr>
            <a:r>
              <a:rPr lang="en-US" altLang="ko-KR" sz="2400" b="1" dirty="0" err="1">
                <a:solidFill>
                  <a:srgbClr val="0F172A"/>
                </a:solidFill>
                <a:latin typeface="Noto Sans KR" pitchFamily="34" charset="0"/>
                <a:ea typeface="Noto Sans KR" pitchFamily="34" charset="-122"/>
                <a:cs typeface="Noto Sans KR" pitchFamily="34" charset="-120"/>
              </a:rPr>
              <a:t>포트폴리오</a:t>
            </a:r>
            <a:r>
              <a:rPr lang="en-US" altLang="ko-KR" sz="2400" b="1" dirty="0">
                <a:solidFill>
                  <a:srgbClr val="0F172A"/>
                </a:solidFill>
                <a:latin typeface="Noto Sans KR" pitchFamily="34" charset="0"/>
                <a:ea typeface="Noto Sans KR" pitchFamily="34" charset="-122"/>
                <a:cs typeface="Noto Sans KR" pitchFamily="34" charset="-120"/>
              </a:rPr>
              <a:t> </a:t>
            </a:r>
            <a:r>
              <a:rPr lang="en-US" altLang="ko-KR" sz="2400" b="1" dirty="0" err="1">
                <a:solidFill>
                  <a:srgbClr val="0F172A"/>
                </a:solidFill>
                <a:latin typeface="Noto Sans KR" pitchFamily="34" charset="0"/>
                <a:ea typeface="Noto Sans KR" pitchFamily="34" charset="-122"/>
                <a:cs typeface="Noto Sans KR" pitchFamily="34" charset="-120"/>
              </a:rPr>
              <a:t>가치</a:t>
            </a:r>
            <a:r>
              <a:rPr lang="en-US" altLang="ko-KR" sz="2400" b="1" dirty="0">
                <a:solidFill>
                  <a:srgbClr val="0F172A"/>
                </a:solidFill>
                <a:latin typeface="Noto Sans KR" pitchFamily="34" charset="0"/>
                <a:ea typeface="Noto Sans KR" pitchFamily="34" charset="-122"/>
                <a:cs typeface="Noto Sans KR" pitchFamily="34" charset="-120"/>
              </a:rPr>
              <a:t> </a:t>
            </a:r>
            <a:r>
              <a:rPr lang="en-US" altLang="ko-KR" sz="2400" b="1" dirty="0" err="1">
                <a:solidFill>
                  <a:srgbClr val="0F172A"/>
                </a:solidFill>
                <a:latin typeface="Noto Sans KR" pitchFamily="34" charset="0"/>
                <a:ea typeface="Noto Sans KR" pitchFamily="34" charset="-122"/>
                <a:cs typeface="Noto Sans KR" pitchFamily="34" charset="-120"/>
              </a:rPr>
              <a:t>및</a:t>
            </a:r>
            <a:r>
              <a:rPr lang="en-US" altLang="ko-KR" sz="2400" b="1" dirty="0">
                <a:solidFill>
                  <a:srgbClr val="0F172A"/>
                </a:solidFill>
                <a:latin typeface="Noto Sans KR" pitchFamily="34" charset="0"/>
                <a:ea typeface="Noto Sans KR" pitchFamily="34" charset="-122"/>
                <a:cs typeface="Noto Sans KR" pitchFamily="34" charset="-120"/>
              </a:rPr>
              <a:t> </a:t>
            </a:r>
            <a:r>
              <a:rPr lang="en-US" altLang="ko-KR" sz="2400" b="1" dirty="0" err="1">
                <a:solidFill>
                  <a:srgbClr val="0F172A"/>
                </a:solidFill>
                <a:latin typeface="Noto Sans KR" pitchFamily="34" charset="0"/>
                <a:ea typeface="Noto Sans KR" pitchFamily="34" charset="-122"/>
                <a:cs typeface="Noto Sans KR" pitchFamily="34" charset="-120"/>
              </a:rPr>
              <a:t>수익률</a:t>
            </a:r>
            <a:r>
              <a:rPr lang="en-US" altLang="ko-KR" sz="2400" b="1" dirty="0">
                <a:solidFill>
                  <a:srgbClr val="0F172A"/>
                </a:solidFill>
                <a:latin typeface="Noto Sans KR" pitchFamily="34" charset="0"/>
                <a:ea typeface="Noto Sans KR" pitchFamily="34" charset="-122"/>
                <a:cs typeface="Noto Sans KR" pitchFamily="34" charset="-120"/>
              </a:rPr>
              <a:t> </a:t>
            </a:r>
            <a:r>
              <a:rPr lang="en-US" altLang="ko-KR" sz="2400" b="1" dirty="0" err="1">
                <a:solidFill>
                  <a:srgbClr val="0F172A"/>
                </a:solidFill>
                <a:latin typeface="Noto Sans KR" pitchFamily="34" charset="0"/>
                <a:ea typeface="Noto Sans KR" pitchFamily="34" charset="-122"/>
                <a:cs typeface="Noto Sans KR" pitchFamily="34" charset="-120"/>
              </a:rPr>
              <a:t>추이</a:t>
            </a:r>
            <a:endParaRPr lang="en-US" altLang="ko-KR" sz="2400" dirty="0"/>
          </a:p>
        </p:txBody>
      </p:sp>
      <p:sp>
        <p:nvSpPr>
          <p:cNvPr id="18" name="Shape 15"/>
          <p:cNvSpPr/>
          <p:nvPr/>
        </p:nvSpPr>
        <p:spPr>
          <a:xfrm>
            <a:off x="771985" y="4643277"/>
            <a:ext cx="3055270" cy="1352398"/>
          </a:xfrm>
          <a:prstGeom prst="roundRect">
            <a:avLst>
              <a:gd name="adj" fmla="val 5714"/>
            </a:avLst>
          </a:prstGeom>
          <a:solidFill>
            <a:srgbClr val="FFFFFF"/>
          </a:solidFill>
          <a:ln w="12700">
            <a:solidFill>
              <a:srgbClr val="E5E7EB"/>
            </a:solidFill>
            <a:prstDash val="solid"/>
          </a:ln>
          <a:effectLst>
            <a:outerShdw blurRad="63500" dist="38100" dir="5400000" algn="bl" rotWithShape="0">
              <a:srgbClr val="000000">
                <a:alpha val="5000"/>
              </a:srgbClr>
            </a:outerShdw>
          </a:effectLst>
        </p:spPr>
      </p:sp>
      <p:pic>
        <p:nvPicPr>
          <p:cNvPr id="19" name="Image 1" descr="preencoded.png"/>
          <p:cNvPicPr>
            <a:picLocks noChangeAspect="1"/>
          </p:cNvPicPr>
          <p:nvPr/>
        </p:nvPicPr>
        <p:blipFill>
          <a:blip r:embed="rId3"/>
          <a:srcRect t="-1100" b="-1100"/>
          <a:stretch/>
        </p:blipFill>
        <p:spPr>
          <a:xfrm>
            <a:off x="1019787" y="4924912"/>
            <a:ext cx="114300" cy="133502"/>
          </a:xfrm>
          <a:prstGeom prst="rect">
            <a:avLst/>
          </a:prstGeom>
        </p:spPr>
      </p:pic>
      <p:sp>
        <p:nvSpPr>
          <p:cNvPr id="20" name="Text 16"/>
          <p:cNvSpPr txBox="1"/>
          <p:nvPr/>
        </p:nvSpPr>
        <p:spPr>
          <a:xfrm>
            <a:off x="1210897" y="4891080"/>
            <a:ext cx="1138428" cy="200254"/>
          </a:xfrm>
          <a:prstGeom prst="rect">
            <a:avLst/>
          </a:prstGeom>
          <a:noFill/>
          <a:ln/>
        </p:spPr>
        <p:txBody>
          <a:bodyPr wrap="square" lIns="0" tIns="0" rIns="0" bIns="0" rtlCol="0" anchor="ctr"/>
          <a:lstStyle/>
          <a:p>
            <a:pPr marL="0" indent="0" algn="l">
              <a:buNone/>
            </a:pPr>
            <a:r>
              <a:rPr lang="en-US" sz="1000" dirty="0">
                <a:solidFill>
                  <a:srgbClr val="6B7280"/>
                </a:solidFill>
                <a:latin typeface="Noto Sans KR" pitchFamily="34" charset="0"/>
                <a:ea typeface="Noto Sans KR" pitchFamily="34" charset="-122"/>
                <a:cs typeface="Noto Sans KR" pitchFamily="34" charset="-120"/>
              </a:rPr>
              <a:t>초기 자본 (Initial)</a:t>
            </a:r>
            <a:endParaRPr lang="en-US" sz="1000" dirty="0"/>
          </a:p>
        </p:txBody>
      </p:sp>
      <p:sp>
        <p:nvSpPr>
          <p:cNvPr id="21" name="Text 17"/>
          <p:cNvSpPr txBox="1"/>
          <p:nvPr/>
        </p:nvSpPr>
        <p:spPr>
          <a:xfrm>
            <a:off x="1019787" y="5177287"/>
            <a:ext cx="1595628" cy="286207"/>
          </a:xfrm>
          <a:prstGeom prst="rect">
            <a:avLst/>
          </a:prstGeom>
          <a:noFill/>
          <a:ln/>
        </p:spPr>
        <p:txBody>
          <a:bodyPr wrap="square" lIns="0" tIns="0" rIns="0" bIns="0" rtlCol="0" anchor="ctr"/>
          <a:lstStyle/>
          <a:p>
            <a:pPr marL="0" indent="0" algn="l">
              <a:buNone/>
            </a:pPr>
            <a:r>
              <a:rPr lang="en-US" sz="1900" b="1" dirty="0">
                <a:solidFill>
                  <a:srgbClr val="1F2937"/>
                </a:solidFill>
                <a:latin typeface="Roboto" pitchFamily="34" charset="0"/>
                <a:ea typeface="Roboto" pitchFamily="34" charset="-122"/>
                <a:cs typeface="Roboto" pitchFamily="34" charset="-120"/>
              </a:rPr>
              <a:t>100,000,000</a:t>
            </a:r>
            <a:endParaRPr lang="en-US" sz="1900" dirty="0"/>
          </a:p>
        </p:txBody>
      </p:sp>
      <p:sp>
        <p:nvSpPr>
          <p:cNvPr id="22" name="Text 18"/>
          <p:cNvSpPr txBox="1"/>
          <p:nvPr/>
        </p:nvSpPr>
        <p:spPr>
          <a:xfrm>
            <a:off x="1019787" y="5557677"/>
            <a:ext cx="759866" cy="181051"/>
          </a:xfrm>
          <a:prstGeom prst="rect">
            <a:avLst/>
          </a:prstGeom>
          <a:noFill/>
          <a:ln/>
        </p:spPr>
        <p:txBody>
          <a:bodyPr wrap="square" lIns="0" tIns="0" rIns="0" bIns="0" rtlCol="0" anchor="ctr"/>
          <a:lstStyle/>
          <a:p>
            <a:pPr marL="0" indent="0" algn="l">
              <a:buNone/>
            </a:pPr>
            <a:r>
              <a:rPr lang="en-US" sz="900" dirty="0">
                <a:solidFill>
                  <a:srgbClr val="6B7280"/>
                </a:solidFill>
                <a:latin typeface="Noto Sans KR" pitchFamily="34" charset="0"/>
                <a:ea typeface="Noto Sans KR" pitchFamily="34" charset="-122"/>
                <a:cs typeface="Noto Sans KR" pitchFamily="34" charset="-120"/>
              </a:rPr>
              <a:t>KRW (Start)</a:t>
            </a:r>
            <a:endParaRPr lang="en-US" sz="900" dirty="0"/>
          </a:p>
        </p:txBody>
      </p:sp>
      <p:sp>
        <p:nvSpPr>
          <p:cNvPr id="23" name="Shape 19"/>
          <p:cNvSpPr/>
          <p:nvPr/>
        </p:nvSpPr>
        <p:spPr>
          <a:xfrm>
            <a:off x="4075057" y="4643277"/>
            <a:ext cx="3055270" cy="1352398"/>
          </a:xfrm>
          <a:prstGeom prst="roundRect">
            <a:avLst>
              <a:gd name="adj" fmla="val 5714"/>
            </a:avLst>
          </a:prstGeom>
          <a:solidFill>
            <a:srgbClr val="EFF6FF"/>
          </a:solidFill>
          <a:ln w="12700">
            <a:solidFill>
              <a:srgbClr val="3B82F6"/>
            </a:solidFill>
            <a:prstDash val="solid"/>
          </a:ln>
          <a:effectLst>
            <a:outerShdw blurRad="63500" dist="38100" dir="5400000" algn="bl" rotWithShape="0">
              <a:srgbClr val="000000">
                <a:alpha val="5000"/>
              </a:srgbClr>
            </a:outerShdw>
          </a:effectLst>
        </p:spPr>
      </p:sp>
      <p:pic>
        <p:nvPicPr>
          <p:cNvPr id="24" name="Image 2" descr="preencoded.png"/>
          <p:cNvPicPr>
            <a:picLocks noChangeAspect="1"/>
          </p:cNvPicPr>
          <p:nvPr/>
        </p:nvPicPr>
        <p:blipFill>
          <a:blip r:embed="rId4"/>
          <a:srcRect/>
          <a:stretch/>
        </p:blipFill>
        <p:spPr>
          <a:xfrm>
            <a:off x="4322859" y="4923998"/>
            <a:ext cx="133502" cy="133502"/>
          </a:xfrm>
          <a:prstGeom prst="rect">
            <a:avLst/>
          </a:prstGeom>
        </p:spPr>
      </p:pic>
      <p:sp>
        <p:nvSpPr>
          <p:cNvPr id="25" name="Text 20"/>
          <p:cNvSpPr txBox="1"/>
          <p:nvPr/>
        </p:nvSpPr>
        <p:spPr>
          <a:xfrm>
            <a:off x="4532257" y="4890165"/>
            <a:ext cx="1081735" cy="200254"/>
          </a:xfrm>
          <a:prstGeom prst="rect">
            <a:avLst/>
          </a:prstGeom>
          <a:noFill/>
          <a:ln/>
        </p:spPr>
        <p:txBody>
          <a:bodyPr wrap="square" lIns="0" tIns="0" rIns="0" bIns="0" rtlCol="0" anchor="ctr"/>
          <a:lstStyle/>
          <a:p>
            <a:pPr marL="0" indent="0" algn="l">
              <a:buNone/>
            </a:pPr>
            <a:r>
              <a:rPr lang="en-US" sz="1000" dirty="0">
                <a:solidFill>
                  <a:srgbClr val="2563EB"/>
                </a:solidFill>
                <a:latin typeface="Noto Sans KR" pitchFamily="34" charset="0"/>
                <a:ea typeface="Noto Sans KR" pitchFamily="34" charset="-122"/>
                <a:cs typeface="Noto Sans KR" pitchFamily="34" charset="-120"/>
              </a:rPr>
              <a:t>최종 자본 (Final)</a:t>
            </a:r>
            <a:endParaRPr lang="en-US" sz="1000" dirty="0"/>
          </a:p>
        </p:txBody>
      </p:sp>
      <p:sp>
        <p:nvSpPr>
          <p:cNvPr id="26" name="Text 21"/>
          <p:cNvSpPr txBox="1"/>
          <p:nvPr/>
        </p:nvSpPr>
        <p:spPr>
          <a:xfrm>
            <a:off x="4322859" y="5176373"/>
            <a:ext cx="1595628" cy="286207"/>
          </a:xfrm>
          <a:prstGeom prst="rect">
            <a:avLst/>
          </a:prstGeom>
          <a:noFill/>
          <a:ln/>
        </p:spPr>
        <p:txBody>
          <a:bodyPr wrap="square" lIns="0" tIns="0" rIns="0" bIns="0" rtlCol="0" anchor="ctr"/>
          <a:lstStyle/>
          <a:p>
            <a:pPr marL="0" indent="0" algn="l">
              <a:buNone/>
            </a:pPr>
            <a:r>
              <a:rPr lang="en-US" sz="1900" b="1" dirty="0">
                <a:solidFill>
                  <a:srgbClr val="2563EB"/>
                </a:solidFill>
                <a:latin typeface="Roboto" pitchFamily="34" charset="0"/>
                <a:ea typeface="Roboto" pitchFamily="34" charset="-122"/>
                <a:cs typeface="Roboto" pitchFamily="34" charset="-120"/>
              </a:rPr>
              <a:t>144,536,098</a:t>
            </a:r>
            <a:endParaRPr lang="en-US" sz="1900" dirty="0"/>
          </a:p>
        </p:txBody>
      </p:sp>
      <p:pic>
        <p:nvPicPr>
          <p:cNvPr id="27" name="Image 3" descr="preencoded.png"/>
          <p:cNvPicPr>
            <a:picLocks noChangeAspect="1"/>
          </p:cNvPicPr>
          <p:nvPr/>
        </p:nvPicPr>
        <p:blipFill>
          <a:blip r:embed="rId5"/>
          <a:srcRect l="-1358" r="-1358"/>
          <a:stretch/>
        </p:blipFill>
        <p:spPr>
          <a:xfrm>
            <a:off x="4322859" y="5587853"/>
            <a:ext cx="95098" cy="123444"/>
          </a:xfrm>
          <a:prstGeom prst="rect">
            <a:avLst/>
          </a:prstGeom>
        </p:spPr>
      </p:pic>
      <p:sp>
        <p:nvSpPr>
          <p:cNvPr id="28" name="Text 22"/>
          <p:cNvSpPr txBox="1"/>
          <p:nvPr/>
        </p:nvSpPr>
        <p:spPr>
          <a:xfrm>
            <a:off x="4503910" y="5557677"/>
            <a:ext cx="588874" cy="191110"/>
          </a:xfrm>
          <a:prstGeom prst="rect">
            <a:avLst/>
          </a:prstGeom>
          <a:noFill/>
          <a:ln/>
        </p:spPr>
        <p:txBody>
          <a:bodyPr wrap="square" lIns="0" tIns="0" rIns="0" bIns="0" rtlCol="0" anchor="ctr"/>
          <a:lstStyle/>
          <a:p>
            <a:pPr marL="0" indent="0" algn="l">
              <a:buNone/>
            </a:pPr>
            <a:r>
              <a:rPr lang="en-US" sz="900" b="1" dirty="0">
                <a:solidFill>
                  <a:srgbClr val="059669"/>
                </a:solidFill>
                <a:latin typeface="Noto Sans KR" pitchFamily="34" charset="0"/>
                <a:ea typeface="Noto Sans KR" pitchFamily="34" charset="-122"/>
                <a:cs typeface="Noto Sans KR" pitchFamily="34" charset="-120"/>
              </a:rPr>
              <a:t>성장 달성</a:t>
            </a:r>
            <a:endParaRPr lang="en-US" sz="900" dirty="0"/>
          </a:p>
        </p:txBody>
      </p:sp>
      <p:sp>
        <p:nvSpPr>
          <p:cNvPr id="29" name="Shape 23"/>
          <p:cNvSpPr/>
          <p:nvPr/>
        </p:nvSpPr>
        <p:spPr>
          <a:xfrm>
            <a:off x="7378128" y="4643277"/>
            <a:ext cx="4340819" cy="2018779"/>
          </a:xfrm>
          <a:prstGeom prst="roundRect">
            <a:avLst>
              <a:gd name="adj" fmla="val 2637"/>
            </a:avLst>
          </a:prstGeom>
          <a:solidFill>
            <a:srgbClr val="F9FAFB"/>
          </a:solidFill>
          <a:ln/>
        </p:spPr>
      </p:sp>
      <p:sp>
        <p:nvSpPr>
          <p:cNvPr id="30" name="Shape 24"/>
          <p:cNvSpPr/>
          <p:nvPr/>
        </p:nvSpPr>
        <p:spPr>
          <a:xfrm>
            <a:off x="7378129" y="4643277"/>
            <a:ext cx="38405" cy="2018779"/>
          </a:xfrm>
          <a:prstGeom prst="rect">
            <a:avLst/>
          </a:prstGeom>
          <a:solidFill>
            <a:srgbClr val="2563EB"/>
          </a:solidFill>
          <a:ln/>
        </p:spPr>
      </p:sp>
      <p:pic>
        <p:nvPicPr>
          <p:cNvPr id="31" name="Image 4" descr="preencoded.png"/>
          <p:cNvPicPr>
            <a:picLocks noChangeAspect="1"/>
          </p:cNvPicPr>
          <p:nvPr/>
        </p:nvPicPr>
        <p:blipFill>
          <a:blip r:embed="rId6"/>
          <a:srcRect/>
          <a:stretch/>
        </p:blipFill>
        <p:spPr>
          <a:xfrm>
            <a:off x="7606729" y="4871877"/>
            <a:ext cx="152705" cy="152705"/>
          </a:xfrm>
          <a:prstGeom prst="rect">
            <a:avLst/>
          </a:prstGeom>
        </p:spPr>
      </p:pic>
      <p:sp>
        <p:nvSpPr>
          <p:cNvPr id="32" name="Text 25"/>
          <p:cNvSpPr txBox="1"/>
          <p:nvPr/>
        </p:nvSpPr>
        <p:spPr>
          <a:xfrm>
            <a:off x="7835329" y="4833472"/>
            <a:ext cx="724205" cy="228600"/>
          </a:xfrm>
          <a:prstGeom prst="rect">
            <a:avLst/>
          </a:prstGeom>
          <a:noFill/>
          <a:ln/>
        </p:spPr>
        <p:txBody>
          <a:bodyPr wrap="square" lIns="0" tIns="0" rIns="0" bIns="0" rtlCol="0" anchor="ctr"/>
          <a:lstStyle/>
          <a:p>
            <a:pPr marL="0" indent="0" algn="l">
              <a:buNone/>
            </a:pPr>
            <a:r>
              <a:rPr lang="en-US" sz="1200" b="1" dirty="0">
                <a:solidFill>
                  <a:srgbClr val="1F2937"/>
                </a:solidFill>
                <a:latin typeface="Noto Sans KR" pitchFamily="34" charset="0"/>
                <a:ea typeface="Noto Sans KR" pitchFamily="34" charset="-122"/>
                <a:cs typeface="Noto Sans KR" pitchFamily="34" charset="-120"/>
              </a:rPr>
              <a:t>성과 분석</a:t>
            </a:r>
            <a:endParaRPr lang="en-US" sz="1200" dirty="0"/>
          </a:p>
        </p:txBody>
      </p:sp>
      <p:sp>
        <p:nvSpPr>
          <p:cNvPr id="33" name="Text 26"/>
          <p:cNvSpPr txBox="1"/>
          <p:nvPr/>
        </p:nvSpPr>
        <p:spPr>
          <a:xfrm>
            <a:off x="7606728" y="5167228"/>
            <a:ext cx="3889370" cy="1267358"/>
          </a:xfrm>
          <a:prstGeom prst="rect">
            <a:avLst/>
          </a:prstGeom>
          <a:noFill/>
          <a:ln/>
        </p:spPr>
        <p:txBody>
          <a:bodyPr wrap="square" lIns="0" tIns="0" rIns="0" bIns="0" rtlCol="0" anchor="ctr"/>
          <a:lstStyle/>
          <a:p>
            <a:pPr marL="171450" indent="-171450" algn="l">
              <a:buFont typeface="Arial" panose="020B0604020202020204" pitchFamily="34" charset="0"/>
              <a:buChar char="•"/>
            </a:pPr>
            <a:r>
              <a:rPr lang="en-US" sz="1100" dirty="0">
                <a:solidFill>
                  <a:srgbClr val="4B5563"/>
                </a:solidFill>
                <a:latin typeface="Noto Sans KR" pitchFamily="34" charset="0"/>
                <a:ea typeface="Noto Sans KR" pitchFamily="34" charset="-122"/>
                <a:cs typeface="Noto Sans KR" pitchFamily="34" charset="-120"/>
              </a:rPr>
              <a:t>초기 자본 1억원에서 시작하여, 약 23개월 </a:t>
            </a:r>
            <a:r>
              <a:rPr lang="en-US" sz="1100" dirty="0" err="1">
                <a:solidFill>
                  <a:srgbClr val="4B5563"/>
                </a:solidFill>
                <a:latin typeface="Noto Sans KR" pitchFamily="34" charset="0"/>
                <a:ea typeface="Noto Sans KR" pitchFamily="34" charset="-122"/>
                <a:cs typeface="Noto Sans KR" pitchFamily="34" charset="-120"/>
              </a:rPr>
              <a:t>간의</a:t>
            </a:r>
            <a:r>
              <a:rPr lang="en-US" sz="1100" dirty="0">
                <a:solidFill>
                  <a:srgbClr val="4B5563"/>
                </a:solidFill>
                <a:latin typeface="Noto Sans KR" pitchFamily="34" charset="0"/>
                <a:ea typeface="Noto Sans KR" pitchFamily="34" charset="-122"/>
                <a:cs typeface="Noto Sans KR" pitchFamily="34" charset="-120"/>
              </a:rPr>
              <a:t> 운용 결과 최종 1.44억원에 </a:t>
            </a:r>
            <a:r>
              <a:rPr lang="en-US" sz="1100" dirty="0" err="1">
                <a:solidFill>
                  <a:srgbClr val="4B5563"/>
                </a:solidFill>
                <a:latin typeface="Noto Sans KR" pitchFamily="34" charset="0"/>
                <a:ea typeface="Noto Sans KR" pitchFamily="34" charset="-122"/>
                <a:cs typeface="Noto Sans KR" pitchFamily="34" charset="-120"/>
              </a:rPr>
              <a:t>도달함</a:t>
            </a:r>
            <a:r>
              <a:rPr lang="en-US" altLang="ko-KR" sz="1100" dirty="0">
                <a:solidFill>
                  <a:srgbClr val="4B5563"/>
                </a:solidFill>
                <a:latin typeface="Noto Sans KR" pitchFamily="34" charset="0"/>
                <a:ea typeface="Noto Sans KR" pitchFamily="34" charset="-122"/>
                <a:cs typeface="Noto Sans KR" pitchFamily="34" charset="-120"/>
              </a:rPr>
              <a:t>.</a:t>
            </a:r>
          </a:p>
          <a:p>
            <a:pPr marL="171450" indent="-171450" algn="l">
              <a:buFont typeface="Arial" panose="020B0604020202020204" pitchFamily="34" charset="0"/>
              <a:buChar char="•"/>
            </a:pPr>
            <a:endParaRPr lang="en-US" sz="1100" dirty="0">
              <a:solidFill>
                <a:srgbClr val="4B5563"/>
              </a:solidFill>
              <a:latin typeface="Noto Sans KR" pitchFamily="34" charset="0"/>
              <a:ea typeface="Noto Sans KR" pitchFamily="34" charset="-122"/>
              <a:cs typeface="Noto Sans KR" pitchFamily="34" charset="-120"/>
            </a:endParaRPr>
          </a:p>
          <a:p>
            <a:pPr marL="171450" indent="-171450" algn="l">
              <a:buFont typeface="Arial" panose="020B0604020202020204" pitchFamily="34" charset="0"/>
              <a:buChar char="•"/>
            </a:pPr>
            <a:r>
              <a:rPr lang="en-US" sz="1100" dirty="0" err="1">
                <a:solidFill>
                  <a:srgbClr val="4B5563"/>
                </a:solidFill>
                <a:latin typeface="Noto Sans KR" pitchFamily="34" charset="0"/>
                <a:ea typeface="Noto Sans KR" pitchFamily="34" charset="-122"/>
                <a:cs typeface="Noto Sans KR" pitchFamily="34" charset="-120"/>
              </a:rPr>
              <a:t>전반적인</a:t>
            </a:r>
            <a:r>
              <a:rPr lang="en-US" sz="1100" dirty="0">
                <a:solidFill>
                  <a:srgbClr val="4B5563"/>
                </a:solidFill>
                <a:latin typeface="Noto Sans KR" pitchFamily="34" charset="0"/>
                <a:ea typeface="Noto Sans KR" pitchFamily="34" charset="-122"/>
                <a:cs typeface="Noto Sans KR" pitchFamily="34" charset="-120"/>
              </a:rPr>
              <a:t> 우상향 </a:t>
            </a:r>
            <a:r>
              <a:rPr lang="en-US" sz="1100" dirty="0" err="1">
                <a:solidFill>
                  <a:srgbClr val="4B5563"/>
                </a:solidFill>
                <a:latin typeface="Noto Sans KR" pitchFamily="34" charset="0"/>
                <a:ea typeface="Noto Sans KR" pitchFamily="34" charset="-122"/>
                <a:cs typeface="Noto Sans KR" pitchFamily="34" charset="-120"/>
              </a:rPr>
              <a:t>추세를</a:t>
            </a:r>
            <a:r>
              <a:rPr lang="en-US" sz="1100" dirty="0">
                <a:solidFill>
                  <a:srgbClr val="4B5563"/>
                </a:solidFill>
                <a:latin typeface="Noto Sans KR" pitchFamily="34" charset="0"/>
                <a:ea typeface="Noto Sans KR" pitchFamily="34" charset="-122"/>
                <a:cs typeface="Noto Sans KR" pitchFamily="34" charset="-120"/>
              </a:rPr>
              <a:t> </a:t>
            </a:r>
            <a:r>
              <a:rPr lang="en-US" sz="1100" dirty="0" err="1">
                <a:solidFill>
                  <a:srgbClr val="4B5563"/>
                </a:solidFill>
                <a:latin typeface="Noto Sans KR" pitchFamily="34" charset="0"/>
                <a:ea typeface="Noto Sans KR" pitchFamily="34" charset="-122"/>
                <a:cs typeface="Noto Sans KR" pitchFamily="34" charset="-120"/>
              </a:rPr>
              <a:t>보임</a:t>
            </a:r>
            <a:endParaRPr lang="en-US" sz="1100" dirty="0">
              <a:solidFill>
                <a:srgbClr val="4B5563"/>
              </a:solidFill>
              <a:latin typeface="Noto Sans KR" pitchFamily="34" charset="0"/>
              <a:ea typeface="Noto Sans KR" pitchFamily="34" charset="-122"/>
              <a:cs typeface="Noto Sans KR" pitchFamily="34" charset="-120"/>
            </a:endParaRPr>
          </a:p>
          <a:p>
            <a:pPr marL="171450" indent="-171450" algn="l">
              <a:buFont typeface="Arial" panose="020B0604020202020204" pitchFamily="34" charset="0"/>
              <a:buChar char="•"/>
            </a:pPr>
            <a:endParaRPr lang="en-US" sz="1100" dirty="0">
              <a:solidFill>
                <a:srgbClr val="4B5563"/>
              </a:solidFill>
              <a:latin typeface="Noto Sans KR" pitchFamily="34" charset="0"/>
              <a:ea typeface="Noto Sans KR" pitchFamily="34" charset="-122"/>
              <a:cs typeface="Noto Sans KR" pitchFamily="34" charset="-120"/>
            </a:endParaRPr>
          </a:p>
          <a:p>
            <a:pPr marL="171450" indent="-171450" algn="l">
              <a:buFont typeface="Arial" panose="020B0604020202020204" pitchFamily="34" charset="0"/>
              <a:buChar char="•"/>
            </a:pPr>
            <a:r>
              <a:rPr lang="en-US" sz="1100" dirty="0" err="1">
                <a:solidFill>
                  <a:srgbClr val="4B5563"/>
                </a:solidFill>
                <a:latin typeface="Noto Sans KR" pitchFamily="34" charset="0"/>
                <a:ea typeface="Noto Sans KR" pitchFamily="34" charset="-122"/>
                <a:cs typeface="Noto Sans KR" pitchFamily="34" charset="-120"/>
              </a:rPr>
              <a:t>시장</a:t>
            </a:r>
            <a:r>
              <a:rPr lang="en-US" sz="1100" dirty="0">
                <a:solidFill>
                  <a:srgbClr val="4B5563"/>
                </a:solidFill>
                <a:latin typeface="Noto Sans KR" pitchFamily="34" charset="0"/>
                <a:ea typeface="Noto Sans KR" pitchFamily="34" charset="-122"/>
                <a:cs typeface="Noto Sans KR" pitchFamily="34" charset="-120"/>
              </a:rPr>
              <a:t> 변동성 구간에서도 효과적인 자산 배분을 통해 </a:t>
            </a:r>
            <a:r>
              <a:rPr lang="en-US" sz="1100" dirty="0" err="1">
                <a:solidFill>
                  <a:srgbClr val="4B5563"/>
                </a:solidFill>
                <a:latin typeface="Noto Sans KR" pitchFamily="34" charset="0"/>
                <a:ea typeface="Noto Sans KR" pitchFamily="34" charset="-122"/>
                <a:cs typeface="Noto Sans KR" pitchFamily="34" charset="-120"/>
              </a:rPr>
              <a:t>자본을</a:t>
            </a:r>
            <a:r>
              <a:rPr lang="en-US" sz="1100" dirty="0">
                <a:solidFill>
                  <a:srgbClr val="4B5563"/>
                </a:solidFill>
                <a:latin typeface="Noto Sans KR" pitchFamily="34" charset="0"/>
                <a:ea typeface="Noto Sans KR" pitchFamily="34" charset="-122"/>
                <a:cs typeface="Noto Sans KR" pitchFamily="34" charset="-120"/>
              </a:rPr>
              <a:t> </a:t>
            </a:r>
            <a:br>
              <a:rPr lang="en-US" sz="1100" dirty="0">
                <a:solidFill>
                  <a:srgbClr val="4B5563"/>
                </a:solidFill>
                <a:latin typeface="Noto Sans KR" pitchFamily="34" charset="0"/>
                <a:ea typeface="Noto Sans KR" pitchFamily="34" charset="-122"/>
                <a:cs typeface="Noto Sans KR" pitchFamily="34" charset="-120"/>
              </a:rPr>
            </a:br>
            <a:r>
              <a:rPr lang="en-US" sz="1100" dirty="0" err="1">
                <a:solidFill>
                  <a:srgbClr val="4B5563"/>
                </a:solidFill>
                <a:latin typeface="Noto Sans KR" pitchFamily="34" charset="0"/>
                <a:ea typeface="Noto Sans KR" pitchFamily="34" charset="-122"/>
                <a:cs typeface="Noto Sans KR" pitchFamily="34" charset="-120"/>
              </a:rPr>
              <a:t>방어하고</a:t>
            </a:r>
            <a:r>
              <a:rPr lang="en-US" sz="1100" dirty="0">
                <a:solidFill>
                  <a:srgbClr val="4B5563"/>
                </a:solidFill>
                <a:latin typeface="Noto Sans KR" pitchFamily="34" charset="0"/>
                <a:ea typeface="Noto Sans KR" pitchFamily="34" charset="-122"/>
                <a:cs typeface="Noto Sans KR" pitchFamily="34" charset="-120"/>
              </a:rPr>
              <a:t> </a:t>
            </a:r>
            <a:r>
              <a:rPr lang="en-US" sz="1100" dirty="0" err="1">
                <a:solidFill>
                  <a:srgbClr val="4B5563"/>
                </a:solidFill>
                <a:latin typeface="Noto Sans KR" pitchFamily="34" charset="0"/>
                <a:ea typeface="Noto Sans KR" pitchFamily="34" charset="-122"/>
                <a:cs typeface="Noto Sans KR" pitchFamily="34" charset="-120"/>
              </a:rPr>
              <a:t>증식함</a:t>
            </a:r>
            <a:endParaRPr lang="en-US" sz="1100" dirty="0"/>
          </a:p>
        </p:txBody>
      </p:sp>
      <p:pic>
        <p:nvPicPr>
          <p:cNvPr id="34" name="그림 33">
            <a:extLst>
              <a:ext uri="{FF2B5EF4-FFF2-40B4-BE49-F238E27FC236}">
                <a16:creationId xmlns:a16="http://schemas.microsoft.com/office/drawing/2014/main" id="{10C89A0E-6E0D-B34E-93E8-DD5E725610D4}"/>
              </a:ext>
            </a:extLst>
          </p:cNvPr>
          <p:cNvPicPr>
            <a:picLocks noChangeAspect="1"/>
          </p:cNvPicPr>
          <p:nvPr/>
        </p:nvPicPr>
        <p:blipFill rotWithShape="1">
          <a:blip r:embed="rId7"/>
          <a:srcRect b="50052"/>
          <a:stretch/>
        </p:blipFill>
        <p:spPr>
          <a:xfrm>
            <a:off x="991014" y="1044245"/>
            <a:ext cx="9956444" cy="3298194"/>
          </a:xfrm>
          <a:prstGeom prst="rect">
            <a:avLst/>
          </a:prstGeom>
        </p:spPr>
      </p:pic>
    </p:spTree>
    <p:extLst>
      <p:ext uri="{BB962C8B-B14F-4D97-AF65-F5344CB8AC3E}">
        <p14:creationId xmlns:p14="http://schemas.microsoft.com/office/powerpoint/2010/main" val="40206730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6"/>
          <p:cNvSpPr txBox="1"/>
          <p:nvPr/>
        </p:nvSpPr>
        <p:spPr>
          <a:xfrm>
            <a:off x="571500" y="286207"/>
            <a:ext cx="5553151" cy="457200"/>
          </a:xfrm>
          <a:prstGeom prst="rect">
            <a:avLst/>
          </a:prstGeom>
          <a:noFill/>
          <a:ln/>
        </p:spPr>
        <p:txBody>
          <a:bodyPr wrap="square" lIns="0" tIns="0" rIns="0" bIns="0" rtlCol="0" anchor="ctr"/>
          <a:lstStyle/>
          <a:p>
            <a:pPr marL="0" indent="0" algn="l">
              <a:buNone/>
            </a:pPr>
            <a:r>
              <a:rPr lang="en-US" sz="2400" b="1" dirty="0" err="1">
                <a:solidFill>
                  <a:srgbClr val="111827"/>
                </a:solidFill>
                <a:latin typeface="Noto Sans KR" pitchFamily="34" charset="0"/>
                <a:ea typeface="Noto Sans KR" pitchFamily="34" charset="-122"/>
                <a:cs typeface="Noto Sans KR" pitchFamily="34" charset="-120"/>
              </a:rPr>
              <a:t>리스크</a:t>
            </a:r>
            <a:r>
              <a:rPr lang="en-US" sz="2400" b="1" dirty="0">
                <a:solidFill>
                  <a:srgbClr val="111827"/>
                </a:solidFill>
                <a:latin typeface="Noto Sans KR" pitchFamily="34" charset="0"/>
                <a:ea typeface="Noto Sans KR" pitchFamily="34" charset="-122"/>
                <a:cs typeface="Noto Sans KR" pitchFamily="34" charset="-120"/>
              </a:rPr>
              <a:t> </a:t>
            </a:r>
            <a:r>
              <a:rPr lang="en-US" sz="2400" b="1" dirty="0" err="1">
                <a:solidFill>
                  <a:srgbClr val="111827"/>
                </a:solidFill>
                <a:latin typeface="Noto Sans KR" pitchFamily="34" charset="0"/>
                <a:ea typeface="Noto Sans KR" pitchFamily="34" charset="-122"/>
                <a:cs typeface="Noto Sans KR" pitchFamily="34" charset="-120"/>
              </a:rPr>
              <a:t>관리</a:t>
            </a:r>
            <a:r>
              <a:rPr lang="en-US" sz="2400" b="1" dirty="0">
                <a:solidFill>
                  <a:srgbClr val="111827"/>
                </a:solidFill>
                <a:latin typeface="Noto Sans KR" pitchFamily="34" charset="0"/>
                <a:ea typeface="Noto Sans KR" pitchFamily="34" charset="-122"/>
                <a:cs typeface="Noto Sans KR" pitchFamily="34" charset="-120"/>
              </a:rPr>
              <a:t> </a:t>
            </a:r>
            <a:r>
              <a:rPr lang="en-US" sz="2400" b="1" dirty="0" err="1">
                <a:solidFill>
                  <a:srgbClr val="111827"/>
                </a:solidFill>
                <a:latin typeface="Noto Sans KR" pitchFamily="34" charset="0"/>
                <a:ea typeface="Noto Sans KR" pitchFamily="34" charset="-122"/>
                <a:cs typeface="Noto Sans KR" pitchFamily="34" charset="-120"/>
              </a:rPr>
              <a:t>및</a:t>
            </a:r>
            <a:r>
              <a:rPr lang="en-US" sz="2400" b="1" dirty="0">
                <a:solidFill>
                  <a:srgbClr val="111827"/>
                </a:solidFill>
                <a:latin typeface="Noto Sans KR" pitchFamily="34" charset="0"/>
                <a:ea typeface="Noto Sans KR" pitchFamily="34" charset="-122"/>
                <a:cs typeface="Noto Sans KR" pitchFamily="34" charset="-120"/>
              </a:rPr>
              <a:t> </a:t>
            </a:r>
            <a:r>
              <a:rPr lang="en-US" sz="2400" b="1" dirty="0" err="1">
                <a:solidFill>
                  <a:srgbClr val="111827"/>
                </a:solidFill>
                <a:latin typeface="Noto Sans KR" pitchFamily="34" charset="0"/>
                <a:ea typeface="Noto Sans KR" pitchFamily="34" charset="-122"/>
                <a:cs typeface="Noto Sans KR" pitchFamily="34" charset="-120"/>
              </a:rPr>
              <a:t>벤치마크</a:t>
            </a:r>
            <a:r>
              <a:rPr lang="en-US" sz="2400" b="1" dirty="0">
                <a:solidFill>
                  <a:srgbClr val="111827"/>
                </a:solidFill>
                <a:latin typeface="Noto Sans KR" pitchFamily="34" charset="0"/>
                <a:ea typeface="Noto Sans KR" pitchFamily="34" charset="-122"/>
                <a:cs typeface="Noto Sans KR" pitchFamily="34" charset="-120"/>
              </a:rPr>
              <a:t> </a:t>
            </a:r>
            <a:r>
              <a:rPr lang="en-US" sz="2400" b="1" dirty="0" err="1">
                <a:solidFill>
                  <a:srgbClr val="111827"/>
                </a:solidFill>
                <a:latin typeface="Noto Sans KR" pitchFamily="34" charset="0"/>
                <a:ea typeface="Noto Sans KR" pitchFamily="34" charset="-122"/>
                <a:cs typeface="Noto Sans KR" pitchFamily="34" charset="-120"/>
              </a:rPr>
              <a:t>비교</a:t>
            </a:r>
            <a:endParaRPr lang="en-US" sz="2400" dirty="0"/>
          </a:p>
        </p:txBody>
      </p:sp>
      <p:pic>
        <p:nvPicPr>
          <p:cNvPr id="34" name="그림 33">
            <a:extLst>
              <a:ext uri="{FF2B5EF4-FFF2-40B4-BE49-F238E27FC236}">
                <a16:creationId xmlns:a16="http://schemas.microsoft.com/office/drawing/2014/main" id="{0255B4F7-FF39-B14E-A2F4-7686213D129C}"/>
              </a:ext>
            </a:extLst>
          </p:cNvPr>
          <p:cNvPicPr>
            <a:picLocks noChangeAspect="1"/>
          </p:cNvPicPr>
          <p:nvPr/>
        </p:nvPicPr>
        <p:blipFill rotWithShape="1">
          <a:blip r:embed="rId3"/>
          <a:srcRect t="50000"/>
          <a:stretch/>
        </p:blipFill>
        <p:spPr>
          <a:xfrm>
            <a:off x="374470" y="1012696"/>
            <a:ext cx="7185789" cy="2647189"/>
          </a:xfrm>
          <a:prstGeom prst="rect">
            <a:avLst/>
          </a:prstGeom>
        </p:spPr>
      </p:pic>
      <p:pic>
        <p:nvPicPr>
          <p:cNvPr id="3" name="그림 2">
            <a:extLst>
              <a:ext uri="{FF2B5EF4-FFF2-40B4-BE49-F238E27FC236}">
                <a16:creationId xmlns:a16="http://schemas.microsoft.com/office/drawing/2014/main" id="{BD55859D-6297-8C48-8042-B3334CFECA4A}"/>
              </a:ext>
            </a:extLst>
          </p:cNvPr>
          <p:cNvPicPr>
            <a:picLocks noChangeAspect="1"/>
          </p:cNvPicPr>
          <p:nvPr/>
        </p:nvPicPr>
        <p:blipFill>
          <a:blip r:embed="rId4"/>
          <a:stretch>
            <a:fillRect/>
          </a:stretch>
        </p:blipFill>
        <p:spPr>
          <a:xfrm>
            <a:off x="458590" y="3745446"/>
            <a:ext cx="7421330" cy="2699353"/>
          </a:xfrm>
          <a:prstGeom prst="rect">
            <a:avLst/>
          </a:prstGeom>
        </p:spPr>
      </p:pic>
      <p:sp>
        <p:nvSpPr>
          <p:cNvPr id="35" name="Shape 6">
            <a:extLst>
              <a:ext uri="{FF2B5EF4-FFF2-40B4-BE49-F238E27FC236}">
                <a16:creationId xmlns:a16="http://schemas.microsoft.com/office/drawing/2014/main" id="{4F9C943A-E536-4A41-B484-51EF9FFBA710}"/>
              </a:ext>
            </a:extLst>
          </p:cNvPr>
          <p:cNvSpPr/>
          <p:nvPr/>
        </p:nvSpPr>
        <p:spPr>
          <a:xfrm>
            <a:off x="8099580" y="836613"/>
            <a:ext cx="3629254" cy="1152144"/>
          </a:xfrm>
          <a:prstGeom prst="roundRect">
            <a:avLst>
              <a:gd name="adj" fmla="val 6559"/>
            </a:avLst>
          </a:prstGeom>
          <a:solidFill>
            <a:srgbClr val="FFFFFF"/>
          </a:solidFill>
          <a:ln w="12700">
            <a:solidFill>
              <a:srgbClr val="E2E8F0"/>
            </a:solidFill>
            <a:prstDash val="solid"/>
          </a:ln>
          <a:effectLst>
            <a:outerShdw blurRad="38100" dist="25400" dir="5400000" algn="bl" rotWithShape="0">
              <a:srgbClr val="000000">
                <a:alpha val="2000"/>
              </a:srgbClr>
            </a:outerShdw>
          </a:effectLst>
        </p:spPr>
      </p:sp>
      <p:sp>
        <p:nvSpPr>
          <p:cNvPr id="36" name="Text 7">
            <a:extLst>
              <a:ext uri="{FF2B5EF4-FFF2-40B4-BE49-F238E27FC236}">
                <a16:creationId xmlns:a16="http://schemas.microsoft.com/office/drawing/2014/main" id="{50BC1F51-10D3-8448-8365-93AD241F58D7}"/>
              </a:ext>
            </a:extLst>
          </p:cNvPr>
          <p:cNvSpPr txBox="1"/>
          <p:nvPr/>
        </p:nvSpPr>
        <p:spPr>
          <a:xfrm>
            <a:off x="8280631" y="988403"/>
            <a:ext cx="1207922" cy="181051"/>
          </a:xfrm>
          <a:prstGeom prst="rect">
            <a:avLst/>
          </a:prstGeom>
          <a:noFill/>
          <a:ln/>
        </p:spPr>
        <p:txBody>
          <a:bodyPr wrap="square" lIns="0" tIns="0" rIns="0" bIns="0" rtlCol="0" anchor="ctr"/>
          <a:lstStyle/>
          <a:p>
            <a:pPr marL="0" indent="0" algn="l">
              <a:buNone/>
            </a:pPr>
            <a:r>
              <a:rPr lang="en-US" sz="900" b="1" dirty="0">
                <a:solidFill>
                  <a:srgbClr val="64748B"/>
                </a:solidFill>
                <a:latin typeface="Noto Sans KR" pitchFamily="34" charset="0"/>
                <a:ea typeface="Noto Sans KR" pitchFamily="34" charset="-122"/>
                <a:cs typeface="Noto Sans KR" pitchFamily="34" charset="-120"/>
              </a:rPr>
              <a:t>MAX DRAWDOWN</a:t>
            </a:r>
            <a:endParaRPr lang="en-US" sz="900" dirty="0"/>
          </a:p>
        </p:txBody>
      </p:sp>
      <p:sp>
        <p:nvSpPr>
          <p:cNvPr id="37" name="Text 8">
            <a:extLst>
              <a:ext uri="{FF2B5EF4-FFF2-40B4-BE49-F238E27FC236}">
                <a16:creationId xmlns:a16="http://schemas.microsoft.com/office/drawing/2014/main" id="{8197614E-8E51-A549-8ED9-475F8F7565C3}"/>
              </a:ext>
            </a:extLst>
          </p:cNvPr>
          <p:cNvSpPr txBox="1"/>
          <p:nvPr/>
        </p:nvSpPr>
        <p:spPr>
          <a:xfrm>
            <a:off x="8280631" y="1259980"/>
            <a:ext cx="1200607" cy="314554"/>
          </a:xfrm>
          <a:prstGeom prst="rect">
            <a:avLst/>
          </a:prstGeom>
          <a:noFill/>
          <a:ln/>
        </p:spPr>
        <p:txBody>
          <a:bodyPr wrap="square" lIns="0" tIns="0" rIns="0" bIns="0" rtlCol="0" anchor="ctr"/>
          <a:lstStyle/>
          <a:p>
            <a:pPr marL="0" indent="0" algn="l">
              <a:buNone/>
            </a:pPr>
            <a:r>
              <a:rPr lang="en-US" sz="2100" b="1" dirty="0">
                <a:solidFill>
                  <a:srgbClr val="DC2626"/>
                </a:solidFill>
                <a:latin typeface="Roboto" pitchFamily="34" charset="0"/>
                <a:ea typeface="Roboto" pitchFamily="34" charset="-122"/>
                <a:cs typeface="Roboto" pitchFamily="34" charset="-120"/>
              </a:rPr>
              <a:t>-16.56%</a:t>
            </a:r>
            <a:endParaRPr lang="en-US" sz="2100" dirty="0"/>
          </a:p>
        </p:txBody>
      </p:sp>
      <p:sp>
        <p:nvSpPr>
          <p:cNvPr id="38" name="Text 9">
            <a:extLst>
              <a:ext uri="{FF2B5EF4-FFF2-40B4-BE49-F238E27FC236}">
                <a16:creationId xmlns:a16="http://schemas.microsoft.com/office/drawing/2014/main" id="{6751564D-84C0-F748-A60A-3C766342C894}"/>
              </a:ext>
            </a:extLst>
          </p:cNvPr>
          <p:cNvSpPr txBox="1"/>
          <p:nvPr/>
        </p:nvSpPr>
        <p:spPr>
          <a:xfrm>
            <a:off x="8280631" y="1660487"/>
            <a:ext cx="2496312" cy="162763"/>
          </a:xfrm>
          <a:prstGeom prst="rect">
            <a:avLst/>
          </a:prstGeom>
          <a:noFill/>
          <a:ln/>
        </p:spPr>
        <p:txBody>
          <a:bodyPr wrap="square" lIns="0" tIns="0" rIns="0" bIns="0" rtlCol="0" anchor="ctr"/>
          <a:lstStyle/>
          <a:p>
            <a:pPr marL="0" indent="0" algn="l">
              <a:buNone/>
            </a:pPr>
            <a:r>
              <a:rPr lang="en-US" sz="900" dirty="0">
                <a:solidFill>
                  <a:srgbClr val="94A3B8"/>
                </a:solidFill>
                <a:latin typeface="Noto Sans KR" pitchFamily="34" charset="0"/>
                <a:ea typeface="Noto Sans KR" pitchFamily="34" charset="-122"/>
                <a:cs typeface="Noto Sans KR" pitchFamily="34" charset="-120"/>
              </a:rPr>
              <a:t>최대 손실폭을 제한하며 안정적인 자산 운용을 유지</a:t>
            </a:r>
            <a:endParaRPr lang="en-US" sz="900" dirty="0"/>
          </a:p>
        </p:txBody>
      </p:sp>
      <p:sp>
        <p:nvSpPr>
          <p:cNvPr id="39" name="Shape 10">
            <a:extLst>
              <a:ext uri="{FF2B5EF4-FFF2-40B4-BE49-F238E27FC236}">
                <a16:creationId xmlns:a16="http://schemas.microsoft.com/office/drawing/2014/main" id="{5FB113EA-628B-2147-A819-98C804018006}"/>
              </a:ext>
            </a:extLst>
          </p:cNvPr>
          <p:cNvSpPr/>
          <p:nvPr/>
        </p:nvSpPr>
        <p:spPr>
          <a:xfrm>
            <a:off x="8099580" y="2125003"/>
            <a:ext cx="3629254" cy="1152144"/>
          </a:xfrm>
          <a:prstGeom prst="roundRect">
            <a:avLst>
              <a:gd name="adj" fmla="val 6559"/>
            </a:avLst>
          </a:prstGeom>
          <a:solidFill>
            <a:srgbClr val="FFFFFF"/>
          </a:solidFill>
          <a:ln w="12700">
            <a:solidFill>
              <a:srgbClr val="E2E8F0"/>
            </a:solidFill>
            <a:prstDash val="solid"/>
          </a:ln>
          <a:effectLst>
            <a:outerShdw blurRad="38100" dist="25400" dir="5400000" algn="bl" rotWithShape="0">
              <a:srgbClr val="000000">
                <a:alpha val="2000"/>
              </a:srgbClr>
            </a:outerShdw>
          </a:effectLst>
        </p:spPr>
      </p:sp>
      <p:sp>
        <p:nvSpPr>
          <p:cNvPr id="40" name="Text 11">
            <a:extLst>
              <a:ext uri="{FF2B5EF4-FFF2-40B4-BE49-F238E27FC236}">
                <a16:creationId xmlns:a16="http://schemas.microsoft.com/office/drawing/2014/main" id="{08DD0F17-F16C-064A-B19B-55D6F1EBDE7D}"/>
              </a:ext>
            </a:extLst>
          </p:cNvPr>
          <p:cNvSpPr txBox="1"/>
          <p:nvPr/>
        </p:nvSpPr>
        <p:spPr>
          <a:xfrm>
            <a:off x="8280631" y="2277707"/>
            <a:ext cx="1055218" cy="181051"/>
          </a:xfrm>
          <a:prstGeom prst="rect">
            <a:avLst/>
          </a:prstGeom>
          <a:noFill/>
          <a:ln/>
        </p:spPr>
        <p:txBody>
          <a:bodyPr wrap="square" lIns="0" tIns="0" rIns="0" bIns="0" rtlCol="0" anchor="ctr"/>
          <a:lstStyle/>
          <a:p>
            <a:pPr marL="0" indent="0" algn="l">
              <a:buNone/>
            </a:pPr>
            <a:r>
              <a:rPr lang="en-US" sz="900" b="1" dirty="0">
                <a:solidFill>
                  <a:srgbClr val="64748B"/>
                </a:solidFill>
                <a:latin typeface="Noto Sans KR" pitchFamily="34" charset="0"/>
                <a:ea typeface="Noto Sans KR" pitchFamily="34" charset="-122"/>
                <a:cs typeface="Noto Sans KR" pitchFamily="34" charset="-120"/>
              </a:rPr>
              <a:t>SHARPE RATIO</a:t>
            </a:r>
            <a:endParaRPr lang="en-US" sz="900" dirty="0"/>
          </a:p>
        </p:txBody>
      </p:sp>
      <p:sp>
        <p:nvSpPr>
          <p:cNvPr id="41" name="Text 12">
            <a:extLst>
              <a:ext uri="{FF2B5EF4-FFF2-40B4-BE49-F238E27FC236}">
                <a16:creationId xmlns:a16="http://schemas.microsoft.com/office/drawing/2014/main" id="{12442AE8-31CF-1143-B369-DAE66EABD9A7}"/>
              </a:ext>
            </a:extLst>
          </p:cNvPr>
          <p:cNvSpPr txBox="1"/>
          <p:nvPr/>
        </p:nvSpPr>
        <p:spPr>
          <a:xfrm>
            <a:off x="8280631" y="2548370"/>
            <a:ext cx="743407" cy="314554"/>
          </a:xfrm>
          <a:prstGeom prst="rect">
            <a:avLst/>
          </a:prstGeom>
          <a:noFill/>
          <a:ln/>
        </p:spPr>
        <p:txBody>
          <a:bodyPr wrap="square" lIns="0" tIns="0" rIns="0" bIns="0" rtlCol="0" anchor="ctr"/>
          <a:lstStyle/>
          <a:p>
            <a:pPr marL="0" indent="0" algn="l">
              <a:buNone/>
            </a:pPr>
            <a:r>
              <a:rPr lang="en-US" sz="2100" b="1" dirty="0">
                <a:solidFill>
                  <a:srgbClr val="2563EB"/>
                </a:solidFill>
                <a:latin typeface="Roboto" pitchFamily="34" charset="0"/>
                <a:ea typeface="Roboto" pitchFamily="34" charset="-122"/>
                <a:cs typeface="Roboto" pitchFamily="34" charset="-120"/>
              </a:rPr>
              <a:t>1.17</a:t>
            </a:r>
            <a:endParaRPr lang="en-US" sz="2100" dirty="0"/>
          </a:p>
        </p:txBody>
      </p:sp>
      <p:sp>
        <p:nvSpPr>
          <p:cNvPr id="42" name="Text 13">
            <a:extLst>
              <a:ext uri="{FF2B5EF4-FFF2-40B4-BE49-F238E27FC236}">
                <a16:creationId xmlns:a16="http://schemas.microsoft.com/office/drawing/2014/main" id="{9691C396-E4B1-9740-82C9-7D62E3FCE7CC}"/>
              </a:ext>
            </a:extLst>
          </p:cNvPr>
          <p:cNvSpPr txBox="1"/>
          <p:nvPr/>
        </p:nvSpPr>
        <p:spPr>
          <a:xfrm>
            <a:off x="8280631" y="2948877"/>
            <a:ext cx="2200961" cy="162763"/>
          </a:xfrm>
          <a:prstGeom prst="rect">
            <a:avLst/>
          </a:prstGeom>
          <a:noFill/>
          <a:ln/>
        </p:spPr>
        <p:txBody>
          <a:bodyPr wrap="square" lIns="0" tIns="0" rIns="0" bIns="0" rtlCol="0" anchor="ctr"/>
          <a:lstStyle/>
          <a:p>
            <a:pPr marL="0" indent="0" algn="l">
              <a:buNone/>
            </a:pPr>
            <a:r>
              <a:rPr lang="en-US" sz="900" dirty="0">
                <a:solidFill>
                  <a:srgbClr val="94A3B8"/>
                </a:solidFill>
                <a:latin typeface="Noto Sans KR" pitchFamily="34" charset="0"/>
                <a:ea typeface="Noto Sans KR" pitchFamily="34" charset="-122"/>
                <a:cs typeface="Noto Sans KR" pitchFamily="34" charset="-120"/>
              </a:rPr>
              <a:t>위험 대비 수익률이 우수함 (기준치 1.0 상회)</a:t>
            </a:r>
            <a:endParaRPr lang="en-US" sz="900" dirty="0"/>
          </a:p>
        </p:txBody>
      </p:sp>
      <p:sp>
        <p:nvSpPr>
          <p:cNvPr id="43" name="Shape 14">
            <a:extLst>
              <a:ext uri="{FF2B5EF4-FFF2-40B4-BE49-F238E27FC236}">
                <a16:creationId xmlns:a16="http://schemas.microsoft.com/office/drawing/2014/main" id="{0DC3418E-841B-CC46-8DCA-A957111B1031}"/>
              </a:ext>
            </a:extLst>
          </p:cNvPr>
          <p:cNvSpPr/>
          <p:nvPr/>
        </p:nvSpPr>
        <p:spPr>
          <a:xfrm>
            <a:off x="8099580" y="3413392"/>
            <a:ext cx="3629254" cy="1152144"/>
          </a:xfrm>
          <a:prstGeom prst="roundRect">
            <a:avLst>
              <a:gd name="adj" fmla="val 6559"/>
            </a:avLst>
          </a:prstGeom>
          <a:solidFill>
            <a:srgbClr val="FFFFFF"/>
          </a:solidFill>
          <a:ln w="12700">
            <a:solidFill>
              <a:srgbClr val="E2E8F0"/>
            </a:solidFill>
            <a:prstDash val="solid"/>
          </a:ln>
          <a:effectLst>
            <a:outerShdw blurRad="38100" dist="25400" dir="5400000" algn="bl" rotWithShape="0">
              <a:srgbClr val="000000">
                <a:alpha val="2000"/>
              </a:srgbClr>
            </a:outerShdw>
          </a:effectLst>
        </p:spPr>
      </p:sp>
      <p:sp>
        <p:nvSpPr>
          <p:cNvPr id="44" name="Text 15">
            <a:extLst>
              <a:ext uri="{FF2B5EF4-FFF2-40B4-BE49-F238E27FC236}">
                <a16:creationId xmlns:a16="http://schemas.microsoft.com/office/drawing/2014/main" id="{2184BF13-B6B9-0548-AC5D-BD72CD80547D}"/>
              </a:ext>
            </a:extLst>
          </p:cNvPr>
          <p:cNvSpPr txBox="1"/>
          <p:nvPr/>
        </p:nvSpPr>
        <p:spPr>
          <a:xfrm>
            <a:off x="8280631" y="3566097"/>
            <a:ext cx="1283818" cy="181051"/>
          </a:xfrm>
          <a:prstGeom prst="rect">
            <a:avLst/>
          </a:prstGeom>
          <a:noFill/>
          <a:ln/>
        </p:spPr>
        <p:txBody>
          <a:bodyPr wrap="square" lIns="0" tIns="0" rIns="0" bIns="0" rtlCol="0" anchor="ctr"/>
          <a:lstStyle/>
          <a:p>
            <a:pPr marL="0" indent="0" algn="l">
              <a:buNone/>
            </a:pPr>
            <a:r>
              <a:rPr lang="en-US" sz="900" b="1" dirty="0">
                <a:solidFill>
                  <a:srgbClr val="64748B"/>
                </a:solidFill>
                <a:latin typeface="Noto Sans KR" pitchFamily="34" charset="0"/>
                <a:ea typeface="Noto Sans KR" pitchFamily="34" charset="-122"/>
                <a:cs typeface="Noto Sans KR" pitchFamily="34" charset="-120"/>
              </a:rPr>
              <a:t>VOLATILITY (RISK)</a:t>
            </a:r>
            <a:endParaRPr lang="en-US" sz="900" dirty="0"/>
          </a:p>
        </p:txBody>
      </p:sp>
      <p:sp>
        <p:nvSpPr>
          <p:cNvPr id="45" name="Text 16">
            <a:extLst>
              <a:ext uri="{FF2B5EF4-FFF2-40B4-BE49-F238E27FC236}">
                <a16:creationId xmlns:a16="http://schemas.microsoft.com/office/drawing/2014/main" id="{86D92BFE-7051-2442-8F66-4368BB45B8AF}"/>
              </a:ext>
            </a:extLst>
          </p:cNvPr>
          <p:cNvSpPr txBox="1"/>
          <p:nvPr/>
        </p:nvSpPr>
        <p:spPr>
          <a:xfrm>
            <a:off x="8280631" y="3837674"/>
            <a:ext cx="1095451" cy="314554"/>
          </a:xfrm>
          <a:prstGeom prst="rect">
            <a:avLst/>
          </a:prstGeom>
          <a:noFill/>
          <a:ln/>
        </p:spPr>
        <p:txBody>
          <a:bodyPr wrap="square" lIns="0" tIns="0" rIns="0" bIns="0" rtlCol="0" anchor="ctr"/>
          <a:lstStyle/>
          <a:p>
            <a:pPr marL="0" indent="0" algn="l">
              <a:buNone/>
            </a:pPr>
            <a:r>
              <a:rPr lang="en-US" sz="2100" b="1" dirty="0">
                <a:solidFill>
                  <a:srgbClr val="475569"/>
                </a:solidFill>
                <a:latin typeface="Roboto" pitchFamily="34" charset="0"/>
                <a:ea typeface="Roboto" pitchFamily="34" charset="-122"/>
                <a:cs typeface="Roboto" pitchFamily="34" charset="-120"/>
              </a:rPr>
              <a:t>19.23%</a:t>
            </a:r>
            <a:endParaRPr lang="en-US" sz="2100" dirty="0"/>
          </a:p>
        </p:txBody>
      </p:sp>
      <p:sp>
        <p:nvSpPr>
          <p:cNvPr id="46" name="Text 17">
            <a:extLst>
              <a:ext uri="{FF2B5EF4-FFF2-40B4-BE49-F238E27FC236}">
                <a16:creationId xmlns:a16="http://schemas.microsoft.com/office/drawing/2014/main" id="{4E36A42D-EE03-8643-9EC8-CD4D8CC9CDB6}"/>
              </a:ext>
            </a:extLst>
          </p:cNvPr>
          <p:cNvSpPr txBox="1"/>
          <p:nvPr/>
        </p:nvSpPr>
        <p:spPr>
          <a:xfrm>
            <a:off x="8280631" y="4237267"/>
            <a:ext cx="896112" cy="162763"/>
          </a:xfrm>
          <a:prstGeom prst="rect">
            <a:avLst/>
          </a:prstGeom>
          <a:noFill/>
          <a:ln/>
        </p:spPr>
        <p:txBody>
          <a:bodyPr wrap="square" lIns="0" tIns="0" rIns="0" bIns="0" rtlCol="0" anchor="ctr"/>
          <a:lstStyle/>
          <a:p>
            <a:pPr marL="0" indent="0" algn="l">
              <a:buNone/>
            </a:pPr>
            <a:r>
              <a:rPr lang="en-US" sz="900" dirty="0">
                <a:solidFill>
                  <a:srgbClr val="94A3B8"/>
                </a:solidFill>
                <a:latin typeface="Noto Sans KR" pitchFamily="34" charset="0"/>
                <a:ea typeface="Noto Sans KR" pitchFamily="34" charset="-122"/>
                <a:cs typeface="Noto Sans KR" pitchFamily="34" charset="-120"/>
              </a:rPr>
              <a:t>연간 변동성 수준</a:t>
            </a:r>
            <a:endParaRPr lang="en-US" sz="900" dirty="0"/>
          </a:p>
        </p:txBody>
      </p:sp>
      <p:sp>
        <p:nvSpPr>
          <p:cNvPr id="47" name="Shape 18">
            <a:extLst>
              <a:ext uri="{FF2B5EF4-FFF2-40B4-BE49-F238E27FC236}">
                <a16:creationId xmlns:a16="http://schemas.microsoft.com/office/drawing/2014/main" id="{F3075246-39B9-A644-A1DA-5A1F477A14E4}"/>
              </a:ext>
            </a:extLst>
          </p:cNvPr>
          <p:cNvSpPr/>
          <p:nvPr/>
        </p:nvSpPr>
        <p:spPr>
          <a:xfrm>
            <a:off x="8099580" y="4702696"/>
            <a:ext cx="3629254" cy="1895551"/>
          </a:xfrm>
          <a:prstGeom prst="roundRect">
            <a:avLst>
              <a:gd name="adj" fmla="val 2424"/>
            </a:avLst>
          </a:prstGeom>
          <a:solidFill>
            <a:srgbClr val="F1F5F9"/>
          </a:solidFill>
          <a:ln/>
        </p:spPr>
      </p:sp>
      <p:sp>
        <p:nvSpPr>
          <p:cNvPr id="48" name="Shape 19">
            <a:extLst>
              <a:ext uri="{FF2B5EF4-FFF2-40B4-BE49-F238E27FC236}">
                <a16:creationId xmlns:a16="http://schemas.microsoft.com/office/drawing/2014/main" id="{4EDF32EA-4B36-6749-905D-8B0FBBA8B4B8}"/>
              </a:ext>
            </a:extLst>
          </p:cNvPr>
          <p:cNvSpPr/>
          <p:nvPr/>
        </p:nvSpPr>
        <p:spPr>
          <a:xfrm>
            <a:off x="8242226" y="5122406"/>
            <a:ext cx="3343046" cy="9144"/>
          </a:xfrm>
          <a:prstGeom prst="rect">
            <a:avLst/>
          </a:prstGeom>
          <a:solidFill>
            <a:srgbClr val="CBD5E1"/>
          </a:solidFill>
          <a:ln/>
        </p:spPr>
      </p:sp>
      <p:sp>
        <p:nvSpPr>
          <p:cNvPr id="49" name="Text 20">
            <a:extLst>
              <a:ext uri="{FF2B5EF4-FFF2-40B4-BE49-F238E27FC236}">
                <a16:creationId xmlns:a16="http://schemas.microsoft.com/office/drawing/2014/main" id="{ABD4F483-0FC8-194D-87C0-D0B2E9C94071}"/>
              </a:ext>
            </a:extLst>
          </p:cNvPr>
          <p:cNvSpPr txBox="1"/>
          <p:nvPr/>
        </p:nvSpPr>
        <p:spPr>
          <a:xfrm>
            <a:off x="8242226" y="4845343"/>
            <a:ext cx="1862633" cy="191110"/>
          </a:xfrm>
          <a:prstGeom prst="rect">
            <a:avLst/>
          </a:prstGeom>
          <a:noFill/>
          <a:ln/>
        </p:spPr>
        <p:txBody>
          <a:bodyPr wrap="square" lIns="0" tIns="0" rIns="0" bIns="0" rtlCol="0" anchor="ctr"/>
          <a:lstStyle/>
          <a:p>
            <a:pPr marL="0" indent="0" algn="l">
              <a:buNone/>
            </a:pPr>
            <a:r>
              <a:rPr lang="en-US" sz="1000" b="1" dirty="0">
                <a:solidFill>
                  <a:srgbClr val="334155"/>
                </a:solidFill>
                <a:latin typeface="Noto Sans KR" pitchFamily="34" charset="0"/>
                <a:ea typeface="Noto Sans KR" pitchFamily="34" charset="-122"/>
                <a:cs typeface="Noto Sans KR" pitchFamily="34" charset="-120"/>
              </a:rPr>
              <a:t>총 수익률 비교 (Total Return)</a:t>
            </a:r>
            <a:endParaRPr lang="en-US" sz="1000" dirty="0"/>
          </a:p>
        </p:txBody>
      </p:sp>
      <p:sp>
        <p:nvSpPr>
          <p:cNvPr id="50" name="Shape 21">
            <a:extLst>
              <a:ext uri="{FF2B5EF4-FFF2-40B4-BE49-F238E27FC236}">
                <a16:creationId xmlns:a16="http://schemas.microsoft.com/office/drawing/2014/main" id="{33DEEEFC-86A1-F446-A6F9-0D49FDF5296B}"/>
              </a:ext>
            </a:extLst>
          </p:cNvPr>
          <p:cNvSpPr/>
          <p:nvPr/>
        </p:nvSpPr>
        <p:spPr>
          <a:xfrm>
            <a:off x="8242226" y="5307115"/>
            <a:ext cx="75895" cy="75895"/>
          </a:xfrm>
          <a:prstGeom prst="ellipse">
            <a:avLst/>
          </a:prstGeom>
          <a:solidFill>
            <a:srgbClr val="4F46E5"/>
          </a:solidFill>
          <a:ln/>
        </p:spPr>
      </p:sp>
      <p:sp>
        <p:nvSpPr>
          <p:cNvPr id="51" name="Text 22">
            <a:extLst>
              <a:ext uri="{FF2B5EF4-FFF2-40B4-BE49-F238E27FC236}">
                <a16:creationId xmlns:a16="http://schemas.microsoft.com/office/drawing/2014/main" id="{A03F1CE1-222B-8147-81FC-B166FEF0CDAB}"/>
              </a:ext>
            </a:extLst>
          </p:cNvPr>
          <p:cNvSpPr txBox="1"/>
          <p:nvPr/>
        </p:nvSpPr>
        <p:spPr>
          <a:xfrm>
            <a:off x="8394931" y="5244935"/>
            <a:ext cx="672084" cy="200254"/>
          </a:xfrm>
          <a:prstGeom prst="rect">
            <a:avLst/>
          </a:prstGeom>
          <a:noFill/>
          <a:ln/>
        </p:spPr>
        <p:txBody>
          <a:bodyPr wrap="square" lIns="0" tIns="0" rIns="0" bIns="0" rtlCol="0" anchor="ctr"/>
          <a:lstStyle/>
          <a:p>
            <a:pPr marL="0" indent="0" algn="l">
              <a:buNone/>
            </a:pPr>
            <a:r>
              <a:rPr lang="en-US" sz="1000" dirty="0">
                <a:solidFill>
                  <a:srgbClr val="475569"/>
                </a:solidFill>
                <a:latin typeface="Noto Sans KR" pitchFamily="34" charset="0"/>
                <a:ea typeface="Noto Sans KR" pitchFamily="34" charset="-122"/>
                <a:cs typeface="Noto Sans KR" pitchFamily="34" charset="-120"/>
              </a:rPr>
              <a:t>RL Agent</a:t>
            </a:r>
            <a:endParaRPr lang="en-US" sz="1000" dirty="0"/>
          </a:p>
        </p:txBody>
      </p:sp>
      <p:sp>
        <p:nvSpPr>
          <p:cNvPr id="52" name="Text 23">
            <a:extLst>
              <a:ext uri="{FF2B5EF4-FFF2-40B4-BE49-F238E27FC236}">
                <a16:creationId xmlns:a16="http://schemas.microsoft.com/office/drawing/2014/main" id="{A064279D-B290-1F4F-B1A4-63073861C3D3}"/>
              </a:ext>
            </a:extLst>
          </p:cNvPr>
          <p:cNvSpPr txBox="1"/>
          <p:nvPr/>
        </p:nvSpPr>
        <p:spPr>
          <a:xfrm>
            <a:off x="11069551" y="5264138"/>
            <a:ext cx="624535" cy="152705"/>
          </a:xfrm>
          <a:prstGeom prst="rect">
            <a:avLst/>
          </a:prstGeom>
          <a:noFill/>
          <a:ln/>
        </p:spPr>
        <p:txBody>
          <a:bodyPr wrap="square" lIns="0" tIns="0" rIns="0" bIns="0" rtlCol="0" anchor="ctr"/>
          <a:lstStyle/>
          <a:p>
            <a:pPr marL="0" indent="0" algn="l">
              <a:buNone/>
            </a:pPr>
            <a:r>
              <a:rPr lang="en-US" sz="1000" b="1" dirty="0">
                <a:solidFill>
                  <a:srgbClr val="4F46E5"/>
                </a:solidFill>
                <a:latin typeface="Roboto" pitchFamily="34" charset="0"/>
                <a:ea typeface="Roboto" pitchFamily="34" charset="-122"/>
                <a:cs typeface="Roboto" pitchFamily="34" charset="-120"/>
              </a:rPr>
              <a:t>+44.54%</a:t>
            </a:r>
            <a:endParaRPr lang="en-US" sz="1000" dirty="0"/>
          </a:p>
        </p:txBody>
      </p:sp>
      <p:sp>
        <p:nvSpPr>
          <p:cNvPr id="53" name="Shape 24">
            <a:extLst>
              <a:ext uri="{FF2B5EF4-FFF2-40B4-BE49-F238E27FC236}">
                <a16:creationId xmlns:a16="http://schemas.microsoft.com/office/drawing/2014/main" id="{2936C54B-4E0B-5343-B115-23B222932FFB}"/>
              </a:ext>
            </a:extLst>
          </p:cNvPr>
          <p:cNvSpPr/>
          <p:nvPr/>
        </p:nvSpPr>
        <p:spPr>
          <a:xfrm>
            <a:off x="8242226" y="5602466"/>
            <a:ext cx="75895" cy="75895"/>
          </a:xfrm>
          <a:prstGeom prst="ellipse">
            <a:avLst/>
          </a:prstGeom>
          <a:solidFill>
            <a:srgbClr val="9CA3AF"/>
          </a:solidFill>
          <a:ln/>
        </p:spPr>
      </p:sp>
      <p:sp>
        <p:nvSpPr>
          <p:cNvPr id="54" name="Text 25">
            <a:extLst>
              <a:ext uri="{FF2B5EF4-FFF2-40B4-BE49-F238E27FC236}">
                <a16:creationId xmlns:a16="http://schemas.microsoft.com/office/drawing/2014/main" id="{454926DA-E973-4C4C-8282-7A561654813B}"/>
              </a:ext>
            </a:extLst>
          </p:cNvPr>
          <p:cNvSpPr txBox="1"/>
          <p:nvPr/>
        </p:nvSpPr>
        <p:spPr>
          <a:xfrm>
            <a:off x="8394931" y="5540287"/>
            <a:ext cx="948233" cy="200254"/>
          </a:xfrm>
          <a:prstGeom prst="rect">
            <a:avLst/>
          </a:prstGeom>
          <a:noFill/>
          <a:ln/>
        </p:spPr>
        <p:txBody>
          <a:bodyPr wrap="square" lIns="0" tIns="0" rIns="0" bIns="0" rtlCol="0" anchor="ctr"/>
          <a:lstStyle/>
          <a:p>
            <a:pPr marL="0" indent="0" algn="l">
              <a:buNone/>
            </a:pPr>
            <a:r>
              <a:rPr lang="en-US" sz="1000" dirty="0">
                <a:solidFill>
                  <a:srgbClr val="475569"/>
                </a:solidFill>
                <a:latin typeface="Noto Sans KR" pitchFamily="34" charset="0"/>
                <a:ea typeface="Noto Sans KR" pitchFamily="34" charset="-122"/>
                <a:cs typeface="Noto Sans KR" pitchFamily="34" charset="-120"/>
              </a:rPr>
              <a:t>Equal Weight</a:t>
            </a:r>
            <a:endParaRPr lang="en-US" sz="1000" dirty="0"/>
          </a:p>
        </p:txBody>
      </p:sp>
      <p:sp>
        <p:nvSpPr>
          <p:cNvPr id="55" name="Text 26">
            <a:extLst>
              <a:ext uri="{FF2B5EF4-FFF2-40B4-BE49-F238E27FC236}">
                <a16:creationId xmlns:a16="http://schemas.microsoft.com/office/drawing/2014/main" id="{05A76B9A-3B78-4C43-AE01-C26664A16074}"/>
              </a:ext>
            </a:extLst>
          </p:cNvPr>
          <p:cNvSpPr txBox="1"/>
          <p:nvPr/>
        </p:nvSpPr>
        <p:spPr>
          <a:xfrm>
            <a:off x="11055835" y="5559489"/>
            <a:ext cx="633679" cy="152705"/>
          </a:xfrm>
          <a:prstGeom prst="rect">
            <a:avLst/>
          </a:prstGeom>
          <a:noFill/>
          <a:ln/>
        </p:spPr>
        <p:txBody>
          <a:bodyPr wrap="square" lIns="0" tIns="0" rIns="0" bIns="0" rtlCol="0" anchor="ctr"/>
          <a:lstStyle/>
          <a:p>
            <a:pPr marL="0" indent="0" algn="l">
              <a:buNone/>
            </a:pPr>
            <a:r>
              <a:rPr lang="en-US" sz="1000" b="1" dirty="0">
                <a:solidFill>
                  <a:srgbClr val="6B7280"/>
                </a:solidFill>
                <a:latin typeface="Roboto" pitchFamily="34" charset="0"/>
                <a:ea typeface="Roboto" pitchFamily="34" charset="-122"/>
                <a:cs typeface="Roboto" pitchFamily="34" charset="-120"/>
              </a:rPr>
              <a:t>~15.00%</a:t>
            </a:r>
            <a:endParaRPr lang="en-US" sz="1000" dirty="0"/>
          </a:p>
        </p:txBody>
      </p:sp>
      <p:sp>
        <p:nvSpPr>
          <p:cNvPr id="56" name="Shape 27">
            <a:extLst>
              <a:ext uri="{FF2B5EF4-FFF2-40B4-BE49-F238E27FC236}">
                <a16:creationId xmlns:a16="http://schemas.microsoft.com/office/drawing/2014/main" id="{7A8C4B55-7062-6344-A6CA-F51D0449330B}"/>
              </a:ext>
            </a:extLst>
          </p:cNvPr>
          <p:cNvSpPr/>
          <p:nvPr/>
        </p:nvSpPr>
        <p:spPr>
          <a:xfrm>
            <a:off x="8242226" y="5897817"/>
            <a:ext cx="75895" cy="75895"/>
          </a:xfrm>
          <a:prstGeom prst="ellipse">
            <a:avLst/>
          </a:prstGeom>
          <a:solidFill>
            <a:srgbClr val="9CA3AF"/>
          </a:solidFill>
          <a:ln/>
        </p:spPr>
      </p:sp>
      <p:sp>
        <p:nvSpPr>
          <p:cNvPr id="57" name="Text 28">
            <a:extLst>
              <a:ext uri="{FF2B5EF4-FFF2-40B4-BE49-F238E27FC236}">
                <a16:creationId xmlns:a16="http://schemas.microsoft.com/office/drawing/2014/main" id="{22FE76B5-6A95-5A45-B58B-BEF05CD4FAFC}"/>
              </a:ext>
            </a:extLst>
          </p:cNvPr>
          <p:cNvSpPr txBox="1"/>
          <p:nvPr/>
        </p:nvSpPr>
        <p:spPr>
          <a:xfrm>
            <a:off x="8394931" y="5835638"/>
            <a:ext cx="824789" cy="200254"/>
          </a:xfrm>
          <a:prstGeom prst="rect">
            <a:avLst/>
          </a:prstGeom>
          <a:noFill/>
          <a:ln/>
        </p:spPr>
        <p:txBody>
          <a:bodyPr wrap="square" lIns="0" tIns="0" rIns="0" bIns="0" rtlCol="0" anchor="ctr"/>
          <a:lstStyle/>
          <a:p>
            <a:pPr marL="0" indent="0" algn="l">
              <a:buNone/>
            </a:pPr>
            <a:r>
              <a:rPr lang="en-US" sz="1000" dirty="0">
                <a:solidFill>
                  <a:srgbClr val="475569"/>
                </a:solidFill>
                <a:latin typeface="Noto Sans KR" pitchFamily="34" charset="0"/>
                <a:ea typeface="Noto Sans KR" pitchFamily="34" charset="-122"/>
                <a:cs typeface="Noto Sans KR" pitchFamily="34" charset="-120"/>
              </a:rPr>
              <a:t>Buy &amp; Hold</a:t>
            </a:r>
            <a:endParaRPr lang="en-US" sz="1000" dirty="0"/>
          </a:p>
        </p:txBody>
      </p:sp>
      <p:sp>
        <p:nvSpPr>
          <p:cNvPr id="58" name="Text 29">
            <a:extLst>
              <a:ext uri="{FF2B5EF4-FFF2-40B4-BE49-F238E27FC236}">
                <a16:creationId xmlns:a16="http://schemas.microsoft.com/office/drawing/2014/main" id="{79871246-8E1D-A54F-8E85-D08B9ECBF90F}"/>
              </a:ext>
            </a:extLst>
          </p:cNvPr>
          <p:cNvSpPr txBox="1"/>
          <p:nvPr/>
        </p:nvSpPr>
        <p:spPr>
          <a:xfrm>
            <a:off x="11055835" y="5854840"/>
            <a:ext cx="633679" cy="152705"/>
          </a:xfrm>
          <a:prstGeom prst="rect">
            <a:avLst/>
          </a:prstGeom>
          <a:noFill/>
          <a:ln/>
        </p:spPr>
        <p:txBody>
          <a:bodyPr wrap="square" lIns="0" tIns="0" rIns="0" bIns="0" rtlCol="0" anchor="ctr"/>
          <a:lstStyle/>
          <a:p>
            <a:pPr marL="0" indent="0" algn="l">
              <a:buNone/>
            </a:pPr>
            <a:r>
              <a:rPr lang="en-US" sz="1000" b="1" dirty="0">
                <a:solidFill>
                  <a:srgbClr val="6B7280"/>
                </a:solidFill>
                <a:latin typeface="Roboto" pitchFamily="34" charset="0"/>
                <a:ea typeface="Roboto" pitchFamily="34" charset="-122"/>
                <a:cs typeface="Roboto" pitchFamily="34" charset="-120"/>
              </a:rPr>
              <a:t>~15.00%</a:t>
            </a:r>
            <a:endParaRPr lang="en-US" sz="1000" dirty="0"/>
          </a:p>
        </p:txBody>
      </p:sp>
      <p:sp>
        <p:nvSpPr>
          <p:cNvPr id="59" name="Shape 30">
            <a:extLst>
              <a:ext uri="{FF2B5EF4-FFF2-40B4-BE49-F238E27FC236}">
                <a16:creationId xmlns:a16="http://schemas.microsoft.com/office/drawing/2014/main" id="{BB15B68B-5C36-9543-83E3-7B1003E2F489}"/>
              </a:ext>
            </a:extLst>
          </p:cNvPr>
          <p:cNvSpPr/>
          <p:nvPr/>
        </p:nvSpPr>
        <p:spPr>
          <a:xfrm>
            <a:off x="8242226" y="6178538"/>
            <a:ext cx="3343046" cy="9144"/>
          </a:xfrm>
          <a:prstGeom prst="rect">
            <a:avLst/>
          </a:prstGeom>
          <a:solidFill>
            <a:srgbClr val="CBD5E1"/>
          </a:solidFill>
          <a:ln/>
        </p:spPr>
      </p:sp>
      <p:sp>
        <p:nvSpPr>
          <p:cNvPr id="60" name="Text 31">
            <a:extLst>
              <a:ext uri="{FF2B5EF4-FFF2-40B4-BE49-F238E27FC236}">
                <a16:creationId xmlns:a16="http://schemas.microsoft.com/office/drawing/2014/main" id="{322ADCF2-4CD9-4849-AD9F-95655517ABF9}"/>
              </a:ext>
            </a:extLst>
          </p:cNvPr>
          <p:cNvSpPr txBox="1"/>
          <p:nvPr/>
        </p:nvSpPr>
        <p:spPr>
          <a:xfrm>
            <a:off x="8242226" y="6283694"/>
            <a:ext cx="2724912" cy="162763"/>
          </a:xfrm>
          <a:prstGeom prst="rect">
            <a:avLst/>
          </a:prstGeom>
          <a:noFill/>
          <a:ln/>
        </p:spPr>
        <p:txBody>
          <a:bodyPr wrap="square" lIns="0" tIns="0" rIns="0" bIns="0" rtlCol="0" anchor="ctr"/>
          <a:lstStyle/>
          <a:p>
            <a:pPr marL="0" indent="0" algn="l">
              <a:buNone/>
            </a:pPr>
            <a:r>
              <a:rPr lang="en-US" sz="900" dirty="0">
                <a:solidFill>
                  <a:srgbClr val="64748B"/>
                </a:solidFill>
                <a:latin typeface="Noto Sans KR" pitchFamily="34" charset="0"/>
                <a:ea typeface="Noto Sans KR" pitchFamily="34" charset="-122"/>
                <a:cs typeface="Noto Sans KR" pitchFamily="34" charset="-120"/>
              </a:rPr>
              <a:t>강화학습 모델이 벤치마크 대비 약 3배 높은 수익률 달성</a:t>
            </a:r>
            <a:endParaRPr lang="en-US" sz="900" dirty="0"/>
          </a:p>
        </p:txBody>
      </p:sp>
      <p:sp>
        <p:nvSpPr>
          <p:cNvPr id="61" name="Text 32">
            <a:extLst>
              <a:ext uri="{FF2B5EF4-FFF2-40B4-BE49-F238E27FC236}">
                <a16:creationId xmlns:a16="http://schemas.microsoft.com/office/drawing/2014/main" id="{A4B4919D-EF0D-CD41-9B4B-3FD9BC4D0CAF}"/>
              </a:ext>
            </a:extLst>
          </p:cNvPr>
          <p:cNvSpPr txBox="1"/>
          <p:nvPr/>
        </p:nvSpPr>
        <p:spPr>
          <a:xfrm>
            <a:off x="9398028" y="6084355"/>
            <a:ext cx="2419502" cy="162763"/>
          </a:xfrm>
          <a:prstGeom prst="rect">
            <a:avLst/>
          </a:prstGeom>
          <a:noFill/>
          <a:ln/>
        </p:spPr>
        <p:txBody>
          <a:bodyPr wrap="square" lIns="0" tIns="0" rIns="0" bIns="0" rtlCol="0" anchor="ctr"/>
          <a:lstStyle/>
          <a:p>
            <a:pPr marL="0" indent="0" algn="l">
              <a:buNone/>
            </a:pPr>
            <a:r>
              <a:rPr lang="en-US" sz="900" dirty="0">
                <a:solidFill>
                  <a:srgbClr val="CBD5E1"/>
                </a:solidFill>
                <a:latin typeface="Noto Sans KR" pitchFamily="34" charset="0"/>
                <a:ea typeface="Noto Sans KR" pitchFamily="34" charset="-122"/>
                <a:cs typeface="Noto Sans KR" pitchFamily="34" charset="-120"/>
              </a:rPr>
              <a:t>Generated from RL Portfolio Project Results</a:t>
            </a:r>
            <a:endParaRPr lang="en-US" sz="900" dirty="0"/>
          </a:p>
        </p:txBody>
      </p:sp>
    </p:spTree>
    <p:extLst>
      <p:ext uri="{BB962C8B-B14F-4D97-AF65-F5344CB8AC3E}">
        <p14:creationId xmlns:p14="http://schemas.microsoft.com/office/powerpoint/2010/main" val="1460698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5" name="Shape 3"/>
          <p:cNvSpPr/>
          <p:nvPr/>
        </p:nvSpPr>
        <p:spPr>
          <a:xfrm>
            <a:off x="476402" y="5935308"/>
            <a:ext cx="1429207" cy="1429207"/>
          </a:xfrm>
          <a:prstGeom prst="ellipse">
            <a:avLst/>
          </a:prstGeom>
          <a:solidFill>
            <a:srgbClr val="8B5CF6">
              <a:alpha val="3000"/>
            </a:srgbClr>
          </a:solidFill>
          <a:ln/>
        </p:spPr>
      </p:sp>
      <p:sp>
        <p:nvSpPr>
          <p:cNvPr id="8" name="Text 6"/>
          <p:cNvSpPr txBox="1"/>
          <p:nvPr/>
        </p:nvSpPr>
        <p:spPr>
          <a:xfrm>
            <a:off x="571500" y="286207"/>
            <a:ext cx="7525512" cy="457200"/>
          </a:xfrm>
          <a:prstGeom prst="rect">
            <a:avLst/>
          </a:prstGeom>
          <a:noFill/>
          <a:ln/>
        </p:spPr>
        <p:txBody>
          <a:bodyPr wrap="square" lIns="0" tIns="0" rIns="0" bIns="0" rtlCol="0" anchor="ctr"/>
          <a:lstStyle/>
          <a:p>
            <a:pPr marL="0" indent="0" algn="l">
              <a:buNone/>
            </a:pPr>
            <a:r>
              <a:rPr lang="en-US" sz="2400" b="1" dirty="0">
                <a:solidFill>
                  <a:srgbClr val="111827"/>
                </a:solidFill>
                <a:latin typeface="Noto Sans KR" pitchFamily="34" charset="0"/>
                <a:ea typeface="Noto Sans KR" pitchFamily="34" charset="-122"/>
                <a:cs typeface="Noto Sans KR" pitchFamily="34" charset="-120"/>
              </a:rPr>
              <a:t>포트폴리오 </a:t>
            </a:r>
            <a:r>
              <a:rPr lang="en-US" sz="2400" b="1" dirty="0" err="1">
                <a:solidFill>
                  <a:srgbClr val="111827"/>
                </a:solidFill>
                <a:latin typeface="Noto Sans KR" pitchFamily="34" charset="0"/>
                <a:ea typeface="Noto Sans KR" pitchFamily="34" charset="-122"/>
                <a:cs typeface="Noto Sans KR" pitchFamily="34" charset="-120"/>
              </a:rPr>
              <a:t>비중</a:t>
            </a:r>
            <a:r>
              <a:rPr lang="en-US" sz="2400" b="1" dirty="0">
                <a:solidFill>
                  <a:srgbClr val="111827"/>
                </a:solidFill>
                <a:latin typeface="Noto Sans KR" pitchFamily="34" charset="0"/>
                <a:ea typeface="Noto Sans KR" pitchFamily="34" charset="-122"/>
                <a:cs typeface="Noto Sans KR" pitchFamily="34" charset="-120"/>
              </a:rPr>
              <a:t> </a:t>
            </a:r>
            <a:r>
              <a:rPr lang="en-US" sz="2400" b="1" dirty="0" err="1">
                <a:solidFill>
                  <a:srgbClr val="111827"/>
                </a:solidFill>
                <a:latin typeface="Noto Sans KR" pitchFamily="34" charset="0"/>
                <a:ea typeface="Noto Sans KR" pitchFamily="34" charset="-122"/>
                <a:cs typeface="Noto Sans KR" pitchFamily="34" charset="-120"/>
              </a:rPr>
              <a:t>변화</a:t>
            </a:r>
            <a:endParaRPr lang="en-US" sz="2400" dirty="0"/>
          </a:p>
        </p:txBody>
      </p:sp>
      <p:sp>
        <p:nvSpPr>
          <p:cNvPr id="10" name="Text 8"/>
          <p:cNvSpPr txBox="1"/>
          <p:nvPr/>
        </p:nvSpPr>
        <p:spPr>
          <a:xfrm>
            <a:off x="609905" y="846672"/>
            <a:ext cx="2500884" cy="247802"/>
          </a:xfrm>
          <a:prstGeom prst="rect">
            <a:avLst/>
          </a:prstGeom>
          <a:noFill/>
          <a:ln/>
        </p:spPr>
        <p:txBody>
          <a:bodyPr wrap="square" lIns="0" tIns="0" rIns="0" bIns="0" rtlCol="0" anchor="ctr"/>
          <a:lstStyle/>
          <a:p>
            <a:pPr marL="0" indent="0" algn="l">
              <a:buNone/>
            </a:pPr>
            <a:r>
              <a:rPr lang="en-US" sz="1300" b="1" dirty="0">
                <a:solidFill>
                  <a:srgbClr val="374151"/>
                </a:solidFill>
                <a:latin typeface="Noto Sans KR" pitchFamily="34" charset="0"/>
                <a:ea typeface="Noto Sans KR" pitchFamily="34" charset="-122"/>
                <a:cs typeface="Noto Sans KR" pitchFamily="34" charset="-120"/>
              </a:rPr>
              <a:t>Sector Allocation Over Time</a:t>
            </a:r>
            <a:endParaRPr lang="en-US" sz="1300" dirty="0"/>
          </a:p>
        </p:txBody>
      </p:sp>
      <p:pic>
        <p:nvPicPr>
          <p:cNvPr id="11" name="Image 0" descr="preencoded.png"/>
          <p:cNvPicPr>
            <a:picLocks noChangeAspect="1"/>
          </p:cNvPicPr>
          <p:nvPr/>
        </p:nvPicPr>
        <p:blipFill>
          <a:blip r:embed="rId3"/>
          <a:srcRect/>
          <a:stretch/>
        </p:blipFill>
        <p:spPr>
          <a:xfrm>
            <a:off x="3200270" y="938698"/>
            <a:ext cx="133502" cy="133502"/>
          </a:xfrm>
          <a:prstGeom prst="rect">
            <a:avLst/>
          </a:prstGeom>
        </p:spPr>
      </p:pic>
      <p:sp>
        <p:nvSpPr>
          <p:cNvPr id="12" name="Text 9"/>
          <p:cNvSpPr txBox="1"/>
          <p:nvPr/>
        </p:nvSpPr>
        <p:spPr>
          <a:xfrm>
            <a:off x="3409668" y="910352"/>
            <a:ext cx="2529230" cy="191110"/>
          </a:xfrm>
          <a:prstGeom prst="rect">
            <a:avLst/>
          </a:prstGeom>
          <a:noFill/>
          <a:ln/>
        </p:spPr>
        <p:txBody>
          <a:bodyPr wrap="square" lIns="0" tIns="0" rIns="0" bIns="0" rtlCol="0" anchor="ctr"/>
          <a:lstStyle/>
          <a:p>
            <a:pPr marL="0" indent="0" algn="l">
              <a:buNone/>
            </a:pPr>
            <a:r>
              <a:rPr lang="en-US" sz="1000" dirty="0">
                <a:solidFill>
                  <a:srgbClr val="6B7280"/>
                </a:solidFill>
                <a:latin typeface="Noto Sans KR" pitchFamily="34" charset="0"/>
                <a:ea typeface="Noto Sans KR" pitchFamily="34" charset="-122"/>
                <a:cs typeface="Noto Sans KR" pitchFamily="34" charset="-120"/>
              </a:rPr>
              <a:t>13개 자산(12 ETF + 현금)의 일일 비중 변화</a:t>
            </a:r>
            <a:endParaRPr lang="en-US" sz="1000" dirty="0"/>
          </a:p>
        </p:txBody>
      </p:sp>
      <p:sp>
        <p:nvSpPr>
          <p:cNvPr id="13" name="Shape 10"/>
          <p:cNvSpPr/>
          <p:nvPr/>
        </p:nvSpPr>
        <p:spPr>
          <a:xfrm>
            <a:off x="571500" y="1296458"/>
            <a:ext cx="6724423" cy="4729290"/>
          </a:xfrm>
          <a:prstGeom prst="roundRect">
            <a:avLst>
              <a:gd name="adj" fmla="val 452"/>
            </a:avLst>
          </a:prstGeom>
          <a:solidFill>
            <a:srgbClr val="F8FAFC"/>
          </a:solidFill>
          <a:ln w="25400">
            <a:solidFill>
              <a:srgbClr val="CBD5E1"/>
            </a:solidFill>
            <a:prstDash val="solid"/>
          </a:ln>
        </p:spPr>
      </p:sp>
      <p:pic>
        <p:nvPicPr>
          <p:cNvPr id="14" name="Image 1" descr="preencoded.png"/>
          <p:cNvPicPr>
            <a:picLocks noChangeAspect="1"/>
          </p:cNvPicPr>
          <p:nvPr/>
        </p:nvPicPr>
        <p:blipFill>
          <a:blip r:embed="rId4"/>
          <a:srcRect/>
          <a:stretch/>
        </p:blipFill>
        <p:spPr>
          <a:xfrm>
            <a:off x="590702" y="1314745"/>
            <a:ext cx="6692495" cy="4696583"/>
          </a:xfrm>
          <a:prstGeom prst="rect">
            <a:avLst/>
          </a:prstGeom>
        </p:spPr>
      </p:pic>
      <p:sp>
        <p:nvSpPr>
          <p:cNvPr id="15" name="Shape 11"/>
          <p:cNvSpPr/>
          <p:nvPr/>
        </p:nvSpPr>
        <p:spPr>
          <a:xfrm>
            <a:off x="571500" y="6184025"/>
            <a:ext cx="6711697" cy="352044"/>
          </a:xfrm>
          <a:prstGeom prst="roundRect">
            <a:avLst>
              <a:gd name="adj" fmla="val 56160"/>
            </a:avLst>
          </a:prstGeom>
          <a:solidFill>
            <a:srgbClr val="F8FAFC"/>
          </a:solidFill>
          <a:ln/>
        </p:spPr>
      </p:sp>
      <p:sp>
        <p:nvSpPr>
          <p:cNvPr id="16" name="Shape 12"/>
          <p:cNvSpPr/>
          <p:nvPr/>
        </p:nvSpPr>
        <p:spPr>
          <a:xfrm>
            <a:off x="666598" y="6310212"/>
            <a:ext cx="95098" cy="95098"/>
          </a:xfrm>
          <a:prstGeom prst="roundRect">
            <a:avLst>
              <a:gd name="adj" fmla="val 192307"/>
            </a:avLst>
          </a:prstGeom>
          <a:solidFill>
            <a:srgbClr val="9CA3AF"/>
          </a:solidFill>
          <a:ln/>
        </p:spPr>
      </p:sp>
      <p:sp>
        <p:nvSpPr>
          <p:cNvPr id="17" name="Text 13"/>
          <p:cNvSpPr txBox="1"/>
          <p:nvPr/>
        </p:nvSpPr>
        <p:spPr>
          <a:xfrm>
            <a:off x="809244" y="6279123"/>
            <a:ext cx="278892" cy="162763"/>
          </a:xfrm>
          <a:prstGeom prst="rect">
            <a:avLst/>
          </a:prstGeom>
          <a:noFill/>
          <a:ln/>
        </p:spPr>
        <p:txBody>
          <a:bodyPr wrap="square" lIns="0" tIns="0" rIns="0" bIns="0" rtlCol="0" anchor="ctr"/>
          <a:lstStyle/>
          <a:p>
            <a:pPr marL="0" indent="0" algn="l">
              <a:buNone/>
            </a:pPr>
            <a:r>
              <a:rPr lang="en-US" sz="800" dirty="0">
                <a:solidFill>
                  <a:srgbClr val="64748B"/>
                </a:solidFill>
                <a:latin typeface="Noto Sans KR" pitchFamily="34" charset="0"/>
                <a:ea typeface="Noto Sans KR" pitchFamily="34" charset="-122"/>
                <a:cs typeface="Noto Sans KR" pitchFamily="34" charset="-120"/>
              </a:rPr>
              <a:t>현금</a:t>
            </a:r>
            <a:endParaRPr lang="en-US" sz="800" dirty="0"/>
          </a:p>
        </p:txBody>
      </p:sp>
      <p:sp>
        <p:nvSpPr>
          <p:cNvPr id="18" name="Shape 14"/>
          <p:cNvSpPr/>
          <p:nvPr/>
        </p:nvSpPr>
        <p:spPr>
          <a:xfrm>
            <a:off x="1098194" y="6310212"/>
            <a:ext cx="95098" cy="95098"/>
          </a:xfrm>
          <a:prstGeom prst="roundRect">
            <a:avLst>
              <a:gd name="adj" fmla="val 192307"/>
            </a:avLst>
          </a:prstGeom>
          <a:solidFill>
            <a:srgbClr val="3B82F6"/>
          </a:solidFill>
          <a:ln/>
        </p:spPr>
      </p:sp>
      <p:sp>
        <p:nvSpPr>
          <p:cNvPr id="19" name="Text 15"/>
          <p:cNvSpPr txBox="1"/>
          <p:nvPr/>
        </p:nvSpPr>
        <p:spPr>
          <a:xfrm>
            <a:off x="1240841" y="6279123"/>
            <a:ext cx="507492" cy="162763"/>
          </a:xfrm>
          <a:prstGeom prst="rect">
            <a:avLst/>
          </a:prstGeom>
          <a:noFill/>
          <a:ln/>
        </p:spPr>
        <p:txBody>
          <a:bodyPr wrap="square" lIns="0" tIns="0" rIns="0" bIns="0" rtlCol="0" anchor="ctr"/>
          <a:lstStyle/>
          <a:p>
            <a:pPr marL="0" indent="0" algn="l">
              <a:buNone/>
            </a:pPr>
            <a:r>
              <a:rPr lang="en-US" sz="800" dirty="0">
                <a:solidFill>
                  <a:srgbClr val="64748B"/>
                </a:solidFill>
                <a:latin typeface="Noto Sans KR" pitchFamily="34" charset="0"/>
                <a:ea typeface="Noto Sans KR" pitchFamily="34" charset="-122"/>
                <a:cs typeface="Noto Sans KR" pitchFamily="34" charset="-120"/>
              </a:rPr>
              <a:t>IT/반도체</a:t>
            </a:r>
            <a:endParaRPr lang="en-US" sz="800" dirty="0"/>
          </a:p>
        </p:txBody>
      </p:sp>
      <p:sp>
        <p:nvSpPr>
          <p:cNvPr id="20" name="Shape 16"/>
          <p:cNvSpPr/>
          <p:nvPr/>
        </p:nvSpPr>
        <p:spPr>
          <a:xfrm>
            <a:off x="1759306" y="6310212"/>
            <a:ext cx="95098" cy="95098"/>
          </a:xfrm>
          <a:prstGeom prst="roundRect">
            <a:avLst>
              <a:gd name="adj" fmla="val 192307"/>
            </a:avLst>
          </a:prstGeom>
          <a:solidFill>
            <a:srgbClr val="10B981"/>
          </a:solidFill>
          <a:ln/>
        </p:spPr>
      </p:sp>
      <p:sp>
        <p:nvSpPr>
          <p:cNvPr id="21" name="Text 17"/>
          <p:cNvSpPr txBox="1"/>
          <p:nvPr/>
        </p:nvSpPr>
        <p:spPr>
          <a:xfrm>
            <a:off x="1902866" y="6279123"/>
            <a:ext cx="431597" cy="162763"/>
          </a:xfrm>
          <a:prstGeom prst="rect">
            <a:avLst/>
          </a:prstGeom>
          <a:noFill/>
          <a:ln/>
        </p:spPr>
        <p:txBody>
          <a:bodyPr wrap="square" lIns="0" tIns="0" rIns="0" bIns="0" rtlCol="0" anchor="ctr"/>
          <a:lstStyle/>
          <a:p>
            <a:pPr marL="0" indent="0" algn="l">
              <a:buNone/>
            </a:pPr>
            <a:r>
              <a:rPr lang="en-US" sz="800" dirty="0">
                <a:solidFill>
                  <a:srgbClr val="64748B"/>
                </a:solidFill>
                <a:latin typeface="Noto Sans KR" pitchFamily="34" charset="0"/>
                <a:ea typeface="Noto Sans KR" pitchFamily="34" charset="-122"/>
                <a:cs typeface="Noto Sans KR" pitchFamily="34" charset="-120"/>
              </a:rPr>
              <a:t>2차전지</a:t>
            </a:r>
            <a:endParaRPr lang="en-US" sz="800" dirty="0"/>
          </a:p>
        </p:txBody>
      </p:sp>
      <p:sp>
        <p:nvSpPr>
          <p:cNvPr id="22" name="Shape 18"/>
          <p:cNvSpPr/>
          <p:nvPr/>
        </p:nvSpPr>
        <p:spPr>
          <a:xfrm>
            <a:off x="2345436" y="6310212"/>
            <a:ext cx="95098" cy="95098"/>
          </a:xfrm>
          <a:prstGeom prst="roundRect">
            <a:avLst>
              <a:gd name="adj" fmla="val 192307"/>
            </a:avLst>
          </a:prstGeom>
          <a:solidFill>
            <a:srgbClr val="EF4444"/>
          </a:solidFill>
          <a:ln/>
        </p:spPr>
      </p:sp>
      <p:sp>
        <p:nvSpPr>
          <p:cNvPr id="23" name="Text 19"/>
          <p:cNvSpPr txBox="1"/>
          <p:nvPr/>
        </p:nvSpPr>
        <p:spPr>
          <a:xfrm>
            <a:off x="2488082" y="6279123"/>
            <a:ext cx="278892" cy="162763"/>
          </a:xfrm>
          <a:prstGeom prst="rect">
            <a:avLst/>
          </a:prstGeom>
          <a:noFill/>
          <a:ln/>
        </p:spPr>
        <p:txBody>
          <a:bodyPr wrap="square" lIns="0" tIns="0" rIns="0" bIns="0" rtlCol="0" anchor="ctr"/>
          <a:lstStyle/>
          <a:p>
            <a:pPr marL="0" indent="0" algn="l">
              <a:buNone/>
            </a:pPr>
            <a:r>
              <a:rPr lang="en-US" sz="800" dirty="0">
                <a:solidFill>
                  <a:srgbClr val="64748B"/>
                </a:solidFill>
                <a:latin typeface="Noto Sans KR" pitchFamily="34" charset="0"/>
                <a:ea typeface="Noto Sans KR" pitchFamily="34" charset="-122"/>
                <a:cs typeface="Noto Sans KR" pitchFamily="34" charset="-120"/>
              </a:rPr>
              <a:t>금융</a:t>
            </a:r>
            <a:endParaRPr lang="en-US" sz="800" dirty="0"/>
          </a:p>
        </p:txBody>
      </p:sp>
      <p:sp>
        <p:nvSpPr>
          <p:cNvPr id="24" name="Shape 20"/>
          <p:cNvSpPr/>
          <p:nvPr/>
        </p:nvSpPr>
        <p:spPr>
          <a:xfrm>
            <a:off x="2776118" y="6310212"/>
            <a:ext cx="95098" cy="95098"/>
          </a:xfrm>
          <a:prstGeom prst="roundRect">
            <a:avLst>
              <a:gd name="adj" fmla="val 192307"/>
            </a:avLst>
          </a:prstGeom>
          <a:solidFill>
            <a:srgbClr val="F59E0B"/>
          </a:solidFill>
          <a:ln/>
        </p:spPr>
      </p:sp>
      <p:sp>
        <p:nvSpPr>
          <p:cNvPr id="25" name="Text 21"/>
          <p:cNvSpPr txBox="1"/>
          <p:nvPr/>
        </p:nvSpPr>
        <p:spPr>
          <a:xfrm>
            <a:off x="2918765" y="6279123"/>
            <a:ext cx="470002" cy="162763"/>
          </a:xfrm>
          <a:prstGeom prst="rect">
            <a:avLst/>
          </a:prstGeom>
          <a:noFill/>
          <a:ln/>
        </p:spPr>
        <p:txBody>
          <a:bodyPr wrap="square" lIns="0" tIns="0" rIns="0" bIns="0" rtlCol="0" anchor="ctr"/>
          <a:lstStyle/>
          <a:p>
            <a:pPr marL="0" indent="0" algn="l">
              <a:buNone/>
            </a:pPr>
            <a:r>
              <a:rPr lang="en-US" sz="800" dirty="0">
                <a:solidFill>
                  <a:srgbClr val="64748B"/>
                </a:solidFill>
                <a:latin typeface="Noto Sans KR" pitchFamily="34" charset="0"/>
                <a:ea typeface="Noto Sans KR" pitchFamily="34" charset="-122"/>
                <a:cs typeface="Noto Sans KR" pitchFamily="34" charset="-120"/>
              </a:rPr>
              <a:t>헬스케어</a:t>
            </a:r>
            <a:endParaRPr lang="en-US" sz="800" dirty="0"/>
          </a:p>
        </p:txBody>
      </p:sp>
      <p:sp>
        <p:nvSpPr>
          <p:cNvPr id="26" name="Shape 22"/>
          <p:cNvSpPr/>
          <p:nvPr/>
        </p:nvSpPr>
        <p:spPr>
          <a:xfrm>
            <a:off x="3399739" y="6310212"/>
            <a:ext cx="95098" cy="95098"/>
          </a:xfrm>
          <a:prstGeom prst="roundRect">
            <a:avLst>
              <a:gd name="adj" fmla="val 192307"/>
            </a:avLst>
          </a:prstGeom>
          <a:solidFill>
            <a:srgbClr val="8B5CF6"/>
          </a:solidFill>
          <a:ln/>
        </p:spPr>
      </p:sp>
      <p:sp>
        <p:nvSpPr>
          <p:cNvPr id="27" name="Text 23"/>
          <p:cNvSpPr txBox="1"/>
          <p:nvPr/>
        </p:nvSpPr>
        <p:spPr>
          <a:xfrm>
            <a:off x="3543300" y="6279123"/>
            <a:ext cx="602590" cy="162763"/>
          </a:xfrm>
          <a:prstGeom prst="rect">
            <a:avLst/>
          </a:prstGeom>
          <a:noFill/>
          <a:ln/>
        </p:spPr>
        <p:txBody>
          <a:bodyPr wrap="square" lIns="0" tIns="0" rIns="0" bIns="0" rtlCol="0" anchor="ctr"/>
          <a:lstStyle/>
          <a:p>
            <a:pPr marL="0" indent="0" algn="l">
              <a:buNone/>
            </a:pPr>
            <a:r>
              <a:rPr lang="en-US" sz="800" dirty="0">
                <a:solidFill>
                  <a:srgbClr val="64748B"/>
                </a:solidFill>
                <a:latin typeface="Noto Sans KR" pitchFamily="34" charset="0"/>
                <a:ea typeface="Noto Sans KR" pitchFamily="34" charset="-122"/>
                <a:cs typeface="Noto Sans KR" pitchFamily="34" charset="-120"/>
              </a:rPr>
              <a:t>에너지/소재</a:t>
            </a:r>
            <a:endParaRPr lang="en-US" sz="800" dirty="0"/>
          </a:p>
        </p:txBody>
      </p:sp>
      <p:sp>
        <p:nvSpPr>
          <p:cNvPr id="28" name="Shape 24"/>
          <p:cNvSpPr/>
          <p:nvPr/>
        </p:nvSpPr>
        <p:spPr>
          <a:xfrm>
            <a:off x="4161434" y="6310212"/>
            <a:ext cx="95098" cy="95098"/>
          </a:xfrm>
          <a:prstGeom prst="roundRect">
            <a:avLst>
              <a:gd name="adj" fmla="val 192307"/>
            </a:avLst>
          </a:prstGeom>
          <a:solidFill>
            <a:srgbClr val="EC4899"/>
          </a:solidFill>
          <a:ln/>
        </p:spPr>
      </p:sp>
      <p:sp>
        <p:nvSpPr>
          <p:cNvPr id="29" name="Text 25"/>
          <p:cNvSpPr txBox="1"/>
          <p:nvPr/>
        </p:nvSpPr>
        <p:spPr>
          <a:xfrm>
            <a:off x="4304081" y="6279123"/>
            <a:ext cx="602590" cy="162763"/>
          </a:xfrm>
          <a:prstGeom prst="rect">
            <a:avLst/>
          </a:prstGeom>
          <a:noFill/>
          <a:ln/>
        </p:spPr>
        <p:txBody>
          <a:bodyPr wrap="square" lIns="0" tIns="0" rIns="0" bIns="0" rtlCol="0" anchor="ctr"/>
          <a:lstStyle/>
          <a:p>
            <a:pPr marL="0" indent="0" algn="l">
              <a:buNone/>
            </a:pPr>
            <a:r>
              <a:rPr lang="en-US" sz="800" dirty="0">
                <a:solidFill>
                  <a:srgbClr val="64748B"/>
                </a:solidFill>
                <a:latin typeface="Noto Sans KR" pitchFamily="34" charset="0"/>
                <a:ea typeface="Noto Sans KR" pitchFamily="34" charset="-122"/>
                <a:cs typeface="Noto Sans KR" pitchFamily="34" charset="-120"/>
              </a:rPr>
              <a:t>방산/산업재</a:t>
            </a:r>
            <a:endParaRPr lang="en-US" sz="800" dirty="0"/>
          </a:p>
        </p:txBody>
      </p:sp>
      <p:sp>
        <p:nvSpPr>
          <p:cNvPr id="30" name="Shape 26"/>
          <p:cNvSpPr/>
          <p:nvPr/>
        </p:nvSpPr>
        <p:spPr>
          <a:xfrm>
            <a:off x="8126578" y="836613"/>
            <a:ext cx="2876702" cy="1457554"/>
          </a:xfrm>
          <a:prstGeom prst="roundRect">
            <a:avLst>
              <a:gd name="adj" fmla="val 4920"/>
            </a:avLst>
          </a:prstGeom>
          <a:solidFill>
            <a:srgbClr val="FFFFFF"/>
          </a:solidFill>
          <a:ln w="12700">
            <a:solidFill>
              <a:srgbClr val="E5E7EB"/>
            </a:solidFill>
            <a:prstDash val="solid"/>
          </a:ln>
          <a:effectLst>
            <a:outerShdw blurRad="63500" dist="38100" dir="5400000" algn="bl" rotWithShape="0">
              <a:srgbClr val="000000">
                <a:alpha val="5000"/>
              </a:srgbClr>
            </a:outerShdw>
          </a:effectLst>
        </p:spPr>
      </p:sp>
      <p:pic>
        <p:nvPicPr>
          <p:cNvPr id="31" name="Image 2" descr="preencoded.png"/>
          <p:cNvPicPr>
            <a:picLocks noChangeAspect="1"/>
          </p:cNvPicPr>
          <p:nvPr/>
        </p:nvPicPr>
        <p:blipFill>
          <a:blip r:embed="rId5"/>
          <a:srcRect/>
          <a:stretch/>
        </p:blipFill>
        <p:spPr>
          <a:xfrm>
            <a:off x="8374380" y="1118248"/>
            <a:ext cx="133502" cy="133502"/>
          </a:xfrm>
          <a:prstGeom prst="rect">
            <a:avLst/>
          </a:prstGeom>
        </p:spPr>
      </p:pic>
      <p:sp>
        <p:nvSpPr>
          <p:cNvPr id="32" name="Text 27"/>
          <p:cNvSpPr txBox="1"/>
          <p:nvPr/>
        </p:nvSpPr>
        <p:spPr>
          <a:xfrm>
            <a:off x="8583778" y="1084416"/>
            <a:ext cx="2005279" cy="200254"/>
          </a:xfrm>
          <a:prstGeom prst="rect">
            <a:avLst/>
          </a:prstGeom>
          <a:noFill/>
          <a:ln/>
        </p:spPr>
        <p:txBody>
          <a:bodyPr wrap="square" lIns="0" tIns="0" rIns="0" bIns="0" rtlCol="0" anchor="ctr"/>
          <a:lstStyle/>
          <a:p>
            <a:pPr marL="0" indent="0" algn="l">
              <a:buNone/>
            </a:pPr>
            <a:r>
              <a:rPr lang="en-US" sz="1000" dirty="0">
                <a:solidFill>
                  <a:srgbClr val="6B7280"/>
                </a:solidFill>
                <a:latin typeface="Noto Sans KR" pitchFamily="34" charset="0"/>
                <a:ea typeface="Noto Sans KR" pitchFamily="34" charset="-122"/>
                <a:cs typeface="Noto Sans KR" pitchFamily="34" charset="-120"/>
              </a:rPr>
              <a:t>섹터 로테이션 (Sector Rotation)</a:t>
            </a:r>
            <a:endParaRPr lang="en-US" sz="1000" dirty="0"/>
          </a:p>
        </p:txBody>
      </p:sp>
      <p:sp>
        <p:nvSpPr>
          <p:cNvPr id="33" name="Text 28"/>
          <p:cNvSpPr txBox="1"/>
          <p:nvPr/>
        </p:nvSpPr>
        <p:spPr>
          <a:xfrm>
            <a:off x="8374380" y="1332218"/>
            <a:ext cx="1090879" cy="305410"/>
          </a:xfrm>
          <a:prstGeom prst="rect">
            <a:avLst/>
          </a:prstGeom>
          <a:noFill/>
          <a:ln/>
        </p:spPr>
        <p:txBody>
          <a:bodyPr wrap="square" lIns="0" tIns="0" rIns="0" bIns="0" rtlCol="0" anchor="ctr"/>
          <a:lstStyle/>
          <a:p>
            <a:pPr marL="0" indent="0" algn="l">
              <a:buNone/>
            </a:pPr>
            <a:r>
              <a:rPr lang="en-US" sz="1600" b="1" dirty="0">
                <a:solidFill>
                  <a:srgbClr val="1F2937"/>
                </a:solidFill>
                <a:latin typeface="Noto Sans KR" pitchFamily="34" charset="0"/>
                <a:ea typeface="Noto Sans KR" pitchFamily="34" charset="-122"/>
                <a:cs typeface="Noto Sans KR" pitchFamily="34" charset="-120"/>
              </a:rPr>
              <a:t>Dynamic</a:t>
            </a:r>
            <a:endParaRPr lang="en-US" sz="1600" dirty="0"/>
          </a:p>
        </p:txBody>
      </p:sp>
      <p:sp>
        <p:nvSpPr>
          <p:cNvPr id="34" name="Text 29"/>
          <p:cNvSpPr txBox="1"/>
          <p:nvPr/>
        </p:nvSpPr>
        <p:spPr>
          <a:xfrm>
            <a:off x="8374380" y="1684262"/>
            <a:ext cx="1341425" cy="181051"/>
          </a:xfrm>
          <a:prstGeom prst="rect">
            <a:avLst/>
          </a:prstGeom>
          <a:noFill/>
          <a:ln/>
        </p:spPr>
        <p:txBody>
          <a:bodyPr wrap="square" lIns="0" tIns="0" rIns="0" bIns="0" rtlCol="0" anchor="ctr"/>
          <a:lstStyle/>
          <a:p>
            <a:pPr marL="0" indent="0" algn="l">
              <a:buNone/>
            </a:pPr>
            <a:r>
              <a:rPr lang="en-US" sz="900" dirty="0">
                <a:solidFill>
                  <a:srgbClr val="6B7280"/>
                </a:solidFill>
                <a:latin typeface="Noto Sans KR" pitchFamily="34" charset="0"/>
                <a:ea typeface="Noto Sans KR" pitchFamily="34" charset="-122"/>
                <a:cs typeface="Noto Sans KR" pitchFamily="34" charset="-120"/>
              </a:rPr>
              <a:t>시장 주도주 변화에 따른</a:t>
            </a:r>
            <a:endParaRPr lang="en-US" sz="900" dirty="0"/>
          </a:p>
        </p:txBody>
      </p:sp>
      <p:sp>
        <p:nvSpPr>
          <p:cNvPr id="35" name="Text 30"/>
          <p:cNvSpPr txBox="1"/>
          <p:nvPr/>
        </p:nvSpPr>
        <p:spPr>
          <a:xfrm>
            <a:off x="8374380" y="1857998"/>
            <a:ext cx="1607515" cy="181051"/>
          </a:xfrm>
          <a:prstGeom prst="rect">
            <a:avLst/>
          </a:prstGeom>
          <a:noFill/>
          <a:ln/>
        </p:spPr>
        <p:txBody>
          <a:bodyPr wrap="square" lIns="0" tIns="0" rIns="0" bIns="0" rtlCol="0" anchor="ctr"/>
          <a:lstStyle/>
          <a:p>
            <a:pPr marL="0" indent="0" algn="l">
              <a:buNone/>
            </a:pPr>
            <a:r>
              <a:rPr lang="en-US" sz="900" dirty="0">
                <a:solidFill>
                  <a:srgbClr val="6B7280"/>
                </a:solidFill>
                <a:latin typeface="Noto Sans KR" pitchFamily="34" charset="0"/>
                <a:ea typeface="Noto Sans KR" pitchFamily="34" charset="-122"/>
                <a:cs typeface="Noto Sans KR" pitchFamily="34" charset="-120"/>
              </a:rPr>
              <a:t>능동적인 비중 조절 패턴 관찰</a:t>
            </a:r>
            <a:endParaRPr lang="en-US" sz="900" dirty="0"/>
          </a:p>
        </p:txBody>
      </p:sp>
      <p:sp>
        <p:nvSpPr>
          <p:cNvPr id="36" name="Shape 31"/>
          <p:cNvSpPr/>
          <p:nvPr/>
        </p:nvSpPr>
        <p:spPr>
          <a:xfrm>
            <a:off x="8126578" y="2478876"/>
            <a:ext cx="2876702" cy="1457554"/>
          </a:xfrm>
          <a:prstGeom prst="roundRect">
            <a:avLst>
              <a:gd name="adj" fmla="val 4920"/>
            </a:avLst>
          </a:prstGeom>
          <a:solidFill>
            <a:srgbClr val="F0FDF4"/>
          </a:solidFill>
          <a:ln w="12700">
            <a:solidFill>
              <a:srgbClr val="10B981"/>
            </a:solidFill>
            <a:prstDash val="solid"/>
          </a:ln>
          <a:effectLst>
            <a:outerShdw blurRad="63500" dist="38100" dir="5400000" algn="bl" rotWithShape="0">
              <a:srgbClr val="000000">
                <a:alpha val="5000"/>
              </a:srgbClr>
            </a:outerShdw>
          </a:effectLst>
        </p:spPr>
      </p:sp>
      <p:pic>
        <p:nvPicPr>
          <p:cNvPr id="37" name="Image 3" descr="preencoded.png"/>
          <p:cNvPicPr>
            <a:picLocks noChangeAspect="1"/>
          </p:cNvPicPr>
          <p:nvPr/>
        </p:nvPicPr>
        <p:blipFill>
          <a:blip r:embed="rId6"/>
          <a:srcRect/>
          <a:stretch/>
        </p:blipFill>
        <p:spPr>
          <a:xfrm>
            <a:off x="8374380" y="2760511"/>
            <a:ext cx="133502" cy="133502"/>
          </a:xfrm>
          <a:prstGeom prst="rect">
            <a:avLst/>
          </a:prstGeom>
        </p:spPr>
      </p:pic>
      <p:sp>
        <p:nvSpPr>
          <p:cNvPr id="38" name="Text 32"/>
          <p:cNvSpPr txBox="1"/>
          <p:nvPr/>
        </p:nvSpPr>
        <p:spPr>
          <a:xfrm>
            <a:off x="8583778" y="2726678"/>
            <a:ext cx="1519733" cy="200254"/>
          </a:xfrm>
          <a:prstGeom prst="rect">
            <a:avLst/>
          </a:prstGeom>
          <a:noFill/>
          <a:ln/>
        </p:spPr>
        <p:txBody>
          <a:bodyPr wrap="square" lIns="0" tIns="0" rIns="0" bIns="0" rtlCol="0" anchor="ctr"/>
          <a:lstStyle/>
          <a:p>
            <a:pPr marL="0" indent="0" algn="l">
              <a:buNone/>
            </a:pPr>
            <a:r>
              <a:rPr lang="en-US" sz="1000" dirty="0">
                <a:solidFill>
                  <a:srgbClr val="6B7280"/>
                </a:solidFill>
                <a:latin typeface="Noto Sans KR" pitchFamily="34" charset="0"/>
                <a:ea typeface="Noto Sans KR" pitchFamily="34" charset="-122"/>
                <a:cs typeface="Noto Sans KR" pitchFamily="34" charset="-120"/>
              </a:rPr>
              <a:t>현금의 역할 (Cash Role)</a:t>
            </a:r>
            <a:endParaRPr lang="en-US" sz="1000" dirty="0"/>
          </a:p>
        </p:txBody>
      </p:sp>
      <p:sp>
        <p:nvSpPr>
          <p:cNvPr id="39" name="Text 33"/>
          <p:cNvSpPr txBox="1"/>
          <p:nvPr/>
        </p:nvSpPr>
        <p:spPr>
          <a:xfrm>
            <a:off x="8374380" y="2974480"/>
            <a:ext cx="1338682" cy="305410"/>
          </a:xfrm>
          <a:prstGeom prst="rect">
            <a:avLst/>
          </a:prstGeom>
          <a:noFill/>
          <a:ln/>
        </p:spPr>
        <p:txBody>
          <a:bodyPr wrap="square" lIns="0" tIns="0" rIns="0" bIns="0" rtlCol="0" anchor="ctr"/>
          <a:lstStyle/>
          <a:p>
            <a:pPr marL="0" indent="0" algn="l">
              <a:buNone/>
            </a:pPr>
            <a:r>
              <a:rPr lang="en-US" sz="1600" b="1" dirty="0">
                <a:solidFill>
                  <a:srgbClr val="1F2937"/>
                </a:solidFill>
                <a:latin typeface="Noto Sans KR" pitchFamily="34" charset="0"/>
                <a:ea typeface="Noto Sans KR" pitchFamily="34" charset="-122"/>
                <a:cs typeface="Noto Sans KR" pitchFamily="34" charset="-120"/>
              </a:rPr>
              <a:t>Risk Buffer</a:t>
            </a:r>
            <a:endParaRPr lang="en-US" sz="1600" dirty="0"/>
          </a:p>
        </p:txBody>
      </p:sp>
      <p:sp>
        <p:nvSpPr>
          <p:cNvPr id="40" name="Text 34"/>
          <p:cNvSpPr txBox="1"/>
          <p:nvPr/>
        </p:nvSpPr>
        <p:spPr>
          <a:xfrm>
            <a:off x="8374380" y="3326524"/>
            <a:ext cx="1721815" cy="181051"/>
          </a:xfrm>
          <a:prstGeom prst="rect">
            <a:avLst/>
          </a:prstGeom>
          <a:noFill/>
          <a:ln/>
        </p:spPr>
        <p:txBody>
          <a:bodyPr wrap="square" lIns="0" tIns="0" rIns="0" bIns="0" rtlCol="0" anchor="ctr"/>
          <a:lstStyle/>
          <a:p>
            <a:pPr marL="0" indent="0" algn="l">
              <a:buNone/>
            </a:pPr>
            <a:r>
              <a:rPr lang="en-US" sz="900" dirty="0">
                <a:solidFill>
                  <a:srgbClr val="6B7280"/>
                </a:solidFill>
                <a:latin typeface="Noto Sans KR" pitchFamily="34" charset="0"/>
                <a:ea typeface="Noto Sans KR" pitchFamily="34" charset="-122"/>
                <a:cs typeface="Noto Sans KR" pitchFamily="34" charset="-120"/>
              </a:rPr>
              <a:t>하락장 및 변동성 확대 구간에서</a:t>
            </a:r>
            <a:endParaRPr lang="en-US" sz="900" dirty="0"/>
          </a:p>
        </p:txBody>
      </p:sp>
      <p:sp>
        <p:nvSpPr>
          <p:cNvPr id="41" name="Text 35"/>
          <p:cNvSpPr txBox="1"/>
          <p:nvPr/>
        </p:nvSpPr>
        <p:spPr>
          <a:xfrm>
            <a:off x="8374380" y="3500260"/>
            <a:ext cx="1607515" cy="181051"/>
          </a:xfrm>
          <a:prstGeom prst="rect">
            <a:avLst/>
          </a:prstGeom>
          <a:noFill/>
          <a:ln/>
        </p:spPr>
        <p:txBody>
          <a:bodyPr wrap="square" lIns="0" tIns="0" rIns="0" bIns="0" rtlCol="0" anchor="ctr"/>
          <a:lstStyle/>
          <a:p>
            <a:pPr marL="0" indent="0" algn="l">
              <a:buNone/>
            </a:pPr>
            <a:r>
              <a:rPr lang="en-US" sz="900" dirty="0">
                <a:solidFill>
                  <a:srgbClr val="6B7280"/>
                </a:solidFill>
                <a:latin typeface="Noto Sans KR" pitchFamily="34" charset="0"/>
                <a:ea typeface="Noto Sans KR" pitchFamily="34" charset="-122"/>
                <a:cs typeface="Noto Sans KR" pitchFamily="34" charset="-120"/>
              </a:rPr>
              <a:t>현금 비중 확대로 방어적 운용</a:t>
            </a:r>
            <a:endParaRPr lang="en-US" sz="900" dirty="0"/>
          </a:p>
        </p:txBody>
      </p:sp>
      <p:sp>
        <p:nvSpPr>
          <p:cNvPr id="42" name="Shape 36"/>
          <p:cNvSpPr/>
          <p:nvPr/>
        </p:nvSpPr>
        <p:spPr>
          <a:xfrm>
            <a:off x="8126578" y="4184232"/>
            <a:ext cx="2876702" cy="2200046"/>
          </a:xfrm>
          <a:prstGeom prst="roundRect">
            <a:avLst>
              <a:gd name="adj" fmla="val 2159"/>
            </a:avLst>
          </a:prstGeom>
          <a:solidFill>
            <a:srgbClr val="F9FAFB"/>
          </a:solidFill>
          <a:ln/>
        </p:spPr>
      </p:sp>
      <p:sp>
        <p:nvSpPr>
          <p:cNvPr id="43" name="Shape 37"/>
          <p:cNvSpPr/>
          <p:nvPr/>
        </p:nvSpPr>
        <p:spPr>
          <a:xfrm>
            <a:off x="8126578" y="4184232"/>
            <a:ext cx="38405" cy="2200046"/>
          </a:xfrm>
          <a:prstGeom prst="rect">
            <a:avLst/>
          </a:prstGeom>
          <a:solidFill>
            <a:srgbClr val="8B5CF6"/>
          </a:solidFill>
          <a:ln/>
        </p:spPr>
      </p:sp>
      <p:pic>
        <p:nvPicPr>
          <p:cNvPr id="44" name="Image 4" descr="preencoded.png"/>
          <p:cNvPicPr>
            <a:picLocks noChangeAspect="1"/>
          </p:cNvPicPr>
          <p:nvPr/>
        </p:nvPicPr>
        <p:blipFill>
          <a:blip r:embed="rId7"/>
          <a:srcRect/>
          <a:stretch/>
        </p:blipFill>
        <p:spPr>
          <a:xfrm>
            <a:off x="8355178" y="4412832"/>
            <a:ext cx="152705" cy="152705"/>
          </a:xfrm>
          <a:prstGeom prst="rect">
            <a:avLst/>
          </a:prstGeom>
        </p:spPr>
      </p:pic>
      <p:sp>
        <p:nvSpPr>
          <p:cNvPr id="45" name="Text 38"/>
          <p:cNvSpPr txBox="1"/>
          <p:nvPr/>
        </p:nvSpPr>
        <p:spPr>
          <a:xfrm>
            <a:off x="8583778" y="4374428"/>
            <a:ext cx="724205" cy="228600"/>
          </a:xfrm>
          <a:prstGeom prst="rect">
            <a:avLst/>
          </a:prstGeom>
          <a:noFill/>
          <a:ln/>
        </p:spPr>
        <p:txBody>
          <a:bodyPr wrap="square" lIns="0" tIns="0" rIns="0" bIns="0" rtlCol="0" anchor="ctr"/>
          <a:lstStyle/>
          <a:p>
            <a:pPr marL="0" indent="0" algn="l">
              <a:buNone/>
            </a:pPr>
            <a:r>
              <a:rPr lang="en-US" sz="1200" b="1" dirty="0">
                <a:solidFill>
                  <a:srgbClr val="1F2937"/>
                </a:solidFill>
                <a:latin typeface="Noto Sans KR" pitchFamily="34" charset="0"/>
                <a:ea typeface="Noto Sans KR" pitchFamily="34" charset="-122"/>
                <a:cs typeface="Noto Sans KR" pitchFamily="34" charset="-120"/>
              </a:rPr>
              <a:t>패턴 분석</a:t>
            </a:r>
            <a:endParaRPr lang="en-US" sz="1200" dirty="0"/>
          </a:p>
        </p:txBody>
      </p:sp>
      <p:sp>
        <p:nvSpPr>
          <p:cNvPr id="46" name="Text 39"/>
          <p:cNvSpPr txBox="1"/>
          <p:nvPr/>
        </p:nvSpPr>
        <p:spPr>
          <a:xfrm>
            <a:off x="8355178" y="4707269"/>
            <a:ext cx="2500884" cy="1476756"/>
          </a:xfrm>
          <a:prstGeom prst="rect">
            <a:avLst/>
          </a:prstGeom>
          <a:noFill/>
          <a:ln/>
        </p:spPr>
        <p:txBody>
          <a:bodyPr wrap="square" lIns="0" tIns="0" rIns="0" bIns="0" rtlCol="0" anchor="ctr"/>
          <a:lstStyle/>
          <a:p>
            <a:pPr marL="0" indent="0" algn="l">
              <a:buNone/>
            </a:pPr>
            <a:r>
              <a:rPr lang="en-US" sz="1000" dirty="0">
                <a:solidFill>
                  <a:srgbClr val="4B5563"/>
                </a:solidFill>
                <a:latin typeface="Noto Sans KR" pitchFamily="34" charset="0"/>
                <a:ea typeface="Noto Sans KR" pitchFamily="34" charset="-122"/>
                <a:cs typeface="Noto Sans KR" pitchFamily="34" charset="-120"/>
              </a:rPr>
              <a:t>RL Agent는 단순히 특정 섹터를 보유하는 것이 아니라, 시장 상황 변화에 따라 주도 섹터로 비중을 옮기는 로테이션 전략을 구사했습니다. 특히 급격한 하락 구간에서는 현금 비중을 늘려 자산 가치를 방어하고 MDD를 관리하는 리스크 회피 동작이 확인되었습니다.</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5" name="Shape 3"/>
          <p:cNvSpPr/>
          <p:nvPr/>
        </p:nvSpPr>
        <p:spPr>
          <a:xfrm>
            <a:off x="-476402" y="4476902"/>
            <a:ext cx="1904695" cy="1904695"/>
          </a:xfrm>
          <a:prstGeom prst="ellipse">
            <a:avLst/>
          </a:prstGeom>
          <a:solidFill>
            <a:srgbClr val="2563EB">
              <a:alpha val="3000"/>
            </a:srgbClr>
          </a:solidFill>
          <a:ln/>
        </p:spPr>
      </p:sp>
      <p:sp>
        <p:nvSpPr>
          <p:cNvPr id="8" name="Text 6"/>
          <p:cNvSpPr txBox="1"/>
          <p:nvPr/>
        </p:nvSpPr>
        <p:spPr>
          <a:xfrm>
            <a:off x="571500" y="261518"/>
            <a:ext cx="4114800" cy="457200"/>
          </a:xfrm>
          <a:prstGeom prst="rect">
            <a:avLst/>
          </a:prstGeom>
          <a:noFill/>
          <a:ln/>
        </p:spPr>
        <p:txBody>
          <a:bodyPr wrap="square" lIns="0" tIns="0" rIns="0" bIns="0" rtlCol="0" anchor="ctr"/>
          <a:lstStyle/>
          <a:p>
            <a:pPr marL="0" indent="0" algn="l">
              <a:buNone/>
            </a:pPr>
            <a:r>
              <a:rPr lang="en-US" sz="2400" b="1" dirty="0" err="1">
                <a:solidFill>
                  <a:srgbClr val="111827"/>
                </a:solidFill>
                <a:latin typeface="Noto Sans KR" pitchFamily="34" charset="0"/>
                <a:ea typeface="Noto Sans KR" pitchFamily="34" charset="-122"/>
                <a:cs typeface="Noto Sans KR" pitchFamily="34" charset="-120"/>
              </a:rPr>
              <a:t>결과</a:t>
            </a:r>
            <a:r>
              <a:rPr lang="en-US" sz="2400" b="1" dirty="0">
                <a:solidFill>
                  <a:srgbClr val="111827"/>
                </a:solidFill>
                <a:latin typeface="Noto Sans KR" pitchFamily="34" charset="0"/>
                <a:ea typeface="Noto Sans KR" pitchFamily="34" charset="-122"/>
                <a:cs typeface="Noto Sans KR" pitchFamily="34" charset="-120"/>
              </a:rPr>
              <a:t> </a:t>
            </a:r>
            <a:r>
              <a:rPr lang="en-US" sz="2400" b="1" dirty="0" err="1">
                <a:solidFill>
                  <a:srgbClr val="111827"/>
                </a:solidFill>
                <a:latin typeface="Noto Sans KR" pitchFamily="34" charset="0"/>
                <a:ea typeface="Noto Sans KR" pitchFamily="34" charset="-122"/>
                <a:cs typeface="Noto Sans KR" pitchFamily="34" charset="-120"/>
              </a:rPr>
              <a:t>분석</a:t>
            </a:r>
            <a:endParaRPr lang="en-US" sz="2400" dirty="0"/>
          </a:p>
        </p:txBody>
      </p:sp>
      <p:sp>
        <p:nvSpPr>
          <p:cNvPr id="10" name="Shape 8"/>
          <p:cNvSpPr/>
          <p:nvPr/>
        </p:nvSpPr>
        <p:spPr>
          <a:xfrm>
            <a:off x="571500" y="1042416"/>
            <a:ext cx="5876849" cy="1552651"/>
          </a:xfrm>
          <a:prstGeom prst="roundRect">
            <a:avLst>
              <a:gd name="adj" fmla="val 4336"/>
            </a:avLst>
          </a:prstGeom>
          <a:solidFill>
            <a:srgbClr val="EFF6FF"/>
          </a:solidFill>
          <a:ln w="12700">
            <a:solidFill>
              <a:srgbClr val="BFDBFE"/>
            </a:solidFill>
            <a:prstDash val="solid"/>
          </a:ln>
        </p:spPr>
      </p:sp>
      <p:pic>
        <p:nvPicPr>
          <p:cNvPr id="11" name="Image 0" descr="preencoded.png"/>
          <p:cNvPicPr>
            <a:picLocks noChangeAspect="1"/>
          </p:cNvPicPr>
          <p:nvPr/>
        </p:nvPicPr>
        <p:blipFill>
          <a:blip r:embed="rId3"/>
          <a:srcRect l="-837" r="-837"/>
          <a:stretch/>
        </p:blipFill>
        <p:spPr>
          <a:xfrm>
            <a:off x="819302" y="1325880"/>
            <a:ext cx="152705" cy="133502"/>
          </a:xfrm>
          <a:prstGeom prst="rect">
            <a:avLst/>
          </a:prstGeom>
        </p:spPr>
      </p:pic>
      <p:sp>
        <p:nvSpPr>
          <p:cNvPr id="12" name="Text 9"/>
          <p:cNvSpPr txBox="1"/>
          <p:nvPr/>
        </p:nvSpPr>
        <p:spPr>
          <a:xfrm>
            <a:off x="1047902" y="1290218"/>
            <a:ext cx="1129284" cy="191110"/>
          </a:xfrm>
          <a:prstGeom prst="rect">
            <a:avLst/>
          </a:prstGeom>
          <a:noFill/>
          <a:ln/>
        </p:spPr>
        <p:txBody>
          <a:bodyPr wrap="square" lIns="0" tIns="0" rIns="0" bIns="0" rtlCol="0" anchor="ctr"/>
          <a:lstStyle/>
          <a:p>
            <a:pPr marL="0" indent="0" algn="l">
              <a:buNone/>
            </a:pPr>
            <a:r>
              <a:rPr lang="en-US" sz="1000" b="1" dirty="0">
                <a:solidFill>
                  <a:srgbClr val="1E3A8A"/>
                </a:solidFill>
                <a:latin typeface="Noto Sans KR" pitchFamily="34" charset="0"/>
                <a:ea typeface="Noto Sans KR" pitchFamily="34" charset="-122"/>
                <a:cs typeface="Noto Sans KR" pitchFamily="34" charset="-120"/>
              </a:rPr>
              <a:t>PROFITABILITY</a:t>
            </a:r>
            <a:endParaRPr lang="en-US" sz="1000" dirty="0"/>
          </a:p>
        </p:txBody>
      </p:sp>
      <p:sp>
        <p:nvSpPr>
          <p:cNvPr id="13" name="Text 10"/>
          <p:cNvSpPr txBox="1"/>
          <p:nvPr/>
        </p:nvSpPr>
        <p:spPr>
          <a:xfrm>
            <a:off x="819302" y="1490472"/>
            <a:ext cx="2062886" cy="581558"/>
          </a:xfrm>
          <a:prstGeom prst="rect">
            <a:avLst/>
          </a:prstGeom>
          <a:noFill/>
          <a:ln/>
        </p:spPr>
        <p:txBody>
          <a:bodyPr wrap="square" lIns="0" tIns="0" rIns="0" bIns="0" rtlCol="0" anchor="ctr"/>
          <a:lstStyle/>
          <a:p>
            <a:pPr marL="0" indent="0" algn="l">
              <a:buNone/>
            </a:pPr>
            <a:r>
              <a:rPr lang="en-US" sz="3100" b="1" dirty="0">
                <a:solidFill>
                  <a:srgbClr val="1E40AF"/>
                </a:solidFill>
                <a:latin typeface="Noto Sans KR" pitchFamily="34" charset="0"/>
                <a:ea typeface="Noto Sans KR" pitchFamily="34" charset="-122"/>
                <a:cs typeface="Noto Sans KR" pitchFamily="34" charset="-120"/>
              </a:rPr>
              <a:t>108.03%</a:t>
            </a:r>
            <a:endParaRPr lang="en-US" sz="3100" dirty="0"/>
          </a:p>
        </p:txBody>
      </p:sp>
      <p:sp>
        <p:nvSpPr>
          <p:cNvPr id="14" name="Text 11"/>
          <p:cNvSpPr txBox="1"/>
          <p:nvPr/>
        </p:nvSpPr>
        <p:spPr>
          <a:xfrm>
            <a:off x="819302" y="2128723"/>
            <a:ext cx="1641348" cy="200254"/>
          </a:xfrm>
          <a:prstGeom prst="rect">
            <a:avLst/>
          </a:prstGeom>
          <a:noFill/>
          <a:ln/>
        </p:spPr>
        <p:txBody>
          <a:bodyPr wrap="square" lIns="0" tIns="0" rIns="0" bIns="0" rtlCol="0" anchor="ctr"/>
          <a:lstStyle/>
          <a:p>
            <a:pPr marL="0" indent="0" algn="l">
              <a:buNone/>
            </a:pPr>
            <a:r>
              <a:rPr lang="en-US" sz="1100" dirty="0">
                <a:solidFill>
                  <a:srgbClr val="3B82F6"/>
                </a:solidFill>
                <a:latin typeface="Noto Sans KR" pitchFamily="34" charset="0"/>
                <a:ea typeface="Noto Sans KR" pitchFamily="34" charset="-122"/>
                <a:cs typeface="Noto Sans KR" pitchFamily="34" charset="-120"/>
              </a:rPr>
              <a:t>Baseline (27.05%) 대비</a:t>
            </a:r>
            <a:endParaRPr lang="en-US" sz="1100" dirty="0"/>
          </a:p>
        </p:txBody>
      </p:sp>
      <p:sp>
        <p:nvSpPr>
          <p:cNvPr id="15" name="Shape 12"/>
          <p:cNvSpPr/>
          <p:nvPr/>
        </p:nvSpPr>
        <p:spPr>
          <a:xfrm>
            <a:off x="2347265" y="2128723"/>
            <a:ext cx="466344" cy="200254"/>
          </a:xfrm>
          <a:prstGeom prst="roundRect">
            <a:avLst>
              <a:gd name="adj" fmla="val 86975"/>
            </a:avLst>
          </a:prstGeom>
          <a:solidFill>
            <a:srgbClr val="DBEAFE"/>
          </a:solidFill>
          <a:ln/>
        </p:spPr>
      </p:sp>
      <p:sp>
        <p:nvSpPr>
          <p:cNvPr id="16" name="Text 13"/>
          <p:cNvSpPr txBox="1"/>
          <p:nvPr/>
        </p:nvSpPr>
        <p:spPr>
          <a:xfrm>
            <a:off x="2385670" y="2128723"/>
            <a:ext cx="498348" cy="200254"/>
          </a:xfrm>
          <a:prstGeom prst="rect">
            <a:avLst/>
          </a:prstGeom>
          <a:noFill/>
          <a:ln/>
        </p:spPr>
        <p:txBody>
          <a:bodyPr wrap="square" lIns="0" tIns="0" rIns="0" bIns="0" rtlCol="0" anchor="ctr"/>
          <a:lstStyle/>
          <a:p>
            <a:pPr marL="0" indent="0" algn="l">
              <a:buNone/>
            </a:pPr>
            <a:r>
              <a:rPr lang="en-US" sz="1100" b="1" dirty="0">
                <a:solidFill>
                  <a:srgbClr val="1D4ED8"/>
                </a:solidFill>
                <a:latin typeface="Noto Sans KR" pitchFamily="34" charset="0"/>
                <a:ea typeface="Noto Sans KR" pitchFamily="34" charset="-122"/>
                <a:cs typeface="Noto Sans KR" pitchFamily="34" charset="-120"/>
              </a:rPr>
              <a:t>약 4배</a:t>
            </a:r>
            <a:endParaRPr lang="en-US" sz="1100" dirty="0"/>
          </a:p>
        </p:txBody>
      </p:sp>
      <p:sp>
        <p:nvSpPr>
          <p:cNvPr id="17" name="Text 14"/>
          <p:cNvSpPr txBox="1"/>
          <p:nvPr/>
        </p:nvSpPr>
        <p:spPr>
          <a:xfrm>
            <a:off x="2810866" y="2128723"/>
            <a:ext cx="1117397" cy="200254"/>
          </a:xfrm>
          <a:prstGeom prst="rect">
            <a:avLst/>
          </a:prstGeom>
          <a:noFill/>
          <a:ln/>
        </p:spPr>
        <p:txBody>
          <a:bodyPr wrap="square" lIns="0" tIns="0" rIns="0" bIns="0" rtlCol="0" anchor="ctr"/>
          <a:lstStyle/>
          <a:p>
            <a:pPr marL="0" indent="0" algn="l">
              <a:buNone/>
            </a:pPr>
            <a:r>
              <a:rPr lang="en-US" sz="1100" dirty="0">
                <a:solidFill>
                  <a:srgbClr val="3B82F6"/>
                </a:solidFill>
                <a:latin typeface="Noto Sans KR" pitchFamily="34" charset="0"/>
                <a:ea typeface="Noto Sans KR" pitchFamily="34" charset="-122"/>
                <a:cs typeface="Noto Sans KR" pitchFamily="34" charset="-120"/>
              </a:rPr>
              <a:t>높은 수익률 달성</a:t>
            </a:r>
            <a:endParaRPr lang="en-US" sz="1100" dirty="0"/>
          </a:p>
        </p:txBody>
      </p:sp>
      <p:sp>
        <p:nvSpPr>
          <p:cNvPr id="18" name="Shape 15"/>
          <p:cNvSpPr/>
          <p:nvPr/>
        </p:nvSpPr>
        <p:spPr>
          <a:xfrm>
            <a:off x="571500" y="2780690"/>
            <a:ext cx="5876849" cy="3600907"/>
          </a:xfrm>
          <a:prstGeom prst="roundRect">
            <a:avLst>
              <a:gd name="adj" fmla="val 806"/>
            </a:avLst>
          </a:prstGeom>
          <a:solidFill>
            <a:srgbClr val="FFFFFF"/>
          </a:solidFill>
          <a:ln w="12700">
            <a:solidFill>
              <a:srgbClr val="E5E7EB"/>
            </a:solidFill>
            <a:prstDash val="solid"/>
          </a:ln>
          <a:effectLst>
            <a:outerShdw blurRad="63500" dist="38100" dir="5400000" algn="bl" rotWithShape="0">
              <a:srgbClr val="000000">
                <a:alpha val="5000"/>
              </a:srgbClr>
            </a:outerShdw>
          </a:effectLst>
        </p:spPr>
      </p:sp>
      <p:sp>
        <p:nvSpPr>
          <p:cNvPr id="19" name="Shape 16"/>
          <p:cNvSpPr/>
          <p:nvPr/>
        </p:nvSpPr>
        <p:spPr>
          <a:xfrm>
            <a:off x="771754" y="3286353"/>
            <a:ext cx="5477256" cy="9144"/>
          </a:xfrm>
          <a:prstGeom prst="rect">
            <a:avLst/>
          </a:prstGeom>
          <a:solidFill>
            <a:srgbClr val="E5E7EB"/>
          </a:solidFill>
          <a:ln/>
        </p:spPr>
      </p:sp>
      <p:sp>
        <p:nvSpPr>
          <p:cNvPr id="20" name="Text 17"/>
          <p:cNvSpPr txBox="1"/>
          <p:nvPr/>
        </p:nvSpPr>
        <p:spPr>
          <a:xfrm>
            <a:off x="771754" y="2980944"/>
            <a:ext cx="1047902" cy="228600"/>
          </a:xfrm>
          <a:prstGeom prst="rect">
            <a:avLst/>
          </a:prstGeom>
          <a:noFill/>
          <a:ln/>
        </p:spPr>
        <p:txBody>
          <a:bodyPr wrap="square" lIns="0" tIns="0" rIns="0" bIns="0" rtlCol="0" anchor="ctr"/>
          <a:lstStyle/>
          <a:p>
            <a:pPr marL="0" indent="0" algn="l">
              <a:buNone/>
            </a:pPr>
            <a:r>
              <a:rPr lang="en-US" sz="1200" b="1" dirty="0">
                <a:solidFill>
                  <a:srgbClr val="374151"/>
                </a:solidFill>
                <a:latin typeface="Noto Sans KR" pitchFamily="34" charset="0"/>
                <a:ea typeface="Noto Sans KR" pitchFamily="34" charset="-122"/>
                <a:cs typeface="Noto Sans KR" pitchFamily="34" charset="-120"/>
              </a:rPr>
              <a:t>전략 성과 요약</a:t>
            </a:r>
            <a:endParaRPr lang="en-US" sz="1200" dirty="0"/>
          </a:p>
        </p:txBody>
      </p:sp>
      <p:sp>
        <p:nvSpPr>
          <p:cNvPr id="21" name="Shape 18"/>
          <p:cNvSpPr/>
          <p:nvPr/>
        </p:nvSpPr>
        <p:spPr>
          <a:xfrm>
            <a:off x="771754" y="4019702"/>
            <a:ext cx="5477256" cy="9144"/>
          </a:xfrm>
          <a:prstGeom prst="rect">
            <a:avLst/>
          </a:prstGeom>
          <a:solidFill>
            <a:srgbClr val="F3F4F6"/>
          </a:solidFill>
          <a:ln/>
        </p:spPr>
      </p:sp>
      <p:pic>
        <p:nvPicPr>
          <p:cNvPr id="22" name="Image 1" descr="preencoded.png"/>
          <p:cNvPicPr>
            <a:picLocks noChangeAspect="1"/>
          </p:cNvPicPr>
          <p:nvPr/>
        </p:nvPicPr>
        <p:blipFill>
          <a:blip r:embed="rId4"/>
          <a:srcRect l="-14103" r="-14103"/>
          <a:stretch/>
        </p:blipFill>
        <p:spPr>
          <a:xfrm>
            <a:off x="771754" y="3643884"/>
            <a:ext cx="228600" cy="142646"/>
          </a:xfrm>
          <a:prstGeom prst="rect">
            <a:avLst/>
          </a:prstGeom>
        </p:spPr>
      </p:pic>
      <p:sp>
        <p:nvSpPr>
          <p:cNvPr id="23" name="Text 19"/>
          <p:cNvSpPr txBox="1"/>
          <p:nvPr/>
        </p:nvSpPr>
        <p:spPr>
          <a:xfrm>
            <a:off x="1000354" y="3607308"/>
            <a:ext cx="726948" cy="200254"/>
          </a:xfrm>
          <a:prstGeom prst="rect">
            <a:avLst/>
          </a:prstGeom>
          <a:noFill/>
          <a:ln/>
        </p:spPr>
        <p:txBody>
          <a:bodyPr wrap="square" lIns="0" tIns="0" rIns="0" bIns="0" rtlCol="0" anchor="ctr"/>
          <a:lstStyle/>
          <a:p>
            <a:pPr marL="0" indent="0" algn="l">
              <a:buNone/>
            </a:pPr>
            <a:r>
              <a:rPr lang="en-US" sz="1100" b="1" dirty="0">
                <a:solidFill>
                  <a:srgbClr val="4B5563"/>
                </a:solidFill>
                <a:latin typeface="Noto Sans KR" pitchFamily="34" charset="0"/>
                <a:ea typeface="Noto Sans KR" pitchFamily="34" charset="-122"/>
                <a:cs typeface="Noto Sans KR" pitchFamily="34" charset="-120"/>
              </a:rPr>
              <a:t>RL Agent</a:t>
            </a:r>
            <a:endParaRPr lang="en-US" sz="1100" dirty="0"/>
          </a:p>
        </p:txBody>
      </p:sp>
      <p:sp>
        <p:nvSpPr>
          <p:cNvPr id="24" name="Text 20"/>
          <p:cNvSpPr txBox="1"/>
          <p:nvPr/>
        </p:nvSpPr>
        <p:spPr>
          <a:xfrm>
            <a:off x="5574182" y="3524097"/>
            <a:ext cx="790956" cy="228600"/>
          </a:xfrm>
          <a:prstGeom prst="rect">
            <a:avLst/>
          </a:prstGeom>
          <a:noFill/>
          <a:ln/>
        </p:spPr>
        <p:txBody>
          <a:bodyPr wrap="square" lIns="0" tIns="0" rIns="0" bIns="0" rtlCol="0" anchor="ctr"/>
          <a:lstStyle/>
          <a:p>
            <a:pPr marL="0" indent="0" algn="r">
              <a:buNone/>
            </a:pPr>
            <a:r>
              <a:rPr lang="en-US" sz="1200" b="1" dirty="0">
                <a:solidFill>
                  <a:srgbClr val="2563EB"/>
                </a:solidFill>
                <a:latin typeface="Noto Sans KR" pitchFamily="34" charset="0"/>
                <a:ea typeface="Noto Sans KR" pitchFamily="34" charset="-122"/>
                <a:cs typeface="Noto Sans KR" pitchFamily="34" charset="-120"/>
              </a:rPr>
              <a:t>108.03%</a:t>
            </a:r>
            <a:endParaRPr lang="en-US" sz="1200" dirty="0"/>
          </a:p>
        </p:txBody>
      </p:sp>
      <p:sp>
        <p:nvSpPr>
          <p:cNvPr id="25" name="Text 21"/>
          <p:cNvSpPr txBox="1"/>
          <p:nvPr/>
        </p:nvSpPr>
        <p:spPr>
          <a:xfrm>
            <a:off x="5587898" y="3742639"/>
            <a:ext cx="743407" cy="162763"/>
          </a:xfrm>
          <a:prstGeom prst="rect">
            <a:avLst/>
          </a:prstGeom>
          <a:noFill/>
          <a:ln/>
        </p:spPr>
        <p:txBody>
          <a:bodyPr wrap="square" lIns="0" tIns="0" rIns="0" bIns="0" rtlCol="0" anchor="ctr"/>
          <a:lstStyle/>
          <a:p>
            <a:pPr marL="0" indent="0" algn="r">
              <a:buNone/>
            </a:pPr>
            <a:r>
              <a:rPr lang="en-US" sz="900" dirty="0">
                <a:solidFill>
                  <a:srgbClr val="3B82F6"/>
                </a:solidFill>
                <a:latin typeface="Noto Sans KR" pitchFamily="34" charset="0"/>
                <a:ea typeface="Noto Sans KR" pitchFamily="34" charset="-122"/>
                <a:cs typeface="Noto Sans KR" pitchFamily="34" charset="-120"/>
              </a:rPr>
              <a:t>Total Return</a:t>
            </a:r>
            <a:endParaRPr lang="en-US" sz="900" dirty="0"/>
          </a:p>
        </p:txBody>
      </p:sp>
      <p:sp>
        <p:nvSpPr>
          <p:cNvPr id="26" name="Shape 22"/>
          <p:cNvSpPr/>
          <p:nvPr/>
        </p:nvSpPr>
        <p:spPr>
          <a:xfrm>
            <a:off x="771754" y="4610404"/>
            <a:ext cx="5477256" cy="9144"/>
          </a:xfrm>
          <a:prstGeom prst="rect">
            <a:avLst/>
          </a:prstGeom>
          <a:solidFill>
            <a:srgbClr val="F3F4F6"/>
          </a:solidFill>
          <a:ln/>
        </p:spPr>
      </p:sp>
      <p:pic>
        <p:nvPicPr>
          <p:cNvPr id="27" name="Image 2" descr="preencoded.png"/>
          <p:cNvPicPr>
            <a:picLocks noChangeAspect="1"/>
          </p:cNvPicPr>
          <p:nvPr/>
        </p:nvPicPr>
        <p:blipFill>
          <a:blip r:embed="rId5"/>
          <a:srcRect l="-14103" r="-14103"/>
          <a:stretch/>
        </p:blipFill>
        <p:spPr>
          <a:xfrm>
            <a:off x="771754" y="4249216"/>
            <a:ext cx="228600" cy="142646"/>
          </a:xfrm>
          <a:prstGeom prst="rect">
            <a:avLst/>
          </a:prstGeom>
        </p:spPr>
      </p:pic>
      <p:sp>
        <p:nvSpPr>
          <p:cNvPr id="28" name="Text 23"/>
          <p:cNvSpPr txBox="1"/>
          <p:nvPr/>
        </p:nvSpPr>
        <p:spPr>
          <a:xfrm>
            <a:off x="1000354" y="4211726"/>
            <a:ext cx="1031443" cy="200254"/>
          </a:xfrm>
          <a:prstGeom prst="rect">
            <a:avLst/>
          </a:prstGeom>
          <a:noFill/>
          <a:ln/>
        </p:spPr>
        <p:txBody>
          <a:bodyPr wrap="square" lIns="0" tIns="0" rIns="0" bIns="0" rtlCol="0" anchor="ctr"/>
          <a:lstStyle/>
          <a:p>
            <a:pPr marL="0" indent="0" algn="l">
              <a:buNone/>
            </a:pPr>
            <a:r>
              <a:rPr lang="en-US" sz="1100" b="1" dirty="0">
                <a:solidFill>
                  <a:srgbClr val="4B5563"/>
                </a:solidFill>
                <a:latin typeface="Noto Sans KR" pitchFamily="34" charset="0"/>
                <a:ea typeface="Noto Sans KR" pitchFamily="34" charset="-122"/>
                <a:cs typeface="Noto Sans KR" pitchFamily="34" charset="-120"/>
              </a:rPr>
              <a:t>Equal Weight</a:t>
            </a:r>
            <a:endParaRPr lang="en-US" sz="1100" dirty="0"/>
          </a:p>
        </p:txBody>
      </p:sp>
      <p:sp>
        <p:nvSpPr>
          <p:cNvPr id="29" name="Text 24"/>
          <p:cNvSpPr txBox="1"/>
          <p:nvPr/>
        </p:nvSpPr>
        <p:spPr>
          <a:xfrm>
            <a:off x="5772607" y="4143146"/>
            <a:ext cx="576986" cy="191110"/>
          </a:xfrm>
          <a:prstGeom prst="rect">
            <a:avLst/>
          </a:prstGeom>
          <a:noFill/>
          <a:ln/>
        </p:spPr>
        <p:txBody>
          <a:bodyPr wrap="square" lIns="0" tIns="0" rIns="0" bIns="0" rtlCol="0" anchor="ctr"/>
          <a:lstStyle/>
          <a:p>
            <a:pPr marL="0" indent="0" algn="r">
              <a:buNone/>
            </a:pPr>
            <a:r>
              <a:rPr lang="en-US" sz="1000" dirty="0">
                <a:solidFill>
                  <a:srgbClr val="9CA3AF"/>
                </a:solidFill>
                <a:latin typeface="Noto Sans KR" pitchFamily="34" charset="0"/>
                <a:ea typeface="Noto Sans KR" pitchFamily="34" charset="-122"/>
                <a:cs typeface="Noto Sans KR" pitchFamily="34" charset="-120"/>
              </a:rPr>
              <a:t>27.05%</a:t>
            </a:r>
            <a:endParaRPr lang="en-US" sz="1000" dirty="0"/>
          </a:p>
        </p:txBody>
      </p:sp>
      <p:sp>
        <p:nvSpPr>
          <p:cNvPr id="30" name="Text 25"/>
          <p:cNvSpPr txBox="1"/>
          <p:nvPr/>
        </p:nvSpPr>
        <p:spPr>
          <a:xfrm>
            <a:off x="5789066" y="4333341"/>
            <a:ext cx="543154" cy="162763"/>
          </a:xfrm>
          <a:prstGeom prst="rect">
            <a:avLst/>
          </a:prstGeom>
          <a:noFill/>
          <a:ln/>
        </p:spPr>
        <p:txBody>
          <a:bodyPr wrap="square" lIns="0" tIns="0" rIns="0" bIns="0" rtlCol="0" anchor="ctr"/>
          <a:lstStyle/>
          <a:p>
            <a:pPr marL="0" indent="0" algn="r">
              <a:buNone/>
            </a:pPr>
            <a:r>
              <a:rPr lang="en-US" sz="900" dirty="0">
                <a:solidFill>
                  <a:srgbClr val="9CA3AF"/>
                </a:solidFill>
                <a:latin typeface="Noto Sans KR" pitchFamily="34" charset="0"/>
                <a:ea typeface="Noto Sans KR" pitchFamily="34" charset="-122"/>
                <a:cs typeface="Noto Sans KR" pitchFamily="34" charset="-120"/>
              </a:rPr>
              <a:t>Baseline</a:t>
            </a:r>
            <a:endParaRPr lang="en-US" sz="900" dirty="0"/>
          </a:p>
        </p:txBody>
      </p:sp>
      <p:pic>
        <p:nvPicPr>
          <p:cNvPr id="31" name="Image 3" descr="preencoded.png"/>
          <p:cNvPicPr>
            <a:picLocks noChangeAspect="1"/>
          </p:cNvPicPr>
          <p:nvPr/>
        </p:nvPicPr>
        <p:blipFill>
          <a:blip r:embed="rId6"/>
          <a:srcRect l="-30128" r="-30128"/>
          <a:stretch/>
        </p:blipFill>
        <p:spPr>
          <a:xfrm>
            <a:off x="771754" y="4872837"/>
            <a:ext cx="228600" cy="142646"/>
          </a:xfrm>
          <a:prstGeom prst="rect">
            <a:avLst/>
          </a:prstGeom>
        </p:spPr>
      </p:pic>
      <p:sp>
        <p:nvSpPr>
          <p:cNvPr id="32" name="Text 26"/>
          <p:cNvSpPr txBox="1"/>
          <p:nvPr/>
        </p:nvSpPr>
        <p:spPr>
          <a:xfrm>
            <a:off x="1000354" y="4836261"/>
            <a:ext cx="888797" cy="200254"/>
          </a:xfrm>
          <a:prstGeom prst="rect">
            <a:avLst/>
          </a:prstGeom>
          <a:noFill/>
          <a:ln/>
        </p:spPr>
        <p:txBody>
          <a:bodyPr wrap="square" lIns="0" tIns="0" rIns="0" bIns="0" rtlCol="0" anchor="ctr"/>
          <a:lstStyle/>
          <a:p>
            <a:pPr marL="0" indent="0" algn="l">
              <a:buNone/>
            </a:pPr>
            <a:r>
              <a:rPr lang="en-US" sz="1100" b="1" dirty="0">
                <a:solidFill>
                  <a:srgbClr val="4B5563"/>
                </a:solidFill>
                <a:latin typeface="Noto Sans KR" pitchFamily="34" charset="0"/>
                <a:ea typeface="Noto Sans KR" pitchFamily="34" charset="-122"/>
                <a:cs typeface="Noto Sans KR" pitchFamily="34" charset="-120"/>
              </a:rPr>
              <a:t>Annualized</a:t>
            </a:r>
            <a:endParaRPr lang="en-US" sz="1100" dirty="0"/>
          </a:p>
        </p:txBody>
      </p:sp>
      <p:sp>
        <p:nvSpPr>
          <p:cNvPr id="33" name="Text 27"/>
          <p:cNvSpPr txBox="1"/>
          <p:nvPr/>
        </p:nvSpPr>
        <p:spPr>
          <a:xfrm>
            <a:off x="5616245" y="4742992"/>
            <a:ext cx="758038" cy="247802"/>
          </a:xfrm>
          <a:prstGeom prst="rect">
            <a:avLst/>
          </a:prstGeom>
          <a:noFill/>
          <a:ln/>
        </p:spPr>
        <p:txBody>
          <a:bodyPr wrap="square" lIns="0" tIns="0" rIns="0" bIns="0" rtlCol="0" anchor="ctr"/>
          <a:lstStyle/>
          <a:p>
            <a:pPr marL="0" indent="0" algn="r">
              <a:buNone/>
            </a:pPr>
            <a:r>
              <a:rPr lang="en-US" sz="1300" b="1" dirty="0">
                <a:solidFill>
                  <a:srgbClr val="059669"/>
                </a:solidFill>
                <a:latin typeface="Noto Sans KR" pitchFamily="34" charset="0"/>
                <a:ea typeface="Noto Sans KR" pitchFamily="34" charset="-122"/>
                <a:cs typeface="Noto Sans KR" pitchFamily="34" charset="-120"/>
              </a:rPr>
              <a:t>51.55%</a:t>
            </a:r>
            <a:endParaRPr lang="en-US" sz="1300" dirty="0"/>
          </a:p>
        </p:txBody>
      </p:sp>
      <p:sp>
        <p:nvSpPr>
          <p:cNvPr id="34" name="Text 28"/>
          <p:cNvSpPr txBox="1"/>
          <p:nvPr/>
        </p:nvSpPr>
        <p:spPr>
          <a:xfrm>
            <a:off x="5950001" y="4990795"/>
            <a:ext cx="381305" cy="162763"/>
          </a:xfrm>
          <a:prstGeom prst="rect">
            <a:avLst/>
          </a:prstGeom>
          <a:noFill/>
          <a:ln/>
        </p:spPr>
        <p:txBody>
          <a:bodyPr wrap="square" lIns="0" tIns="0" rIns="0" bIns="0" rtlCol="0" anchor="ctr"/>
          <a:lstStyle/>
          <a:p>
            <a:pPr marL="0" indent="0" algn="r">
              <a:buNone/>
            </a:pPr>
            <a:r>
              <a:rPr lang="en-US" sz="900" dirty="0">
                <a:solidFill>
                  <a:srgbClr val="10B981"/>
                </a:solidFill>
                <a:latin typeface="Noto Sans KR" pitchFamily="34" charset="0"/>
                <a:ea typeface="Noto Sans KR" pitchFamily="34" charset="-122"/>
                <a:cs typeface="Noto Sans KR" pitchFamily="34" charset="-120"/>
              </a:rPr>
              <a:t>CAGR</a:t>
            </a:r>
            <a:endParaRPr lang="en-US" sz="900" dirty="0"/>
          </a:p>
        </p:txBody>
      </p:sp>
      <p:sp>
        <p:nvSpPr>
          <p:cNvPr id="35" name="Shape 29"/>
          <p:cNvSpPr/>
          <p:nvPr/>
        </p:nvSpPr>
        <p:spPr>
          <a:xfrm>
            <a:off x="6728155" y="1042416"/>
            <a:ext cx="4895698" cy="1714500"/>
          </a:xfrm>
          <a:prstGeom prst="roundRect">
            <a:avLst>
              <a:gd name="adj" fmla="val 3556"/>
            </a:avLst>
          </a:prstGeom>
          <a:solidFill>
            <a:srgbClr val="FFFFFF"/>
          </a:solidFill>
          <a:ln w="12700">
            <a:solidFill>
              <a:srgbClr val="E5E7EB"/>
            </a:solidFill>
            <a:prstDash val="solid"/>
          </a:ln>
          <a:effectLst>
            <a:outerShdw blurRad="38100" dist="25400" dir="5400000" algn="bl" rotWithShape="0">
              <a:srgbClr val="000000">
                <a:alpha val="2000"/>
              </a:srgbClr>
            </a:outerShdw>
          </a:effectLst>
        </p:spPr>
      </p:sp>
      <p:pic>
        <p:nvPicPr>
          <p:cNvPr id="36" name="Image 4" descr="preencoded.png"/>
          <p:cNvPicPr>
            <a:picLocks noChangeAspect="1"/>
          </p:cNvPicPr>
          <p:nvPr/>
        </p:nvPicPr>
        <p:blipFill>
          <a:blip r:embed="rId7"/>
          <a:srcRect l="-33" r="-33"/>
          <a:stretch/>
        </p:blipFill>
        <p:spPr>
          <a:xfrm>
            <a:off x="6928409" y="1292961"/>
            <a:ext cx="171907" cy="152705"/>
          </a:xfrm>
          <a:prstGeom prst="rect">
            <a:avLst/>
          </a:prstGeom>
        </p:spPr>
      </p:pic>
      <p:sp>
        <p:nvSpPr>
          <p:cNvPr id="37" name="Text 30"/>
          <p:cNvSpPr txBox="1"/>
          <p:nvPr/>
        </p:nvSpPr>
        <p:spPr>
          <a:xfrm>
            <a:off x="7175297" y="1254556"/>
            <a:ext cx="1095451" cy="228600"/>
          </a:xfrm>
          <a:prstGeom prst="rect">
            <a:avLst/>
          </a:prstGeom>
          <a:noFill/>
          <a:ln/>
        </p:spPr>
        <p:txBody>
          <a:bodyPr wrap="square" lIns="0" tIns="0" rIns="0" bIns="0" rtlCol="0" anchor="ctr"/>
          <a:lstStyle/>
          <a:p>
            <a:pPr marL="0" indent="0" algn="l">
              <a:buNone/>
            </a:pPr>
            <a:r>
              <a:rPr lang="en-US" sz="1200" b="1" dirty="0">
                <a:solidFill>
                  <a:srgbClr val="374151"/>
                </a:solidFill>
                <a:latin typeface="Noto Sans KR" pitchFamily="34" charset="0"/>
                <a:ea typeface="Noto Sans KR" pitchFamily="34" charset="-122"/>
                <a:cs typeface="Noto Sans KR" pitchFamily="34" charset="-120"/>
              </a:rPr>
              <a:t>Sharpe Ratio</a:t>
            </a:r>
            <a:endParaRPr lang="en-US" sz="1200" dirty="0"/>
          </a:p>
        </p:txBody>
      </p:sp>
      <p:sp>
        <p:nvSpPr>
          <p:cNvPr id="38" name="Shape 31"/>
          <p:cNvSpPr/>
          <p:nvPr/>
        </p:nvSpPr>
        <p:spPr>
          <a:xfrm>
            <a:off x="10668305" y="1242669"/>
            <a:ext cx="752551" cy="256946"/>
          </a:xfrm>
          <a:prstGeom prst="roundRect">
            <a:avLst>
              <a:gd name="adj" fmla="val 52722"/>
            </a:avLst>
          </a:prstGeom>
          <a:solidFill>
            <a:srgbClr val="FEF2F2"/>
          </a:solidFill>
          <a:ln w="12700">
            <a:solidFill>
              <a:srgbClr val="FECACA"/>
            </a:solidFill>
            <a:prstDash val="solid"/>
          </a:ln>
        </p:spPr>
      </p:sp>
      <p:sp>
        <p:nvSpPr>
          <p:cNvPr id="39" name="Text 32"/>
          <p:cNvSpPr txBox="1"/>
          <p:nvPr/>
        </p:nvSpPr>
        <p:spPr>
          <a:xfrm>
            <a:off x="10754258" y="1290218"/>
            <a:ext cx="660197" cy="152705"/>
          </a:xfrm>
          <a:prstGeom prst="rect">
            <a:avLst/>
          </a:prstGeom>
          <a:noFill/>
          <a:ln/>
        </p:spPr>
        <p:txBody>
          <a:bodyPr wrap="square" lIns="0" tIns="0" rIns="0" bIns="0" rtlCol="0" anchor="ctr"/>
          <a:lstStyle/>
          <a:p>
            <a:pPr marL="0" indent="0" algn="l">
              <a:buNone/>
            </a:pPr>
            <a:r>
              <a:rPr lang="en-US" sz="800" b="1" dirty="0">
                <a:solidFill>
                  <a:srgbClr val="991B1B"/>
                </a:solidFill>
                <a:latin typeface="Noto Sans KR" pitchFamily="34" charset="0"/>
                <a:ea typeface="Noto Sans KR" pitchFamily="34" charset="-122"/>
                <a:cs typeface="Noto Sans KR" pitchFamily="34" charset="-120"/>
              </a:rPr>
              <a:t>Target Miss</a:t>
            </a:r>
            <a:endParaRPr lang="en-US" sz="800" dirty="0"/>
          </a:p>
        </p:txBody>
      </p:sp>
      <p:sp>
        <p:nvSpPr>
          <p:cNvPr id="40" name="Text 33"/>
          <p:cNvSpPr txBox="1"/>
          <p:nvPr/>
        </p:nvSpPr>
        <p:spPr>
          <a:xfrm>
            <a:off x="6928409" y="1637690"/>
            <a:ext cx="657454" cy="333756"/>
          </a:xfrm>
          <a:prstGeom prst="rect">
            <a:avLst/>
          </a:prstGeom>
          <a:noFill/>
          <a:ln/>
        </p:spPr>
        <p:txBody>
          <a:bodyPr wrap="square" lIns="0" tIns="0" rIns="0" bIns="0" rtlCol="0" anchor="ctr"/>
          <a:lstStyle/>
          <a:p>
            <a:pPr marL="0" indent="0" algn="l">
              <a:buNone/>
            </a:pPr>
            <a:r>
              <a:rPr lang="en-US" sz="1800" b="1" dirty="0">
                <a:solidFill>
                  <a:srgbClr val="374151"/>
                </a:solidFill>
                <a:latin typeface="Noto Sans KR" pitchFamily="34" charset="0"/>
                <a:ea typeface="Noto Sans KR" pitchFamily="34" charset="-122"/>
                <a:cs typeface="Noto Sans KR" pitchFamily="34" charset="-120"/>
              </a:rPr>
              <a:t>1.17</a:t>
            </a:r>
            <a:endParaRPr lang="en-US" sz="1800" dirty="0"/>
          </a:p>
        </p:txBody>
      </p:sp>
      <p:sp>
        <p:nvSpPr>
          <p:cNvPr id="41" name="Text 34"/>
          <p:cNvSpPr txBox="1"/>
          <p:nvPr/>
        </p:nvSpPr>
        <p:spPr>
          <a:xfrm>
            <a:off x="10786262" y="1771192"/>
            <a:ext cx="738835" cy="191110"/>
          </a:xfrm>
          <a:prstGeom prst="rect">
            <a:avLst/>
          </a:prstGeom>
          <a:noFill/>
          <a:ln/>
        </p:spPr>
        <p:txBody>
          <a:bodyPr wrap="square" lIns="0" tIns="0" rIns="0" bIns="0" rtlCol="0" anchor="ctr"/>
          <a:lstStyle/>
          <a:p>
            <a:pPr marL="0" indent="0" algn="l">
              <a:buNone/>
            </a:pPr>
            <a:r>
              <a:rPr lang="en-US" sz="1000" dirty="0">
                <a:solidFill>
                  <a:srgbClr val="9CA3AF"/>
                </a:solidFill>
                <a:latin typeface="Noto Sans KR" pitchFamily="34" charset="0"/>
                <a:ea typeface="Noto Sans KR" pitchFamily="34" charset="-122"/>
                <a:cs typeface="Noto Sans KR" pitchFamily="34" charset="-120"/>
              </a:rPr>
              <a:t>Goal: 1.50</a:t>
            </a:r>
            <a:endParaRPr lang="en-US" sz="1000" dirty="0"/>
          </a:p>
        </p:txBody>
      </p:sp>
      <p:sp>
        <p:nvSpPr>
          <p:cNvPr id="42" name="Shape 35"/>
          <p:cNvSpPr/>
          <p:nvPr/>
        </p:nvSpPr>
        <p:spPr>
          <a:xfrm>
            <a:off x="6928409" y="2114092"/>
            <a:ext cx="4496105" cy="95098"/>
          </a:xfrm>
          <a:prstGeom prst="roundRect">
            <a:avLst>
              <a:gd name="adj" fmla="val 480767"/>
            </a:avLst>
          </a:prstGeom>
          <a:solidFill>
            <a:srgbClr val="F3F4F6"/>
          </a:solidFill>
          <a:ln/>
        </p:spPr>
      </p:sp>
      <p:sp>
        <p:nvSpPr>
          <p:cNvPr id="43" name="Text 36"/>
          <p:cNvSpPr txBox="1"/>
          <p:nvPr/>
        </p:nvSpPr>
        <p:spPr>
          <a:xfrm>
            <a:off x="6928409" y="2390241"/>
            <a:ext cx="4229100" cy="162763"/>
          </a:xfrm>
          <a:prstGeom prst="rect">
            <a:avLst/>
          </a:prstGeom>
          <a:noFill/>
          <a:ln/>
        </p:spPr>
        <p:txBody>
          <a:bodyPr wrap="square" lIns="0" tIns="0" rIns="0" bIns="0" rtlCol="0" anchor="ctr"/>
          <a:lstStyle/>
          <a:p>
            <a:pPr marL="0" indent="0" algn="l">
              <a:buNone/>
            </a:pPr>
            <a:r>
              <a:rPr lang="en-US" sz="900" dirty="0">
                <a:solidFill>
                  <a:srgbClr val="6B7280"/>
                </a:solidFill>
                <a:latin typeface="Noto Sans KR" pitchFamily="34" charset="0"/>
                <a:ea typeface="Noto Sans KR" pitchFamily="34" charset="-122"/>
                <a:cs typeface="Noto Sans KR" pitchFamily="34" charset="-120"/>
              </a:rPr>
              <a:t>높은 수익률에도 불구하고 변동성이 동반되어 리스크 조정 수익률은 목표에 미치지 못함.</a:t>
            </a:r>
            <a:endParaRPr lang="en-US" sz="900" dirty="0"/>
          </a:p>
        </p:txBody>
      </p:sp>
      <p:sp>
        <p:nvSpPr>
          <p:cNvPr id="44" name="Shape 37"/>
          <p:cNvSpPr/>
          <p:nvPr/>
        </p:nvSpPr>
        <p:spPr>
          <a:xfrm>
            <a:off x="6728155" y="2942539"/>
            <a:ext cx="4895698" cy="1714500"/>
          </a:xfrm>
          <a:prstGeom prst="roundRect">
            <a:avLst>
              <a:gd name="adj" fmla="val 3556"/>
            </a:avLst>
          </a:prstGeom>
          <a:solidFill>
            <a:srgbClr val="FFFFFF"/>
          </a:solidFill>
          <a:ln w="12700">
            <a:solidFill>
              <a:srgbClr val="E5E7EB"/>
            </a:solidFill>
            <a:prstDash val="solid"/>
          </a:ln>
          <a:effectLst>
            <a:outerShdw blurRad="38100" dist="25400" dir="5400000" algn="bl" rotWithShape="0">
              <a:srgbClr val="000000">
                <a:alpha val="2000"/>
              </a:srgbClr>
            </a:outerShdw>
          </a:effectLst>
        </p:spPr>
      </p:sp>
      <p:pic>
        <p:nvPicPr>
          <p:cNvPr id="45" name="Image 5" descr="preencoded.png"/>
          <p:cNvPicPr>
            <a:picLocks noChangeAspect="1"/>
          </p:cNvPicPr>
          <p:nvPr/>
        </p:nvPicPr>
        <p:blipFill>
          <a:blip r:embed="rId8"/>
          <a:srcRect/>
          <a:stretch/>
        </p:blipFill>
        <p:spPr>
          <a:xfrm>
            <a:off x="6928409" y="3193084"/>
            <a:ext cx="152705" cy="152705"/>
          </a:xfrm>
          <a:prstGeom prst="rect">
            <a:avLst/>
          </a:prstGeom>
        </p:spPr>
      </p:pic>
      <p:sp>
        <p:nvSpPr>
          <p:cNvPr id="46" name="Text 38"/>
          <p:cNvSpPr txBox="1"/>
          <p:nvPr/>
        </p:nvSpPr>
        <p:spPr>
          <a:xfrm>
            <a:off x="7157009" y="3154680"/>
            <a:ext cx="1276502" cy="228600"/>
          </a:xfrm>
          <a:prstGeom prst="rect">
            <a:avLst/>
          </a:prstGeom>
          <a:noFill/>
          <a:ln/>
        </p:spPr>
        <p:txBody>
          <a:bodyPr wrap="square" lIns="0" tIns="0" rIns="0" bIns="0" rtlCol="0" anchor="ctr"/>
          <a:lstStyle/>
          <a:p>
            <a:pPr marL="0" indent="0" algn="l">
              <a:buNone/>
            </a:pPr>
            <a:r>
              <a:rPr lang="en-US" sz="1200" b="1" dirty="0">
                <a:solidFill>
                  <a:srgbClr val="374151"/>
                </a:solidFill>
                <a:latin typeface="Noto Sans KR" pitchFamily="34" charset="0"/>
                <a:ea typeface="Noto Sans KR" pitchFamily="34" charset="-122"/>
                <a:cs typeface="Noto Sans KR" pitchFamily="34" charset="-120"/>
              </a:rPr>
              <a:t>Max Drawdown</a:t>
            </a:r>
            <a:endParaRPr lang="en-US" sz="1200" dirty="0"/>
          </a:p>
        </p:txBody>
      </p:sp>
      <p:sp>
        <p:nvSpPr>
          <p:cNvPr id="47" name="Shape 39"/>
          <p:cNvSpPr/>
          <p:nvPr/>
        </p:nvSpPr>
        <p:spPr>
          <a:xfrm>
            <a:off x="10691165" y="3142792"/>
            <a:ext cx="733349" cy="256946"/>
          </a:xfrm>
          <a:prstGeom prst="roundRect">
            <a:avLst>
              <a:gd name="adj" fmla="val 52722"/>
            </a:avLst>
          </a:prstGeom>
          <a:solidFill>
            <a:srgbClr val="FFF7ED"/>
          </a:solidFill>
          <a:ln w="12700">
            <a:solidFill>
              <a:srgbClr val="FED7AA"/>
            </a:solidFill>
            <a:prstDash val="solid"/>
          </a:ln>
        </p:spPr>
      </p:sp>
      <p:sp>
        <p:nvSpPr>
          <p:cNvPr id="48" name="Text 40"/>
          <p:cNvSpPr txBox="1"/>
          <p:nvPr/>
        </p:nvSpPr>
        <p:spPr>
          <a:xfrm>
            <a:off x="10776204" y="3190341"/>
            <a:ext cx="640994" cy="152705"/>
          </a:xfrm>
          <a:prstGeom prst="rect">
            <a:avLst/>
          </a:prstGeom>
          <a:noFill/>
          <a:ln/>
        </p:spPr>
        <p:txBody>
          <a:bodyPr wrap="square" lIns="0" tIns="0" rIns="0" bIns="0" rtlCol="0" anchor="ctr"/>
          <a:lstStyle/>
          <a:p>
            <a:pPr marL="0" indent="0" algn="l">
              <a:buNone/>
            </a:pPr>
            <a:r>
              <a:rPr lang="en-US" sz="800" b="1" dirty="0">
                <a:solidFill>
                  <a:srgbClr val="9A3412"/>
                </a:solidFill>
                <a:latin typeface="Noto Sans KR" pitchFamily="34" charset="0"/>
                <a:ea typeface="Noto Sans KR" pitchFamily="34" charset="-122"/>
                <a:cs typeface="Noto Sans KR" pitchFamily="34" charset="-120"/>
              </a:rPr>
              <a:t>Slight Miss</a:t>
            </a:r>
            <a:endParaRPr lang="en-US" sz="800" dirty="0"/>
          </a:p>
        </p:txBody>
      </p:sp>
      <p:sp>
        <p:nvSpPr>
          <p:cNvPr id="49" name="Text 41"/>
          <p:cNvSpPr txBox="1"/>
          <p:nvPr/>
        </p:nvSpPr>
        <p:spPr>
          <a:xfrm>
            <a:off x="6928409" y="3537813"/>
            <a:ext cx="1095451" cy="333756"/>
          </a:xfrm>
          <a:prstGeom prst="rect">
            <a:avLst/>
          </a:prstGeom>
          <a:noFill/>
          <a:ln/>
        </p:spPr>
        <p:txBody>
          <a:bodyPr wrap="square" lIns="0" tIns="0" rIns="0" bIns="0" rtlCol="0" anchor="ctr"/>
          <a:lstStyle/>
          <a:p>
            <a:pPr marL="0" indent="0" algn="l">
              <a:buNone/>
            </a:pPr>
            <a:r>
              <a:rPr lang="en-US" sz="1800" b="1" dirty="0">
                <a:solidFill>
                  <a:srgbClr val="374151"/>
                </a:solidFill>
                <a:latin typeface="Noto Sans KR" pitchFamily="34" charset="0"/>
                <a:ea typeface="Noto Sans KR" pitchFamily="34" charset="-122"/>
                <a:cs typeface="Noto Sans KR" pitchFamily="34" charset="-120"/>
              </a:rPr>
              <a:t>-16.56%</a:t>
            </a:r>
            <a:endParaRPr lang="en-US" sz="1800" dirty="0"/>
          </a:p>
        </p:txBody>
      </p:sp>
      <p:sp>
        <p:nvSpPr>
          <p:cNvPr id="50" name="Text 42"/>
          <p:cNvSpPr txBox="1"/>
          <p:nvPr/>
        </p:nvSpPr>
        <p:spPr>
          <a:xfrm>
            <a:off x="10496398" y="3671316"/>
            <a:ext cx="1024128" cy="191110"/>
          </a:xfrm>
          <a:prstGeom prst="rect">
            <a:avLst/>
          </a:prstGeom>
          <a:noFill/>
          <a:ln/>
        </p:spPr>
        <p:txBody>
          <a:bodyPr wrap="square" lIns="0" tIns="0" rIns="0" bIns="0" rtlCol="0" anchor="ctr"/>
          <a:lstStyle/>
          <a:p>
            <a:pPr marL="0" indent="0" algn="l">
              <a:buNone/>
            </a:pPr>
            <a:r>
              <a:rPr lang="en-US" sz="1000" dirty="0">
                <a:solidFill>
                  <a:srgbClr val="9CA3AF"/>
                </a:solidFill>
                <a:latin typeface="Noto Sans KR" pitchFamily="34" charset="0"/>
                <a:ea typeface="Noto Sans KR" pitchFamily="34" charset="-122"/>
                <a:cs typeface="Noto Sans KR" pitchFamily="34" charset="-120"/>
              </a:rPr>
              <a:t>Limit: -15.00%</a:t>
            </a:r>
            <a:endParaRPr lang="en-US" sz="1000" dirty="0"/>
          </a:p>
        </p:txBody>
      </p:sp>
      <p:sp>
        <p:nvSpPr>
          <p:cNvPr id="51" name="Shape 43"/>
          <p:cNvSpPr/>
          <p:nvPr/>
        </p:nvSpPr>
        <p:spPr>
          <a:xfrm>
            <a:off x="6928409" y="4014216"/>
            <a:ext cx="4496105" cy="95098"/>
          </a:xfrm>
          <a:prstGeom prst="roundRect">
            <a:avLst>
              <a:gd name="adj" fmla="val 480767"/>
            </a:avLst>
          </a:prstGeom>
          <a:solidFill>
            <a:srgbClr val="F3F4F6"/>
          </a:solidFill>
          <a:ln/>
        </p:spPr>
      </p:sp>
      <p:sp>
        <p:nvSpPr>
          <p:cNvPr id="52" name="Shape 44"/>
          <p:cNvSpPr/>
          <p:nvPr/>
        </p:nvSpPr>
        <p:spPr>
          <a:xfrm>
            <a:off x="6928409" y="4014216"/>
            <a:ext cx="3819449" cy="95098"/>
          </a:xfrm>
          <a:prstGeom prst="roundRect">
            <a:avLst>
              <a:gd name="adj" fmla="val 480767"/>
            </a:avLst>
          </a:prstGeom>
          <a:solidFill>
            <a:srgbClr val="F87171"/>
          </a:solidFill>
          <a:ln/>
        </p:spPr>
      </p:sp>
      <p:sp>
        <p:nvSpPr>
          <p:cNvPr id="53" name="Text 45"/>
          <p:cNvSpPr txBox="1"/>
          <p:nvPr/>
        </p:nvSpPr>
        <p:spPr>
          <a:xfrm>
            <a:off x="6928409" y="4290364"/>
            <a:ext cx="4496105" cy="162763"/>
          </a:xfrm>
          <a:prstGeom prst="rect">
            <a:avLst/>
          </a:prstGeom>
          <a:noFill/>
          <a:ln/>
        </p:spPr>
        <p:txBody>
          <a:bodyPr wrap="square" lIns="0" tIns="0" rIns="0" bIns="0" rtlCol="0" anchor="ctr"/>
          <a:lstStyle/>
          <a:p>
            <a:pPr marL="0" indent="0" algn="l">
              <a:buNone/>
            </a:pPr>
            <a:r>
              <a:rPr lang="en-US" sz="900" dirty="0">
                <a:solidFill>
                  <a:srgbClr val="6B7280"/>
                </a:solidFill>
                <a:latin typeface="Noto Sans KR" pitchFamily="34" charset="0"/>
                <a:ea typeface="Noto Sans KR" pitchFamily="34" charset="-122"/>
                <a:cs typeface="Noto Sans KR" pitchFamily="34" charset="-120"/>
              </a:rPr>
              <a:t>목표치(-15%)를 소폭 초과(-1.56%p). 하락장에서 현금 비중 확대가 다소 지연되는 경향 관찰.</a:t>
            </a:r>
            <a:endParaRPr lang="en-US" sz="900" dirty="0"/>
          </a:p>
        </p:txBody>
      </p:sp>
      <p:sp>
        <p:nvSpPr>
          <p:cNvPr id="54" name="Shape 46"/>
          <p:cNvSpPr/>
          <p:nvPr/>
        </p:nvSpPr>
        <p:spPr>
          <a:xfrm>
            <a:off x="6728155" y="5008168"/>
            <a:ext cx="4895698" cy="1371600"/>
          </a:xfrm>
          <a:prstGeom prst="rect">
            <a:avLst/>
          </a:prstGeom>
          <a:solidFill>
            <a:srgbClr val="F8FAFC"/>
          </a:solidFill>
          <a:ln/>
        </p:spPr>
      </p:sp>
      <p:sp>
        <p:nvSpPr>
          <p:cNvPr id="55" name="Shape 47"/>
          <p:cNvSpPr/>
          <p:nvPr/>
        </p:nvSpPr>
        <p:spPr>
          <a:xfrm>
            <a:off x="6728155" y="5008168"/>
            <a:ext cx="38405" cy="1371600"/>
          </a:xfrm>
          <a:prstGeom prst="rect">
            <a:avLst/>
          </a:prstGeom>
          <a:solidFill>
            <a:srgbClr val="4F46E5"/>
          </a:solidFill>
          <a:ln/>
        </p:spPr>
      </p:sp>
      <p:pic>
        <p:nvPicPr>
          <p:cNvPr id="56" name="Image 6" descr="preencoded.png"/>
          <p:cNvPicPr>
            <a:picLocks noChangeAspect="1"/>
          </p:cNvPicPr>
          <p:nvPr/>
        </p:nvPicPr>
        <p:blipFill>
          <a:blip r:embed="rId9"/>
          <a:srcRect l="-2512" r="-2512"/>
          <a:stretch/>
        </p:blipFill>
        <p:spPr>
          <a:xfrm>
            <a:off x="6956755" y="5187391"/>
            <a:ext cx="105156" cy="133502"/>
          </a:xfrm>
          <a:prstGeom prst="rect">
            <a:avLst/>
          </a:prstGeom>
        </p:spPr>
      </p:pic>
      <p:sp>
        <p:nvSpPr>
          <p:cNvPr id="57" name="Text 48"/>
          <p:cNvSpPr txBox="1"/>
          <p:nvPr/>
        </p:nvSpPr>
        <p:spPr>
          <a:xfrm>
            <a:off x="7099402" y="5151729"/>
            <a:ext cx="843077" cy="191110"/>
          </a:xfrm>
          <a:prstGeom prst="rect">
            <a:avLst/>
          </a:prstGeom>
          <a:noFill/>
          <a:ln/>
        </p:spPr>
        <p:txBody>
          <a:bodyPr wrap="square" lIns="0" tIns="0" rIns="0" bIns="0" rtlCol="0" anchor="ctr"/>
          <a:lstStyle/>
          <a:p>
            <a:pPr marL="0" indent="0" algn="l">
              <a:buNone/>
            </a:pPr>
            <a:r>
              <a:rPr lang="en-US" sz="1000" b="1" dirty="0">
                <a:solidFill>
                  <a:srgbClr val="3730A3"/>
                </a:solidFill>
                <a:latin typeface="Noto Sans KR" pitchFamily="34" charset="0"/>
                <a:ea typeface="Noto Sans KR" pitchFamily="34" charset="-122"/>
                <a:cs typeface="Noto Sans KR" pitchFamily="34" charset="-120"/>
              </a:rPr>
              <a:t>Key Insight</a:t>
            </a:r>
            <a:endParaRPr lang="en-US" sz="1000" dirty="0"/>
          </a:p>
        </p:txBody>
      </p:sp>
      <p:sp>
        <p:nvSpPr>
          <p:cNvPr id="58" name="Text 49"/>
          <p:cNvSpPr txBox="1"/>
          <p:nvPr/>
        </p:nvSpPr>
        <p:spPr>
          <a:xfrm>
            <a:off x="6956755" y="5389473"/>
            <a:ext cx="4529938" cy="838505"/>
          </a:xfrm>
          <a:prstGeom prst="rect">
            <a:avLst/>
          </a:prstGeom>
          <a:noFill/>
          <a:ln/>
        </p:spPr>
        <p:txBody>
          <a:bodyPr wrap="square" lIns="0" tIns="0" rIns="0" bIns="0" rtlCol="0" anchor="ctr"/>
          <a:lstStyle/>
          <a:p>
            <a:pPr marL="0" indent="0" algn="l">
              <a:buNone/>
            </a:pPr>
            <a:r>
              <a:rPr lang="en-US" sz="1000" dirty="0">
                <a:solidFill>
                  <a:srgbClr val="334155"/>
                </a:solidFill>
                <a:latin typeface="Noto Sans KR" pitchFamily="34" charset="0"/>
                <a:ea typeface="Noto Sans KR" pitchFamily="34" charset="-122"/>
                <a:cs typeface="Noto Sans KR" pitchFamily="34" charset="-120"/>
              </a:rPr>
              <a:t>"수익성은 입증되었으나, 안정성 강화 필요" 단순 보유 전략 대비 압도적인 초과 수익을 달성하며 섹터 로테이션의 유효성을 입증했습니다. 다만, 목표한 Sharpe Ratio 달성을 위해서는 Reward Function에서 MDD 패널티 가중치를 높이는 추가 튜닝이 필요합니다.</a:t>
            </a:r>
            <a:endParaRPr lang="en-US" sz="1000" dirty="0"/>
          </a:p>
        </p:txBody>
      </p:sp>
      <p:sp>
        <p:nvSpPr>
          <p:cNvPr id="59" name="Shape 50"/>
          <p:cNvSpPr/>
          <p:nvPr/>
        </p:nvSpPr>
        <p:spPr>
          <a:xfrm>
            <a:off x="11420856" y="2094890"/>
            <a:ext cx="19202" cy="133502"/>
          </a:xfrm>
          <a:prstGeom prst="rect">
            <a:avLst/>
          </a:prstGeom>
          <a:solidFill>
            <a:srgbClr val="6B7280"/>
          </a:solidFill>
          <a:ln/>
        </p:spPr>
      </p:sp>
      <p:sp>
        <p:nvSpPr>
          <p:cNvPr id="60" name="Shape 51"/>
          <p:cNvSpPr/>
          <p:nvPr/>
        </p:nvSpPr>
        <p:spPr>
          <a:xfrm>
            <a:off x="10297058" y="3995013"/>
            <a:ext cx="19202" cy="133502"/>
          </a:xfrm>
          <a:prstGeom prst="rect">
            <a:avLst/>
          </a:prstGeom>
          <a:solidFill>
            <a:srgbClr val="6B7280"/>
          </a:solidFill>
          <a:ln/>
        </p:spPr>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8" name="Text 6"/>
          <p:cNvSpPr txBox="1"/>
          <p:nvPr/>
        </p:nvSpPr>
        <p:spPr>
          <a:xfrm>
            <a:off x="571500" y="261518"/>
            <a:ext cx="4705502" cy="457200"/>
          </a:xfrm>
          <a:prstGeom prst="rect">
            <a:avLst/>
          </a:prstGeom>
          <a:noFill/>
          <a:ln/>
        </p:spPr>
        <p:txBody>
          <a:bodyPr wrap="square" lIns="0" tIns="0" rIns="0" bIns="0" rtlCol="0" anchor="ctr"/>
          <a:lstStyle/>
          <a:p>
            <a:pPr marL="0" indent="0" algn="l">
              <a:buNone/>
            </a:pPr>
            <a:r>
              <a:rPr lang="en-US" sz="2400" b="1" dirty="0">
                <a:solidFill>
                  <a:srgbClr val="111827"/>
                </a:solidFill>
                <a:latin typeface="Noto Sans KR" pitchFamily="34" charset="0"/>
                <a:ea typeface="Noto Sans KR" pitchFamily="34" charset="-122"/>
                <a:cs typeface="Noto Sans KR" pitchFamily="34" charset="-120"/>
              </a:rPr>
              <a:t>토의 및 </a:t>
            </a:r>
            <a:r>
              <a:rPr lang="en-US" sz="2400" b="1" dirty="0" err="1">
                <a:solidFill>
                  <a:srgbClr val="111827"/>
                </a:solidFill>
                <a:latin typeface="Noto Sans KR" pitchFamily="34" charset="0"/>
                <a:ea typeface="Noto Sans KR" pitchFamily="34" charset="-122"/>
                <a:cs typeface="Noto Sans KR" pitchFamily="34" charset="-120"/>
              </a:rPr>
              <a:t>개선</a:t>
            </a:r>
            <a:r>
              <a:rPr lang="en-US" sz="2400" b="1" dirty="0">
                <a:solidFill>
                  <a:srgbClr val="111827"/>
                </a:solidFill>
                <a:latin typeface="Noto Sans KR" pitchFamily="34" charset="0"/>
                <a:ea typeface="Noto Sans KR" pitchFamily="34" charset="-122"/>
                <a:cs typeface="Noto Sans KR" pitchFamily="34" charset="-120"/>
              </a:rPr>
              <a:t> </a:t>
            </a:r>
            <a:r>
              <a:rPr lang="en-US" sz="2400" b="1" dirty="0" err="1">
                <a:solidFill>
                  <a:srgbClr val="111827"/>
                </a:solidFill>
                <a:latin typeface="Noto Sans KR" pitchFamily="34" charset="0"/>
                <a:ea typeface="Noto Sans KR" pitchFamily="34" charset="-122"/>
                <a:cs typeface="Noto Sans KR" pitchFamily="34" charset="-120"/>
              </a:rPr>
              <a:t>방안</a:t>
            </a:r>
            <a:endParaRPr lang="en-US" sz="2400" dirty="0"/>
          </a:p>
        </p:txBody>
      </p:sp>
      <p:sp>
        <p:nvSpPr>
          <p:cNvPr id="10" name="Shape 8"/>
          <p:cNvSpPr/>
          <p:nvPr/>
        </p:nvSpPr>
        <p:spPr>
          <a:xfrm>
            <a:off x="571500" y="1068281"/>
            <a:ext cx="5410505" cy="2553005"/>
          </a:xfrm>
          <a:prstGeom prst="roundRect">
            <a:avLst>
              <a:gd name="adj" fmla="val 1604"/>
            </a:avLst>
          </a:prstGeom>
          <a:solidFill>
            <a:srgbClr val="FFFFFF"/>
          </a:solidFill>
          <a:ln w="50800">
            <a:solidFill>
              <a:srgbClr val="EF4444"/>
            </a:solidFill>
            <a:prstDash val="solid"/>
          </a:ln>
          <a:effectLst>
            <a:outerShdw blurRad="63500" dist="38100" dir="5400000" algn="bl" rotWithShape="0">
              <a:srgbClr val="000000">
                <a:alpha val="5000"/>
              </a:srgbClr>
            </a:outerShdw>
          </a:effectLst>
        </p:spPr>
      </p:sp>
      <p:sp>
        <p:nvSpPr>
          <p:cNvPr id="11" name="Shape 9"/>
          <p:cNvSpPr/>
          <p:nvPr/>
        </p:nvSpPr>
        <p:spPr>
          <a:xfrm>
            <a:off x="819302" y="1344429"/>
            <a:ext cx="381305" cy="381305"/>
          </a:xfrm>
          <a:prstGeom prst="roundRect">
            <a:avLst>
              <a:gd name="adj" fmla="val 47962"/>
            </a:avLst>
          </a:prstGeom>
          <a:solidFill>
            <a:srgbClr val="FEE2E2"/>
          </a:solidFill>
          <a:ln/>
        </p:spPr>
      </p:sp>
      <p:pic>
        <p:nvPicPr>
          <p:cNvPr id="12" name="Image 0" descr="preencoded.png"/>
          <p:cNvPicPr>
            <a:picLocks noChangeAspect="1"/>
          </p:cNvPicPr>
          <p:nvPr/>
        </p:nvPicPr>
        <p:blipFill>
          <a:blip r:embed="rId3"/>
          <a:srcRect/>
          <a:stretch/>
        </p:blipFill>
        <p:spPr>
          <a:xfrm>
            <a:off x="914400" y="1439527"/>
            <a:ext cx="190195" cy="190195"/>
          </a:xfrm>
          <a:prstGeom prst="rect">
            <a:avLst/>
          </a:prstGeom>
        </p:spPr>
      </p:pic>
      <p:sp>
        <p:nvSpPr>
          <p:cNvPr id="13" name="Text 10"/>
          <p:cNvSpPr txBox="1"/>
          <p:nvPr/>
        </p:nvSpPr>
        <p:spPr>
          <a:xfrm>
            <a:off x="1314907" y="1406609"/>
            <a:ext cx="1967789" cy="247802"/>
          </a:xfrm>
          <a:prstGeom prst="rect">
            <a:avLst/>
          </a:prstGeom>
          <a:noFill/>
          <a:ln/>
        </p:spPr>
        <p:txBody>
          <a:bodyPr wrap="square" lIns="0" tIns="0" rIns="0" bIns="0" rtlCol="0" anchor="ctr"/>
          <a:lstStyle/>
          <a:p>
            <a:pPr marL="0" indent="0" algn="l">
              <a:buNone/>
            </a:pPr>
            <a:r>
              <a:rPr lang="en-US" sz="1300" b="1" dirty="0">
                <a:solidFill>
                  <a:srgbClr val="1F2937"/>
                </a:solidFill>
                <a:latin typeface="Noto Sans KR" pitchFamily="34" charset="0"/>
                <a:ea typeface="Noto Sans KR" pitchFamily="34" charset="-122"/>
                <a:cs typeface="Noto Sans KR" pitchFamily="34" charset="-120"/>
              </a:rPr>
              <a:t>Reward Function 개선</a:t>
            </a:r>
            <a:endParaRPr lang="en-US" sz="1300" dirty="0"/>
          </a:p>
        </p:txBody>
      </p:sp>
      <p:pic>
        <p:nvPicPr>
          <p:cNvPr id="14" name="Image 1" descr="preencoded.png"/>
          <p:cNvPicPr>
            <a:picLocks noChangeAspect="1"/>
          </p:cNvPicPr>
          <p:nvPr/>
        </p:nvPicPr>
        <p:blipFill>
          <a:blip r:embed="rId4"/>
          <a:srcRect/>
          <a:stretch/>
        </p:blipFill>
        <p:spPr>
          <a:xfrm>
            <a:off x="819302" y="1973537"/>
            <a:ext cx="75895" cy="75895"/>
          </a:xfrm>
          <a:prstGeom prst="rect">
            <a:avLst/>
          </a:prstGeom>
        </p:spPr>
      </p:pic>
      <p:sp>
        <p:nvSpPr>
          <p:cNvPr id="15" name="Text 11"/>
          <p:cNvSpPr txBox="1"/>
          <p:nvPr/>
        </p:nvSpPr>
        <p:spPr>
          <a:xfrm>
            <a:off x="990295" y="1915929"/>
            <a:ext cx="4764938" cy="419710"/>
          </a:xfrm>
          <a:prstGeom prst="rect">
            <a:avLst/>
          </a:prstGeom>
          <a:noFill/>
          <a:ln/>
        </p:spPr>
        <p:txBody>
          <a:bodyPr wrap="square" lIns="0" tIns="0" rIns="0" bIns="0" rtlCol="0" anchor="ctr"/>
          <a:lstStyle/>
          <a:p>
            <a:pPr marL="0" indent="0" algn="l">
              <a:buNone/>
            </a:pPr>
            <a:r>
              <a:rPr lang="en-US" sz="1100" dirty="0">
                <a:solidFill>
                  <a:srgbClr val="4B5563"/>
                </a:solidFill>
                <a:latin typeface="Noto Sans KR" pitchFamily="34" charset="0"/>
                <a:ea typeface="Noto Sans KR" pitchFamily="34" charset="-122"/>
                <a:cs typeface="Noto Sans KR" pitchFamily="34" charset="-120"/>
              </a:rPr>
              <a:t>MDD 패널티 강화: 현재 단순 차감 방식에서 MDD 크기에 비례하는 지수적 패널티 도입 (예: $e^{k \times MDD}$)</a:t>
            </a:r>
            <a:endParaRPr lang="en-US" sz="1100" dirty="0"/>
          </a:p>
        </p:txBody>
      </p:sp>
      <p:pic>
        <p:nvPicPr>
          <p:cNvPr id="16" name="Image 2" descr="preencoded.png"/>
          <p:cNvPicPr>
            <a:picLocks noChangeAspect="1"/>
          </p:cNvPicPr>
          <p:nvPr/>
        </p:nvPicPr>
        <p:blipFill>
          <a:blip r:embed="rId4"/>
          <a:srcRect/>
          <a:stretch/>
        </p:blipFill>
        <p:spPr>
          <a:xfrm>
            <a:off x="819302" y="2516690"/>
            <a:ext cx="75895" cy="75895"/>
          </a:xfrm>
          <a:prstGeom prst="rect">
            <a:avLst/>
          </a:prstGeom>
        </p:spPr>
      </p:pic>
      <p:sp>
        <p:nvSpPr>
          <p:cNvPr id="17" name="Text 12"/>
          <p:cNvSpPr txBox="1"/>
          <p:nvPr/>
        </p:nvSpPr>
        <p:spPr>
          <a:xfrm>
            <a:off x="990295" y="2459083"/>
            <a:ext cx="4813402" cy="419710"/>
          </a:xfrm>
          <a:prstGeom prst="rect">
            <a:avLst/>
          </a:prstGeom>
          <a:noFill/>
          <a:ln/>
        </p:spPr>
        <p:txBody>
          <a:bodyPr wrap="square" lIns="0" tIns="0" rIns="0" bIns="0" rtlCol="0" anchor="ctr"/>
          <a:lstStyle/>
          <a:p>
            <a:pPr marL="0" indent="0" algn="l">
              <a:buNone/>
            </a:pPr>
            <a:r>
              <a:rPr lang="en-US" sz="1100" dirty="0">
                <a:solidFill>
                  <a:srgbClr val="4B5563"/>
                </a:solidFill>
                <a:latin typeface="Noto Sans KR" pitchFamily="34" charset="0"/>
                <a:ea typeface="Noto Sans KR" pitchFamily="34" charset="-122"/>
                <a:cs typeface="Noto Sans KR" pitchFamily="34" charset="-120"/>
              </a:rPr>
              <a:t>변동성 제어: 포트폴리오 변동성(Standard Deviation)을 Reward 식에 직접 포함하여 Sharpe Ratio 최적화 유도</a:t>
            </a:r>
            <a:endParaRPr lang="en-US" sz="1100" dirty="0"/>
          </a:p>
        </p:txBody>
      </p:sp>
      <p:sp>
        <p:nvSpPr>
          <p:cNvPr id="18" name="Shape 13"/>
          <p:cNvSpPr/>
          <p:nvPr/>
        </p:nvSpPr>
        <p:spPr>
          <a:xfrm>
            <a:off x="819302" y="3049785"/>
            <a:ext cx="1514246" cy="209398"/>
          </a:xfrm>
          <a:prstGeom prst="roundRect">
            <a:avLst>
              <a:gd name="adj" fmla="val 79396"/>
            </a:avLst>
          </a:prstGeom>
          <a:solidFill>
            <a:srgbClr val="FEF2F2"/>
          </a:solidFill>
          <a:ln/>
        </p:spPr>
      </p:sp>
      <p:sp>
        <p:nvSpPr>
          <p:cNvPr id="19" name="Text 14"/>
          <p:cNvSpPr txBox="1"/>
          <p:nvPr/>
        </p:nvSpPr>
        <p:spPr>
          <a:xfrm>
            <a:off x="895198" y="3068988"/>
            <a:ext cx="1448410" cy="162763"/>
          </a:xfrm>
          <a:prstGeom prst="rect">
            <a:avLst/>
          </a:prstGeom>
          <a:noFill/>
          <a:ln/>
        </p:spPr>
        <p:txBody>
          <a:bodyPr wrap="square" lIns="0" tIns="0" rIns="0" bIns="0" rtlCol="0" anchor="ctr"/>
          <a:lstStyle/>
          <a:p>
            <a:pPr marL="0" indent="0" algn="l">
              <a:buNone/>
            </a:pPr>
            <a:r>
              <a:rPr lang="en-US" sz="900" b="1" dirty="0">
                <a:solidFill>
                  <a:srgbClr val="B91C1C"/>
                </a:solidFill>
                <a:latin typeface="Noto Sans KR" pitchFamily="34" charset="0"/>
                <a:ea typeface="Noto Sans KR" pitchFamily="34" charset="-122"/>
                <a:cs typeface="Noto Sans KR" pitchFamily="34" charset="-120"/>
              </a:rPr>
              <a:t>Goal: Sharpe Ratio &gt; 1.5</a:t>
            </a:r>
            <a:endParaRPr lang="en-US" sz="900" dirty="0"/>
          </a:p>
        </p:txBody>
      </p:sp>
      <p:pic>
        <p:nvPicPr>
          <p:cNvPr id="20" name="Image 3" descr="preencoded.png"/>
          <p:cNvPicPr>
            <a:picLocks noChangeAspect="1"/>
          </p:cNvPicPr>
          <p:nvPr/>
        </p:nvPicPr>
        <p:blipFill>
          <a:blip r:embed="rId5">
            <a:alphaModFix amt="50000"/>
          </a:blip>
          <a:srcRect t="-13" b="-13"/>
          <a:stretch/>
        </p:blipFill>
        <p:spPr>
          <a:xfrm>
            <a:off x="5348326" y="3035155"/>
            <a:ext cx="428854" cy="381305"/>
          </a:xfrm>
          <a:prstGeom prst="rect">
            <a:avLst/>
          </a:prstGeom>
        </p:spPr>
      </p:pic>
      <p:sp>
        <p:nvSpPr>
          <p:cNvPr id="21" name="Shape 15"/>
          <p:cNvSpPr/>
          <p:nvPr/>
        </p:nvSpPr>
        <p:spPr>
          <a:xfrm>
            <a:off x="6215177" y="1068281"/>
            <a:ext cx="5410505" cy="2553005"/>
          </a:xfrm>
          <a:prstGeom prst="roundRect">
            <a:avLst>
              <a:gd name="adj" fmla="val 1604"/>
            </a:avLst>
          </a:prstGeom>
          <a:solidFill>
            <a:srgbClr val="FFFFFF"/>
          </a:solidFill>
          <a:ln w="50800">
            <a:solidFill>
              <a:srgbClr val="F59E0B"/>
            </a:solidFill>
            <a:prstDash val="solid"/>
          </a:ln>
          <a:effectLst>
            <a:outerShdw blurRad="63500" dist="38100" dir="5400000" algn="bl" rotWithShape="0">
              <a:srgbClr val="000000">
                <a:alpha val="5000"/>
              </a:srgbClr>
            </a:outerShdw>
          </a:effectLst>
        </p:spPr>
      </p:sp>
      <p:sp>
        <p:nvSpPr>
          <p:cNvPr id="22" name="Shape 16"/>
          <p:cNvSpPr/>
          <p:nvPr/>
        </p:nvSpPr>
        <p:spPr>
          <a:xfrm>
            <a:off x="6462979" y="1344429"/>
            <a:ext cx="381305" cy="381305"/>
          </a:xfrm>
          <a:prstGeom prst="roundRect">
            <a:avLst>
              <a:gd name="adj" fmla="val 47962"/>
            </a:avLst>
          </a:prstGeom>
          <a:solidFill>
            <a:srgbClr val="FEF3C7"/>
          </a:solidFill>
          <a:ln/>
        </p:spPr>
      </p:sp>
      <p:pic>
        <p:nvPicPr>
          <p:cNvPr id="23" name="Image 4" descr="preencoded.png"/>
          <p:cNvPicPr>
            <a:picLocks noChangeAspect="1"/>
          </p:cNvPicPr>
          <p:nvPr/>
        </p:nvPicPr>
        <p:blipFill>
          <a:blip r:embed="rId6"/>
          <a:srcRect l="-1648" r="-1648"/>
          <a:stretch/>
        </p:blipFill>
        <p:spPr>
          <a:xfrm>
            <a:off x="6567221" y="1439527"/>
            <a:ext cx="171907" cy="190195"/>
          </a:xfrm>
          <a:prstGeom prst="rect">
            <a:avLst/>
          </a:prstGeom>
        </p:spPr>
      </p:pic>
      <p:sp>
        <p:nvSpPr>
          <p:cNvPr id="24" name="Text 17"/>
          <p:cNvSpPr txBox="1"/>
          <p:nvPr/>
        </p:nvSpPr>
        <p:spPr>
          <a:xfrm>
            <a:off x="6957670" y="1406609"/>
            <a:ext cx="2358238" cy="247802"/>
          </a:xfrm>
          <a:prstGeom prst="rect">
            <a:avLst/>
          </a:prstGeom>
          <a:noFill/>
          <a:ln/>
        </p:spPr>
        <p:txBody>
          <a:bodyPr wrap="square" lIns="0" tIns="0" rIns="0" bIns="0" rtlCol="0" anchor="ctr"/>
          <a:lstStyle/>
          <a:p>
            <a:pPr marL="0" indent="0" algn="l">
              <a:buNone/>
            </a:pPr>
            <a:r>
              <a:rPr lang="en-US" sz="1300" b="1" dirty="0">
                <a:solidFill>
                  <a:srgbClr val="1F2937"/>
                </a:solidFill>
                <a:latin typeface="Noto Sans KR" pitchFamily="34" charset="0"/>
                <a:ea typeface="Noto Sans KR" pitchFamily="34" charset="-122"/>
                <a:cs typeface="Noto Sans KR" pitchFamily="34" charset="-120"/>
              </a:rPr>
              <a:t>제약 조건 (Constraints) 추가</a:t>
            </a:r>
            <a:endParaRPr lang="en-US" sz="1300" dirty="0"/>
          </a:p>
        </p:txBody>
      </p:sp>
      <p:pic>
        <p:nvPicPr>
          <p:cNvPr id="25" name="Image 5" descr="preencoded.png"/>
          <p:cNvPicPr>
            <a:picLocks noChangeAspect="1"/>
          </p:cNvPicPr>
          <p:nvPr/>
        </p:nvPicPr>
        <p:blipFill>
          <a:blip r:embed="rId4"/>
          <a:srcRect/>
          <a:stretch/>
        </p:blipFill>
        <p:spPr>
          <a:xfrm>
            <a:off x="6462979" y="1973537"/>
            <a:ext cx="75895" cy="75895"/>
          </a:xfrm>
          <a:prstGeom prst="rect">
            <a:avLst/>
          </a:prstGeom>
        </p:spPr>
      </p:pic>
      <p:sp>
        <p:nvSpPr>
          <p:cNvPr id="26" name="Text 18"/>
          <p:cNvSpPr txBox="1"/>
          <p:nvPr/>
        </p:nvSpPr>
        <p:spPr>
          <a:xfrm>
            <a:off x="6633972" y="1915929"/>
            <a:ext cx="4822546" cy="419710"/>
          </a:xfrm>
          <a:prstGeom prst="rect">
            <a:avLst/>
          </a:prstGeom>
          <a:noFill/>
          <a:ln/>
        </p:spPr>
        <p:txBody>
          <a:bodyPr wrap="square" lIns="0" tIns="0" rIns="0" bIns="0" rtlCol="0" anchor="ctr"/>
          <a:lstStyle/>
          <a:p>
            <a:pPr marL="0" indent="0" algn="l">
              <a:buNone/>
            </a:pPr>
            <a:r>
              <a:rPr lang="en-US" sz="1100" dirty="0">
                <a:solidFill>
                  <a:srgbClr val="4B5563"/>
                </a:solidFill>
                <a:latin typeface="Noto Sans KR" pitchFamily="34" charset="0"/>
                <a:ea typeface="Noto Sans KR" pitchFamily="34" charset="-122"/>
                <a:cs typeface="Noto Sans KR" pitchFamily="34" charset="-120"/>
              </a:rPr>
              <a:t>최소 현금 보유: 하락장 방어력 확보를 위해 포트폴리오 내 현금 비중 하한선(Min 10%) 강제 설정</a:t>
            </a:r>
            <a:endParaRPr lang="en-US" sz="1100" dirty="0"/>
          </a:p>
        </p:txBody>
      </p:sp>
      <p:pic>
        <p:nvPicPr>
          <p:cNvPr id="27" name="Image 6" descr="preencoded.png"/>
          <p:cNvPicPr>
            <a:picLocks noChangeAspect="1"/>
          </p:cNvPicPr>
          <p:nvPr/>
        </p:nvPicPr>
        <p:blipFill>
          <a:blip r:embed="rId4"/>
          <a:srcRect/>
          <a:stretch/>
        </p:blipFill>
        <p:spPr>
          <a:xfrm>
            <a:off x="6462979" y="2516690"/>
            <a:ext cx="75895" cy="75895"/>
          </a:xfrm>
          <a:prstGeom prst="rect">
            <a:avLst/>
          </a:prstGeom>
        </p:spPr>
      </p:pic>
      <p:sp>
        <p:nvSpPr>
          <p:cNvPr id="28" name="Text 19"/>
          <p:cNvSpPr txBox="1"/>
          <p:nvPr/>
        </p:nvSpPr>
        <p:spPr>
          <a:xfrm>
            <a:off x="6633972" y="2459083"/>
            <a:ext cx="4708246" cy="419710"/>
          </a:xfrm>
          <a:prstGeom prst="rect">
            <a:avLst/>
          </a:prstGeom>
          <a:noFill/>
          <a:ln/>
        </p:spPr>
        <p:txBody>
          <a:bodyPr wrap="square" lIns="0" tIns="0" rIns="0" bIns="0" rtlCol="0" anchor="ctr"/>
          <a:lstStyle/>
          <a:p>
            <a:pPr marL="0" indent="0" algn="l">
              <a:buNone/>
            </a:pPr>
            <a:r>
              <a:rPr lang="en-US" sz="1100" dirty="0">
                <a:solidFill>
                  <a:srgbClr val="4B5563"/>
                </a:solidFill>
                <a:latin typeface="Noto Sans KR" pitchFamily="34" charset="0"/>
                <a:ea typeface="Noto Sans KR" pitchFamily="34" charset="-122"/>
                <a:cs typeface="Noto Sans KR" pitchFamily="34" charset="-120"/>
              </a:rPr>
              <a:t>섹터 편중 방지: 단일 섹터 최대 비중 제한(Max 30%)을 통해 과도한 집중 투자 리스크 관리</a:t>
            </a:r>
            <a:endParaRPr lang="en-US" sz="1100" dirty="0"/>
          </a:p>
        </p:txBody>
      </p:sp>
      <p:sp>
        <p:nvSpPr>
          <p:cNvPr id="29" name="Shape 20"/>
          <p:cNvSpPr/>
          <p:nvPr/>
        </p:nvSpPr>
        <p:spPr>
          <a:xfrm>
            <a:off x="6462979" y="3049785"/>
            <a:ext cx="1162202" cy="209398"/>
          </a:xfrm>
          <a:prstGeom prst="roundRect">
            <a:avLst>
              <a:gd name="adj" fmla="val 79396"/>
            </a:avLst>
          </a:prstGeom>
          <a:solidFill>
            <a:srgbClr val="FFFBEB"/>
          </a:solidFill>
          <a:ln/>
        </p:spPr>
      </p:sp>
      <p:sp>
        <p:nvSpPr>
          <p:cNvPr id="30" name="Text 21"/>
          <p:cNvSpPr txBox="1"/>
          <p:nvPr/>
        </p:nvSpPr>
        <p:spPr>
          <a:xfrm>
            <a:off x="6538874" y="3068988"/>
            <a:ext cx="1095451" cy="162763"/>
          </a:xfrm>
          <a:prstGeom prst="rect">
            <a:avLst/>
          </a:prstGeom>
          <a:noFill/>
          <a:ln/>
        </p:spPr>
        <p:txBody>
          <a:bodyPr wrap="square" lIns="0" tIns="0" rIns="0" bIns="0" rtlCol="0" anchor="ctr"/>
          <a:lstStyle/>
          <a:p>
            <a:pPr marL="0" indent="0" algn="l">
              <a:buNone/>
            </a:pPr>
            <a:r>
              <a:rPr lang="en-US" sz="900" b="1" dirty="0">
                <a:solidFill>
                  <a:srgbClr val="B45309"/>
                </a:solidFill>
                <a:latin typeface="Noto Sans KR" pitchFamily="34" charset="0"/>
                <a:ea typeface="Noto Sans KR" pitchFamily="34" charset="-122"/>
                <a:cs typeface="Noto Sans KR" pitchFamily="34" charset="-120"/>
              </a:rPr>
              <a:t>Goal: MDD &lt; -15%</a:t>
            </a:r>
            <a:endParaRPr lang="en-US" sz="900" dirty="0"/>
          </a:p>
        </p:txBody>
      </p:sp>
      <p:pic>
        <p:nvPicPr>
          <p:cNvPr id="31" name="Image 7" descr="preencoded.png"/>
          <p:cNvPicPr>
            <a:picLocks noChangeAspect="1"/>
          </p:cNvPicPr>
          <p:nvPr/>
        </p:nvPicPr>
        <p:blipFill>
          <a:blip r:embed="rId7">
            <a:alphaModFix amt="50000"/>
          </a:blip>
          <a:srcRect/>
          <a:stretch/>
        </p:blipFill>
        <p:spPr>
          <a:xfrm>
            <a:off x="11039551" y="3035155"/>
            <a:ext cx="381305" cy="381305"/>
          </a:xfrm>
          <a:prstGeom prst="rect">
            <a:avLst/>
          </a:prstGeom>
        </p:spPr>
      </p:pic>
      <p:sp>
        <p:nvSpPr>
          <p:cNvPr id="32" name="Shape 22"/>
          <p:cNvSpPr/>
          <p:nvPr/>
        </p:nvSpPr>
        <p:spPr>
          <a:xfrm>
            <a:off x="571500" y="3854457"/>
            <a:ext cx="5410505" cy="2553005"/>
          </a:xfrm>
          <a:prstGeom prst="roundRect">
            <a:avLst>
              <a:gd name="adj" fmla="val 1604"/>
            </a:avLst>
          </a:prstGeom>
          <a:solidFill>
            <a:srgbClr val="FFFFFF"/>
          </a:solidFill>
          <a:ln w="50800">
            <a:solidFill>
              <a:srgbClr val="10B981"/>
            </a:solidFill>
            <a:prstDash val="solid"/>
          </a:ln>
          <a:effectLst>
            <a:outerShdw blurRad="63500" dist="38100" dir="5400000" algn="bl" rotWithShape="0">
              <a:srgbClr val="000000">
                <a:alpha val="5000"/>
              </a:srgbClr>
            </a:outerShdw>
          </a:effectLst>
        </p:spPr>
      </p:sp>
      <p:sp>
        <p:nvSpPr>
          <p:cNvPr id="33" name="Shape 23"/>
          <p:cNvSpPr/>
          <p:nvPr/>
        </p:nvSpPr>
        <p:spPr>
          <a:xfrm>
            <a:off x="819302" y="4130606"/>
            <a:ext cx="381305" cy="381305"/>
          </a:xfrm>
          <a:prstGeom prst="roundRect">
            <a:avLst>
              <a:gd name="adj" fmla="val 47962"/>
            </a:avLst>
          </a:prstGeom>
          <a:solidFill>
            <a:srgbClr val="D1FAE5"/>
          </a:solidFill>
          <a:ln/>
        </p:spPr>
      </p:sp>
      <p:pic>
        <p:nvPicPr>
          <p:cNvPr id="34" name="Image 8" descr="preencoded.png"/>
          <p:cNvPicPr>
            <a:picLocks noChangeAspect="1"/>
          </p:cNvPicPr>
          <p:nvPr/>
        </p:nvPicPr>
        <p:blipFill>
          <a:blip r:embed="rId8"/>
          <a:srcRect/>
          <a:stretch/>
        </p:blipFill>
        <p:spPr>
          <a:xfrm>
            <a:off x="890626" y="4225704"/>
            <a:ext cx="237744" cy="190195"/>
          </a:xfrm>
          <a:prstGeom prst="rect">
            <a:avLst/>
          </a:prstGeom>
        </p:spPr>
      </p:pic>
      <p:sp>
        <p:nvSpPr>
          <p:cNvPr id="35" name="Text 24"/>
          <p:cNvSpPr txBox="1"/>
          <p:nvPr/>
        </p:nvSpPr>
        <p:spPr>
          <a:xfrm>
            <a:off x="1314907" y="4192785"/>
            <a:ext cx="1329538" cy="247802"/>
          </a:xfrm>
          <a:prstGeom prst="rect">
            <a:avLst/>
          </a:prstGeom>
          <a:noFill/>
          <a:ln/>
        </p:spPr>
        <p:txBody>
          <a:bodyPr wrap="square" lIns="0" tIns="0" rIns="0" bIns="0" rtlCol="0" anchor="ctr"/>
          <a:lstStyle/>
          <a:p>
            <a:pPr marL="0" indent="0" algn="l">
              <a:buNone/>
            </a:pPr>
            <a:r>
              <a:rPr lang="en-US" sz="1300" b="1" dirty="0">
                <a:solidFill>
                  <a:srgbClr val="1F2937"/>
                </a:solidFill>
                <a:latin typeface="Noto Sans KR" pitchFamily="34" charset="0"/>
                <a:ea typeface="Noto Sans KR" pitchFamily="34" charset="-122"/>
                <a:cs typeface="Noto Sans KR" pitchFamily="34" charset="-120"/>
              </a:rPr>
              <a:t>학습 전략 고도화</a:t>
            </a:r>
            <a:endParaRPr lang="en-US" sz="1300" dirty="0"/>
          </a:p>
        </p:txBody>
      </p:sp>
      <p:pic>
        <p:nvPicPr>
          <p:cNvPr id="36" name="Image 9" descr="preencoded.png"/>
          <p:cNvPicPr>
            <a:picLocks noChangeAspect="1"/>
          </p:cNvPicPr>
          <p:nvPr/>
        </p:nvPicPr>
        <p:blipFill>
          <a:blip r:embed="rId4"/>
          <a:srcRect/>
          <a:stretch/>
        </p:blipFill>
        <p:spPr>
          <a:xfrm>
            <a:off x="819302" y="4759713"/>
            <a:ext cx="75895" cy="75895"/>
          </a:xfrm>
          <a:prstGeom prst="rect">
            <a:avLst/>
          </a:prstGeom>
        </p:spPr>
      </p:pic>
      <p:sp>
        <p:nvSpPr>
          <p:cNvPr id="37" name="Text 25"/>
          <p:cNvSpPr txBox="1"/>
          <p:nvPr/>
        </p:nvSpPr>
        <p:spPr>
          <a:xfrm>
            <a:off x="990295" y="4702106"/>
            <a:ext cx="4451299" cy="419710"/>
          </a:xfrm>
          <a:prstGeom prst="rect">
            <a:avLst/>
          </a:prstGeom>
          <a:noFill/>
          <a:ln/>
        </p:spPr>
        <p:txBody>
          <a:bodyPr wrap="square" lIns="0" tIns="0" rIns="0" bIns="0" rtlCol="0" anchor="ctr"/>
          <a:lstStyle/>
          <a:p>
            <a:pPr marL="0" indent="0" algn="l">
              <a:buNone/>
            </a:pPr>
            <a:r>
              <a:rPr lang="en-US" sz="1100" dirty="0">
                <a:solidFill>
                  <a:srgbClr val="4B5563"/>
                </a:solidFill>
                <a:latin typeface="Noto Sans KR" pitchFamily="34" charset="0"/>
                <a:ea typeface="Noto Sans KR" pitchFamily="34" charset="-122"/>
                <a:cs typeface="Noto Sans KR" pitchFamily="34" charset="-120"/>
              </a:rPr>
              <a:t>Hyperparameter Tuning: Optuna 등을 활용하여 Learning Rate, Clip Range, GAE Lambda 등 핵심 파라미터 최적화</a:t>
            </a:r>
            <a:endParaRPr lang="en-US" sz="1100" dirty="0"/>
          </a:p>
        </p:txBody>
      </p:sp>
      <p:pic>
        <p:nvPicPr>
          <p:cNvPr id="38" name="Image 10" descr="preencoded.png"/>
          <p:cNvPicPr>
            <a:picLocks noChangeAspect="1"/>
          </p:cNvPicPr>
          <p:nvPr/>
        </p:nvPicPr>
        <p:blipFill>
          <a:blip r:embed="rId4"/>
          <a:srcRect/>
          <a:stretch/>
        </p:blipFill>
        <p:spPr>
          <a:xfrm>
            <a:off x="819302" y="5301953"/>
            <a:ext cx="75895" cy="75895"/>
          </a:xfrm>
          <a:prstGeom prst="rect">
            <a:avLst/>
          </a:prstGeom>
        </p:spPr>
      </p:pic>
      <p:sp>
        <p:nvSpPr>
          <p:cNvPr id="39" name="Text 26"/>
          <p:cNvSpPr txBox="1"/>
          <p:nvPr/>
        </p:nvSpPr>
        <p:spPr>
          <a:xfrm>
            <a:off x="990295" y="5245260"/>
            <a:ext cx="4727448" cy="419710"/>
          </a:xfrm>
          <a:prstGeom prst="rect">
            <a:avLst/>
          </a:prstGeom>
          <a:noFill/>
          <a:ln/>
        </p:spPr>
        <p:txBody>
          <a:bodyPr wrap="square" lIns="0" tIns="0" rIns="0" bIns="0" rtlCol="0" anchor="ctr"/>
          <a:lstStyle/>
          <a:p>
            <a:pPr marL="0" indent="0" algn="l">
              <a:buNone/>
            </a:pPr>
            <a:r>
              <a:rPr lang="en-US" sz="1100" dirty="0">
                <a:solidFill>
                  <a:srgbClr val="4B5563"/>
                </a:solidFill>
                <a:latin typeface="Noto Sans KR" pitchFamily="34" charset="0"/>
                <a:ea typeface="Noto Sans KR" pitchFamily="34" charset="-122"/>
                <a:cs typeface="Noto Sans KR" pitchFamily="34" charset="-120"/>
              </a:rPr>
              <a:t>데이터 확장: Bull/Bear 마켓 시나리오 데이터를 증강(Augmentation)하여 다양한 시장 국면 학습</a:t>
            </a:r>
            <a:endParaRPr lang="en-US" sz="1100" dirty="0"/>
          </a:p>
        </p:txBody>
      </p:sp>
      <p:sp>
        <p:nvSpPr>
          <p:cNvPr id="40" name="Shape 27"/>
          <p:cNvSpPr/>
          <p:nvPr/>
        </p:nvSpPr>
        <p:spPr>
          <a:xfrm>
            <a:off x="819302" y="5835962"/>
            <a:ext cx="1304849" cy="209398"/>
          </a:xfrm>
          <a:prstGeom prst="roundRect">
            <a:avLst>
              <a:gd name="adj" fmla="val 79396"/>
            </a:avLst>
          </a:prstGeom>
          <a:solidFill>
            <a:srgbClr val="ECFDF5"/>
          </a:solidFill>
          <a:ln/>
        </p:spPr>
      </p:sp>
      <p:sp>
        <p:nvSpPr>
          <p:cNvPr id="41" name="Text 28"/>
          <p:cNvSpPr txBox="1"/>
          <p:nvPr/>
        </p:nvSpPr>
        <p:spPr>
          <a:xfrm>
            <a:off x="895198" y="5855165"/>
            <a:ext cx="1239012" cy="162763"/>
          </a:xfrm>
          <a:prstGeom prst="rect">
            <a:avLst/>
          </a:prstGeom>
          <a:noFill/>
          <a:ln/>
        </p:spPr>
        <p:txBody>
          <a:bodyPr wrap="square" lIns="0" tIns="0" rIns="0" bIns="0" rtlCol="0" anchor="ctr"/>
          <a:lstStyle/>
          <a:p>
            <a:pPr marL="0" indent="0" algn="l">
              <a:buNone/>
            </a:pPr>
            <a:r>
              <a:rPr lang="en-US" sz="900" b="1" dirty="0">
                <a:solidFill>
                  <a:srgbClr val="047857"/>
                </a:solidFill>
                <a:latin typeface="Noto Sans KR" pitchFamily="34" charset="0"/>
                <a:ea typeface="Noto Sans KR" pitchFamily="34" charset="-122"/>
                <a:cs typeface="Noto Sans KR" pitchFamily="34" charset="-120"/>
              </a:rPr>
              <a:t>Goal: Generalization</a:t>
            </a:r>
            <a:endParaRPr lang="en-US" sz="900" dirty="0"/>
          </a:p>
        </p:txBody>
      </p:sp>
      <p:pic>
        <p:nvPicPr>
          <p:cNvPr id="42" name="Image 11" descr="preencoded.png"/>
          <p:cNvPicPr>
            <a:picLocks noChangeAspect="1"/>
          </p:cNvPicPr>
          <p:nvPr/>
        </p:nvPicPr>
        <p:blipFill>
          <a:blip r:embed="rId9">
            <a:alphaModFix amt="50000"/>
          </a:blip>
          <a:srcRect/>
          <a:stretch/>
        </p:blipFill>
        <p:spPr>
          <a:xfrm>
            <a:off x="5395874" y="5821332"/>
            <a:ext cx="381305" cy="381305"/>
          </a:xfrm>
          <a:prstGeom prst="rect">
            <a:avLst/>
          </a:prstGeom>
        </p:spPr>
      </p:pic>
      <p:sp>
        <p:nvSpPr>
          <p:cNvPr id="43" name="Shape 29"/>
          <p:cNvSpPr/>
          <p:nvPr/>
        </p:nvSpPr>
        <p:spPr>
          <a:xfrm>
            <a:off x="6215177" y="3854457"/>
            <a:ext cx="5410505" cy="2553005"/>
          </a:xfrm>
          <a:prstGeom prst="roundRect">
            <a:avLst>
              <a:gd name="adj" fmla="val 1604"/>
            </a:avLst>
          </a:prstGeom>
          <a:solidFill>
            <a:srgbClr val="FFFFFF"/>
          </a:solidFill>
          <a:ln w="50800">
            <a:solidFill>
              <a:srgbClr val="6366F1"/>
            </a:solidFill>
            <a:prstDash val="solid"/>
          </a:ln>
          <a:effectLst>
            <a:outerShdw blurRad="63500" dist="38100" dir="5400000" algn="bl" rotWithShape="0">
              <a:srgbClr val="000000">
                <a:alpha val="5000"/>
              </a:srgbClr>
            </a:outerShdw>
          </a:effectLst>
        </p:spPr>
      </p:sp>
      <p:sp>
        <p:nvSpPr>
          <p:cNvPr id="44" name="Shape 30"/>
          <p:cNvSpPr/>
          <p:nvPr/>
        </p:nvSpPr>
        <p:spPr>
          <a:xfrm>
            <a:off x="6462979" y="4130606"/>
            <a:ext cx="381305" cy="381305"/>
          </a:xfrm>
          <a:prstGeom prst="roundRect">
            <a:avLst>
              <a:gd name="adj" fmla="val 47962"/>
            </a:avLst>
          </a:prstGeom>
          <a:solidFill>
            <a:srgbClr val="E0E7FF"/>
          </a:solidFill>
          <a:ln/>
        </p:spPr>
      </p:sp>
      <p:pic>
        <p:nvPicPr>
          <p:cNvPr id="45" name="Image 12" descr="preencoded.png"/>
          <p:cNvPicPr>
            <a:picLocks noChangeAspect="1"/>
          </p:cNvPicPr>
          <p:nvPr/>
        </p:nvPicPr>
        <p:blipFill>
          <a:blip r:embed="rId10"/>
          <a:srcRect l="-1282" r="-1282"/>
          <a:stretch/>
        </p:blipFill>
        <p:spPr>
          <a:xfrm>
            <a:off x="6543446" y="4225704"/>
            <a:ext cx="219456" cy="190195"/>
          </a:xfrm>
          <a:prstGeom prst="rect">
            <a:avLst/>
          </a:prstGeom>
        </p:spPr>
      </p:pic>
      <p:sp>
        <p:nvSpPr>
          <p:cNvPr id="46" name="Text 31"/>
          <p:cNvSpPr txBox="1"/>
          <p:nvPr/>
        </p:nvSpPr>
        <p:spPr>
          <a:xfrm>
            <a:off x="6957670" y="4192785"/>
            <a:ext cx="1491386" cy="247802"/>
          </a:xfrm>
          <a:prstGeom prst="rect">
            <a:avLst/>
          </a:prstGeom>
          <a:noFill/>
          <a:ln/>
        </p:spPr>
        <p:txBody>
          <a:bodyPr wrap="square" lIns="0" tIns="0" rIns="0" bIns="0" rtlCol="0" anchor="ctr"/>
          <a:lstStyle/>
          <a:p>
            <a:pPr marL="0" indent="0" algn="l">
              <a:buNone/>
            </a:pPr>
            <a:r>
              <a:rPr lang="en-US" sz="1300" b="1" dirty="0">
                <a:solidFill>
                  <a:srgbClr val="1F2937"/>
                </a:solidFill>
                <a:latin typeface="Noto Sans KR" pitchFamily="34" charset="0"/>
                <a:ea typeface="Noto Sans KR" pitchFamily="34" charset="-122"/>
                <a:cs typeface="Noto Sans KR" pitchFamily="34" charset="-120"/>
              </a:rPr>
              <a:t>모델 아키텍처 확장</a:t>
            </a:r>
            <a:endParaRPr lang="en-US" sz="1300" dirty="0"/>
          </a:p>
        </p:txBody>
      </p:sp>
      <p:pic>
        <p:nvPicPr>
          <p:cNvPr id="47" name="Image 13" descr="preencoded.png"/>
          <p:cNvPicPr>
            <a:picLocks noChangeAspect="1"/>
          </p:cNvPicPr>
          <p:nvPr/>
        </p:nvPicPr>
        <p:blipFill>
          <a:blip r:embed="rId4"/>
          <a:srcRect/>
          <a:stretch/>
        </p:blipFill>
        <p:spPr>
          <a:xfrm>
            <a:off x="6462979" y="4759713"/>
            <a:ext cx="75895" cy="75895"/>
          </a:xfrm>
          <a:prstGeom prst="rect">
            <a:avLst/>
          </a:prstGeom>
        </p:spPr>
      </p:pic>
      <p:sp>
        <p:nvSpPr>
          <p:cNvPr id="48" name="Text 32"/>
          <p:cNvSpPr txBox="1"/>
          <p:nvPr/>
        </p:nvSpPr>
        <p:spPr>
          <a:xfrm>
            <a:off x="6633972" y="4702106"/>
            <a:ext cx="4708246" cy="419710"/>
          </a:xfrm>
          <a:prstGeom prst="rect">
            <a:avLst/>
          </a:prstGeom>
          <a:noFill/>
          <a:ln/>
        </p:spPr>
        <p:txBody>
          <a:bodyPr wrap="square" lIns="0" tIns="0" rIns="0" bIns="0" rtlCol="0" anchor="ctr"/>
          <a:lstStyle/>
          <a:p>
            <a:pPr marL="0" indent="0" algn="l">
              <a:buNone/>
            </a:pPr>
            <a:r>
              <a:rPr lang="en-US" sz="1100" dirty="0">
                <a:solidFill>
                  <a:srgbClr val="4B5563"/>
                </a:solidFill>
                <a:latin typeface="Noto Sans KR" pitchFamily="34" charset="0"/>
                <a:ea typeface="Noto Sans KR" pitchFamily="34" charset="-122"/>
                <a:cs typeface="Noto Sans KR" pitchFamily="34" charset="-120"/>
              </a:rPr>
              <a:t>Transformer 적용: LSTM의 Long-term dependency 한계를 극복하기 위해 Self-Attention 메커니즘 도입</a:t>
            </a:r>
            <a:endParaRPr lang="en-US" sz="1100" dirty="0"/>
          </a:p>
        </p:txBody>
      </p:sp>
      <p:pic>
        <p:nvPicPr>
          <p:cNvPr id="49" name="Image 14" descr="preencoded.png"/>
          <p:cNvPicPr>
            <a:picLocks noChangeAspect="1"/>
          </p:cNvPicPr>
          <p:nvPr/>
        </p:nvPicPr>
        <p:blipFill>
          <a:blip r:embed="rId4"/>
          <a:srcRect/>
          <a:stretch/>
        </p:blipFill>
        <p:spPr>
          <a:xfrm>
            <a:off x="6462979" y="5301953"/>
            <a:ext cx="75895" cy="75895"/>
          </a:xfrm>
          <a:prstGeom prst="rect">
            <a:avLst/>
          </a:prstGeom>
        </p:spPr>
      </p:pic>
      <p:sp>
        <p:nvSpPr>
          <p:cNvPr id="50" name="Text 33"/>
          <p:cNvSpPr txBox="1"/>
          <p:nvPr/>
        </p:nvSpPr>
        <p:spPr>
          <a:xfrm>
            <a:off x="6633972" y="5245260"/>
            <a:ext cx="4850892" cy="419710"/>
          </a:xfrm>
          <a:prstGeom prst="rect">
            <a:avLst/>
          </a:prstGeom>
          <a:noFill/>
          <a:ln/>
        </p:spPr>
        <p:txBody>
          <a:bodyPr wrap="square" lIns="0" tIns="0" rIns="0" bIns="0" rtlCol="0" anchor="ctr"/>
          <a:lstStyle/>
          <a:p>
            <a:pPr marL="0" indent="0" algn="l">
              <a:buNone/>
            </a:pPr>
            <a:r>
              <a:rPr lang="en-US" sz="1100" dirty="0">
                <a:solidFill>
                  <a:srgbClr val="4B5563"/>
                </a:solidFill>
                <a:latin typeface="Noto Sans KR" pitchFamily="34" charset="0"/>
                <a:ea typeface="Noto Sans KR" pitchFamily="34" charset="-122"/>
                <a:cs typeface="Noto Sans KR" pitchFamily="34" charset="-120"/>
              </a:rPr>
              <a:t>앙상블 (Ensemble): 서로 다른 시드(Seed)나 구조를 가진 여러 에이전트의 결정을 조합하여 예측 안정성 향상</a:t>
            </a:r>
            <a:endParaRPr lang="en-US" sz="1100" dirty="0"/>
          </a:p>
        </p:txBody>
      </p:sp>
      <p:sp>
        <p:nvSpPr>
          <p:cNvPr id="51" name="Shape 34"/>
          <p:cNvSpPr/>
          <p:nvPr/>
        </p:nvSpPr>
        <p:spPr>
          <a:xfrm>
            <a:off x="6462979" y="5835962"/>
            <a:ext cx="1133856" cy="209398"/>
          </a:xfrm>
          <a:prstGeom prst="roundRect">
            <a:avLst>
              <a:gd name="adj" fmla="val 79396"/>
            </a:avLst>
          </a:prstGeom>
          <a:solidFill>
            <a:srgbClr val="EEF2FF"/>
          </a:solidFill>
          <a:ln/>
        </p:spPr>
      </p:sp>
      <p:sp>
        <p:nvSpPr>
          <p:cNvPr id="52" name="Text 35"/>
          <p:cNvSpPr txBox="1"/>
          <p:nvPr/>
        </p:nvSpPr>
        <p:spPr>
          <a:xfrm>
            <a:off x="6538874" y="5855165"/>
            <a:ext cx="1067105" cy="162763"/>
          </a:xfrm>
          <a:prstGeom prst="rect">
            <a:avLst/>
          </a:prstGeom>
          <a:noFill/>
          <a:ln/>
        </p:spPr>
        <p:txBody>
          <a:bodyPr wrap="square" lIns="0" tIns="0" rIns="0" bIns="0" rtlCol="0" anchor="ctr"/>
          <a:lstStyle/>
          <a:p>
            <a:pPr marL="0" indent="0" algn="l">
              <a:buNone/>
            </a:pPr>
            <a:r>
              <a:rPr lang="en-US" sz="900" b="1" dirty="0">
                <a:solidFill>
                  <a:srgbClr val="4338CA"/>
                </a:solidFill>
                <a:latin typeface="Noto Sans KR" pitchFamily="34" charset="0"/>
                <a:ea typeface="Noto Sans KR" pitchFamily="34" charset="-122"/>
                <a:cs typeface="Noto Sans KR" pitchFamily="34" charset="-120"/>
              </a:rPr>
              <a:t>Goal: Robustness</a:t>
            </a:r>
            <a:endParaRPr lang="en-US" sz="900" dirty="0"/>
          </a:p>
        </p:txBody>
      </p:sp>
      <p:pic>
        <p:nvPicPr>
          <p:cNvPr id="53" name="Image 15" descr="preencoded.png"/>
          <p:cNvPicPr>
            <a:picLocks noChangeAspect="1"/>
          </p:cNvPicPr>
          <p:nvPr/>
        </p:nvPicPr>
        <p:blipFill>
          <a:blip r:embed="rId11">
            <a:alphaModFix amt="50000"/>
          </a:blip>
          <a:srcRect t="-24" b="-24"/>
          <a:stretch/>
        </p:blipFill>
        <p:spPr>
          <a:xfrm>
            <a:off x="10944454" y="5821332"/>
            <a:ext cx="476402" cy="38130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8" name="Text 6"/>
          <p:cNvSpPr txBox="1"/>
          <p:nvPr/>
        </p:nvSpPr>
        <p:spPr>
          <a:xfrm>
            <a:off x="571499" y="237744"/>
            <a:ext cx="3895998" cy="457200"/>
          </a:xfrm>
          <a:prstGeom prst="rect">
            <a:avLst/>
          </a:prstGeom>
          <a:noFill/>
          <a:ln/>
        </p:spPr>
        <p:txBody>
          <a:bodyPr wrap="square" lIns="0" tIns="0" rIns="0" bIns="0" rtlCol="0" anchor="ctr"/>
          <a:lstStyle/>
          <a:p>
            <a:pPr marL="0" indent="0" algn="l">
              <a:buNone/>
            </a:pPr>
            <a:r>
              <a:rPr lang="en-US" sz="2400" b="1" dirty="0" err="1">
                <a:solidFill>
                  <a:srgbClr val="111827"/>
                </a:solidFill>
                <a:latin typeface="Noto Sans KR" pitchFamily="34" charset="0"/>
                <a:ea typeface="Noto Sans KR" pitchFamily="34" charset="-122"/>
                <a:cs typeface="Noto Sans KR" pitchFamily="34" charset="-120"/>
              </a:rPr>
              <a:t>결론</a:t>
            </a:r>
            <a:r>
              <a:rPr lang="en-US" sz="2400" b="1" dirty="0">
                <a:solidFill>
                  <a:srgbClr val="111827"/>
                </a:solidFill>
                <a:latin typeface="Noto Sans KR" pitchFamily="34" charset="0"/>
                <a:ea typeface="Noto Sans KR" pitchFamily="34" charset="-122"/>
                <a:cs typeface="Noto Sans KR" pitchFamily="34" charset="-120"/>
              </a:rPr>
              <a:t> </a:t>
            </a:r>
            <a:r>
              <a:rPr lang="en-US" sz="2400" b="1" dirty="0" err="1">
                <a:solidFill>
                  <a:srgbClr val="111827"/>
                </a:solidFill>
                <a:latin typeface="Noto Sans KR" pitchFamily="34" charset="0"/>
                <a:ea typeface="Noto Sans KR" pitchFamily="34" charset="-122"/>
                <a:cs typeface="Noto Sans KR" pitchFamily="34" charset="-120"/>
              </a:rPr>
              <a:t>및</a:t>
            </a:r>
            <a:r>
              <a:rPr lang="en-US" sz="2400" b="1" dirty="0">
                <a:solidFill>
                  <a:srgbClr val="111827"/>
                </a:solidFill>
                <a:latin typeface="Noto Sans KR" pitchFamily="34" charset="0"/>
                <a:ea typeface="Noto Sans KR" pitchFamily="34" charset="-122"/>
                <a:cs typeface="Noto Sans KR" pitchFamily="34" charset="-120"/>
              </a:rPr>
              <a:t> </a:t>
            </a:r>
            <a:r>
              <a:rPr lang="en-US" altLang="ko-KR" sz="2400" b="1" dirty="0">
                <a:solidFill>
                  <a:srgbClr val="111827"/>
                </a:solidFill>
                <a:latin typeface="Noto Sans KR" pitchFamily="34" charset="0"/>
                <a:ea typeface="Noto Sans KR" pitchFamily="34" charset="-122"/>
                <a:cs typeface="Noto Sans KR" pitchFamily="34" charset="-120"/>
              </a:rPr>
              <a:t>Future Work</a:t>
            </a:r>
            <a:endParaRPr lang="en-US" sz="2400" dirty="0"/>
          </a:p>
        </p:txBody>
      </p:sp>
      <p:sp>
        <p:nvSpPr>
          <p:cNvPr id="10" name="Shape 8"/>
          <p:cNvSpPr/>
          <p:nvPr/>
        </p:nvSpPr>
        <p:spPr>
          <a:xfrm>
            <a:off x="571500" y="1914296"/>
            <a:ext cx="3524098" cy="3029407"/>
          </a:xfrm>
          <a:prstGeom prst="roundRect">
            <a:avLst>
              <a:gd name="adj" fmla="val 1139"/>
            </a:avLst>
          </a:prstGeom>
          <a:solidFill>
            <a:srgbClr val="F8FAFC"/>
          </a:solidFill>
          <a:ln/>
          <a:effectLst>
            <a:outerShdw blurRad="38100" dist="25400" dir="5400000" algn="bl" rotWithShape="0">
              <a:srgbClr val="000000">
                <a:alpha val="5000"/>
              </a:srgbClr>
            </a:outerShdw>
          </a:effectLst>
        </p:spPr>
      </p:sp>
      <p:sp>
        <p:nvSpPr>
          <p:cNvPr id="11" name="Shape 9"/>
          <p:cNvSpPr/>
          <p:nvPr/>
        </p:nvSpPr>
        <p:spPr>
          <a:xfrm>
            <a:off x="571500" y="1914296"/>
            <a:ext cx="3524098" cy="47549"/>
          </a:xfrm>
          <a:prstGeom prst="rect">
            <a:avLst/>
          </a:prstGeom>
          <a:solidFill>
            <a:srgbClr val="10B981"/>
          </a:solidFill>
          <a:ln/>
        </p:spPr>
      </p:sp>
      <p:sp>
        <p:nvSpPr>
          <p:cNvPr id="12" name="Shape 10"/>
          <p:cNvSpPr/>
          <p:nvPr/>
        </p:nvSpPr>
        <p:spPr>
          <a:xfrm>
            <a:off x="809244" y="2200503"/>
            <a:ext cx="476402" cy="476402"/>
          </a:xfrm>
          <a:prstGeom prst="ellipse">
            <a:avLst/>
          </a:prstGeom>
          <a:solidFill>
            <a:srgbClr val="ECFDF5"/>
          </a:solidFill>
          <a:ln/>
        </p:spPr>
      </p:sp>
      <p:pic>
        <p:nvPicPr>
          <p:cNvPr id="13" name="Image 0" descr="preencoded.png"/>
          <p:cNvPicPr>
            <a:picLocks noChangeAspect="1"/>
          </p:cNvPicPr>
          <p:nvPr/>
        </p:nvPicPr>
        <p:blipFill>
          <a:blip r:embed="rId3"/>
          <a:srcRect l="-57" r="-57"/>
          <a:stretch/>
        </p:blipFill>
        <p:spPr>
          <a:xfrm>
            <a:off x="947318" y="2323947"/>
            <a:ext cx="200254" cy="228600"/>
          </a:xfrm>
          <a:prstGeom prst="rect">
            <a:avLst/>
          </a:prstGeom>
        </p:spPr>
      </p:pic>
      <p:sp>
        <p:nvSpPr>
          <p:cNvPr id="14" name="Text 11"/>
          <p:cNvSpPr txBox="1"/>
          <p:nvPr/>
        </p:nvSpPr>
        <p:spPr>
          <a:xfrm>
            <a:off x="809244" y="2819552"/>
            <a:ext cx="1129284" cy="247802"/>
          </a:xfrm>
          <a:prstGeom prst="rect">
            <a:avLst/>
          </a:prstGeom>
          <a:noFill/>
          <a:ln/>
        </p:spPr>
        <p:txBody>
          <a:bodyPr wrap="square" lIns="0" tIns="0" rIns="0" bIns="0" rtlCol="0" anchor="ctr"/>
          <a:lstStyle/>
          <a:p>
            <a:pPr marL="0" indent="0" algn="l">
              <a:buNone/>
            </a:pPr>
            <a:r>
              <a:rPr lang="en-US" sz="1300" b="1" dirty="0">
                <a:solidFill>
                  <a:srgbClr val="1F2937"/>
                </a:solidFill>
                <a:latin typeface="Noto Sans KR" pitchFamily="34" charset="0"/>
                <a:ea typeface="Noto Sans KR" pitchFamily="34" charset="-122"/>
                <a:cs typeface="Noto Sans KR" pitchFamily="34" charset="-120"/>
              </a:rPr>
              <a:t>프로젝트 성과</a:t>
            </a:r>
            <a:endParaRPr lang="en-US" sz="1300" dirty="0"/>
          </a:p>
        </p:txBody>
      </p:sp>
      <p:sp>
        <p:nvSpPr>
          <p:cNvPr id="15" name="Text 12"/>
          <p:cNvSpPr txBox="1"/>
          <p:nvPr/>
        </p:nvSpPr>
        <p:spPr>
          <a:xfrm>
            <a:off x="1000354" y="3219145"/>
            <a:ext cx="2833726" cy="391363"/>
          </a:xfrm>
          <a:prstGeom prst="rect">
            <a:avLst/>
          </a:prstGeom>
          <a:noFill/>
          <a:ln/>
        </p:spPr>
        <p:txBody>
          <a:bodyPr wrap="square" lIns="0" tIns="0" rIns="0" bIns="0" rtlCol="0" anchor="ctr"/>
          <a:lstStyle/>
          <a:p>
            <a:pPr marL="0" indent="0" algn="l">
              <a:buNone/>
            </a:pPr>
            <a:r>
              <a:rPr lang="en-US" sz="1000" dirty="0">
                <a:solidFill>
                  <a:srgbClr val="4B5563"/>
                </a:solidFill>
                <a:latin typeface="Noto Sans KR" pitchFamily="34" charset="0"/>
                <a:ea typeface="Noto Sans KR" pitchFamily="34" charset="-122"/>
                <a:cs typeface="Noto Sans KR" pitchFamily="34" charset="-120"/>
              </a:rPr>
              <a:t>멀티모달 PPO+LSTM 모델을 통해 국내 섹터 ETF 시장에서 108.03%의 높은 수익률 달성</a:t>
            </a:r>
            <a:endParaRPr lang="en-US" sz="1000" dirty="0"/>
          </a:p>
        </p:txBody>
      </p:sp>
      <p:sp>
        <p:nvSpPr>
          <p:cNvPr id="16" name="Text 13"/>
          <p:cNvSpPr txBox="1"/>
          <p:nvPr/>
        </p:nvSpPr>
        <p:spPr>
          <a:xfrm>
            <a:off x="1000354" y="3714750"/>
            <a:ext cx="2900477" cy="391363"/>
          </a:xfrm>
          <a:prstGeom prst="rect">
            <a:avLst/>
          </a:prstGeom>
          <a:noFill/>
          <a:ln/>
        </p:spPr>
        <p:txBody>
          <a:bodyPr wrap="square" lIns="0" tIns="0" rIns="0" bIns="0" rtlCol="0" anchor="ctr"/>
          <a:lstStyle/>
          <a:p>
            <a:pPr marL="0" indent="0" algn="l">
              <a:buNone/>
            </a:pPr>
            <a:r>
              <a:rPr lang="en-US" sz="1000" dirty="0">
                <a:solidFill>
                  <a:srgbClr val="4B5563"/>
                </a:solidFill>
                <a:latin typeface="Noto Sans KR" pitchFamily="34" charset="0"/>
                <a:ea typeface="Noto Sans KR" pitchFamily="34" charset="-122"/>
                <a:cs typeface="Noto Sans KR" pitchFamily="34" charset="-120"/>
              </a:rPr>
              <a:t>Baseline(균등 분배) 대비 4배 이상의 초과 수익 창출로 알파 창출 능력 입증</a:t>
            </a:r>
            <a:endParaRPr lang="en-US" sz="1000" dirty="0"/>
          </a:p>
        </p:txBody>
      </p:sp>
      <p:sp>
        <p:nvSpPr>
          <p:cNvPr id="17" name="Text 14"/>
          <p:cNvSpPr txBox="1"/>
          <p:nvPr/>
        </p:nvSpPr>
        <p:spPr>
          <a:xfrm>
            <a:off x="1000354" y="4209440"/>
            <a:ext cx="2852928" cy="391363"/>
          </a:xfrm>
          <a:prstGeom prst="rect">
            <a:avLst/>
          </a:prstGeom>
          <a:noFill/>
          <a:ln/>
        </p:spPr>
        <p:txBody>
          <a:bodyPr wrap="square" lIns="0" tIns="0" rIns="0" bIns="0" rtlCol="0" anchor="ctr"/>
          <a:lstStyle/>
          <a:p>
            <a:pPr marL="0" indent="0" algn="l">
              <a:buNone/>
            </a:pPr>
            <a:r>
              <a:rPr lang="en-US" sz="1000" dirty="0">
                <a:solidFill>
                  <a:srgbClr val="4B5563"/>
                </a:solidFill>
                <a:latin typeface="Noto Sans KR" pitchFamily="34" charset="0"/>
                <a:ea typeface="Noto Sans KR" pitchFamily="34" charset="-122"/>
                <a:cs typeface="Noto Sans KR" pitchFamily="34" charset="-120"/>
              </a:rPr>
              <a:t>시장 하락기 현금 비중 확대를 통한 리스크 관리 동작 확인</a:t>
            </a:r>
            <a:endParaRPr lang="en-US" sz="1000" dirty="0"/>
          </a:p>
        </p:txBody>
      </p:sp>
      <p:sp>
        <p:nvSpPr>
          <p:cNvPr id="18" name="Shape 15"/>
          <p:cNvSpPr/>
          <p:nvPr/>
        </p:nvSpPr>
        <p:spPr>
          <a:xfrm>
            <a:off x="4334256" y="1914296"/>
            <a:ext cx="3524098" cy="3029407"/>
          </a:xfrm>
          <a:prstGeom prst="roundRect">
            <a:avLst>
              <a:gd name="adj" fmla="val 1139"/>
            </a:avLst>
          </a:prstGeom>
          <a:solidFill>
            <a:srgbClr val="F8FAFC"/>
          </a:solidFill>
          <a:ln/>
          <a:effectLst>
            <a:outerShdw blurRad="38100" dist="25400" dir="5400000" algn="bl" rotWithShape="0">
              <a:srgbClr val="000000">
                <a:alpha val="5000"/>
              </a:srgbClr>
            </a:outerShdw>
          </a:effectLst>
        </p:spPr>
      </p:sp>
      <p:sp>
        <p:nvSpPr>
          <p:cNvPr id="19" name="Shape 16"/>
          <p:cNvSpPr/>
          <p:nvPr/>
        </p:nvSpPr>
        <p:spPr>
          <a:xfrm>
            <a:off x="4334256" y="1914296"/>
            <a:ext cx="3524098" cy="47549"/>
          </a:xfrm>
          <a:prstGeom prst="rect">
            <a:avLst/>
          </a:prstGeom>
          <a:solidFill>
            <a:srgbClr val="EF4444"/>
          </a:solidFill>
          <a:ln/>
        </p:spPr>
      </p:sp>
      <p:sp>
        <p:nvSpPr>
          <p:cNvPr id="20" name="Shape 17"/>
          <p:cNvSpPr/>
          <p:nvPr/>
        </p:nvSpPr>
        <p:spPr>
          <a:xfrm>
            <a:off x="4572000" y="2200503"/>
            <a:ext cx="476402" cy="476402"/>
          </a:xfrm>
          <a:prstGeom prst="ellipse">
            <a:avLst/>
          </a:prstGeom>
          <a:solidFill>
            <a:srgbClr val="FEF2F2"/>
          </a:solidFill>
          <a:ln/>
        </p:spPr>
      </p:sp>
      <p:pic>
        <p:nvPicPr>
          <p:cNvPr id="21" name="Image 1" descr="preencoded.png"/>
          <p:cNvPicPr>
            <a:picLocks noChangeAspect="1"/>
          </p:cNvPicPr>
          <p:nvPr/>
        </p:nvPicPr>
        <p:blipFill>
          <a:blip r:embed="rId4"/>
          <a:srcRect/>
          <a:stretch/>
        </p:blipFill>
        <p:spPr>
          <a:xfrm>
            <a:off x="4695444" y="2323947"/>
            <a:ext cx="228600" cy="228600"/>
          </a:xfrm>
          <a:prstGeom prst="rect">
            <a:avLst/>
          </a:prstGeom>
        </p:spPr>
      </p:pic>
      <p:sp>
        <p:nvSpPr>
          <p:cNvPr id="22" name="Text 18"/>
          <p:cNvSpPr txBox="1"/>
          <p:nvPr/>
        </p:nvSpPr>
        <p:spPr>
          <a:xfrm>
            <a:off x="4572000" y="2819552"/>
            <a:ext cx="605333" cy="247802"/>
          </a:xfrm>
          <a:prstGeom prst="rect">
            <a:avLst/>
          </a:prstGeom>
          <a:noFill/>
          <a:ln/>
        </p:spPr>
        <p:txBody>
          <a:bodyPr wrap="square" lIns="0" tIns="0" rIns="0" bIns="0" rtlCol="0" anchor="ctr"/>
          <a:lstStyle/>
          <a:p>
            <a:pPr marL="0" indent="0" algn="l">
              <a:buNone/>
            </a:pPr>
            <a:r>
              <a:rPr lang="en-US" sz="1300" b="1" dirty="0">
                <a:solidFill>
                  <a:srgbClr val="1F2937"/>
                </a:solidFill>
                <a:latin typeface="Noto Sans KR" pitchFamily="34" charset="0"/>
                <a:ea typeface="Noto Sans KR" pitchFamily="34" charset="-122"/>
                <a:cs typeface="Noto Sans KR" pitchFamily="34" charset="-120"/>
              </a:rPr>
              <a:t>한계점</a:t>
            </a:r>
            <a:endParaRPr lang="en-US" sz="1300" dirty="0"/>
          </a:p>
        </p:txBody>
      </p:sp>
      <p:sp>
        <p:nvSpPr>
          <p:cNvPr id="23" name="Text 19"/>
          <p:cNvSpPr txBox="1"/>
          <p:nvPr/>
        </p:nvSpPr>
        <p:spPr>
          <a:xfrm>
            <a:off x="4762195" y="3219145"/>
            <a:ext cx="2872130" cy="391363"/>
          </a:xfrm>
          <a:prstGeom prst="rect">
            <a:avLst/>
          </a:prstGeom>
          <a:noFill/>
          <a:ln/>
        </p:spPr>
        <p:txBody>
          <a:bodyPr wrap="square" lIns="0" tIns="0" rIns="0" bIns="0" rtlCol="0" anchor="ctr"/>
          <a:lstStyle/>
          <a:p>
            <a:pPr marL="0" indent="0" algn="l">
              <a:buNone/>
            </a:pPr>
            <a:r>
              <a:rPr lang="en-US" sz="1000" dirty="0">
                <a:solidFill>
                  <a:srgbClr val="4B5563"/>
                </a:solidFill>
                <a:latin typeface="Noto Sans KR" pitchFamily="34" charset="0"/>
                <a:ea typeface="Noto Sans KR" pitchFamily="34" charset="-122"/>
                <a:cs typeface="Noto Sans KR" pitchFamily="34" charset="-120"/>
              </a:rPr>
              <a:t>Sharpe Ratio(1.17)가 목표(1.5)에 미치지 못하여 리스크 대비 수익성 개선 필요</a:t>
            </a:r>
            <a:endParaRPr lang="en-US" sz="1000" dirty="0"/>
          </a:p>
        </p:txBody>
      </p:sp>
      <p:sp>
        <p:nvSpPr>
          <p:cNvPr id="24" name="Text 20"/>
          <p:cNvSpPr txBox="1"/>
          <p:nvPr/>
        </p:nvSpPr>
        <p:spPr>
          <a:xfrm>
            <a:off x="4762195" y="3714750"/>
            <a:ext cx="2929738" cy="391363"/>
          </a:xfrm>
          <a:prstGeom prst="rect">
            <a:avLst/>
          </a:prstGeom>
          <a:noFill/>
          <a:ln/>
        </p:spPr>
        <p:txBody>
          <a:bodyPr wrap="square" lIns="0" tIns="0" rIns="0" bIns="0" rtlCol="0" anchor="ctr"/>
          <a:lstStyle/>
          <a:p>
            <a:pPr marL="0" indent="0" algn="l">
              <a:buNone/>
            </a:pPr>
            <a:r>
              <a:rPr lang="en-US" sz="1000" dirty="0">
                <a:solidFill>
                  <a:srgbClr val="4B5563"/>
                </a:solidFill>
                <a:latin typeface="Noto Sans KR" pitchFamily="34" charset="0"/>
                <a:ea typeface="Noto Sans KR" pitchFamily="34" charset="-122"/>
                <a:cs typeface="Noto Sans KR" pitchFamily="34" charset="-120"/>
              </a:rPr>
              <a:t>MDD(-16.56%)가 목표(-15%)를 소폭 초과, 극단적 시장 상황에서의 방어력 보완 필요</a:t>
            </a:r>
            <a:endParaRPr lang="en-US" sz="1000" dirty="0"/>
          </a:p>
        </p:txBody>
      </p:sp>
      <p:sp>
        <p:nvSpPr>
          <p:cNvPr id="25" name="Text 21"/>
          <p:cNvSpPr txBox="1"/>
          <p:nvPr/>
        </p:nvSpPr>
        <p:spPr>
          <a:xfrm>
            <a:off x="4762195" y="4209440"/>
            <a:ext cx="2805379" cy="391363"/>
          </a:xfrm>
          <a:prstGeom prst="rect">
            <a:avLst/>
          </a:prstGeom>
          <a:noFill/>
          <a:ln/>
        </p:spPr>
        <p:txBody>
          <a:bodyPr wrap="square" lIns="0" tIns="0" rIns="0" bIns="0" rtlCol="0" anchor="ctr"/>
          <a:lstStyle/>
          <a:p>
            <a:pPr marL="0" indent="0" algn="l">
              <a:buNone/>
            </a:pPr>
            <a:r>
              <a:rPr lang="en-US" sz="1000" dirty="0">
                <a:solidFill>
                  <a:srgbClr val="4B5563"/>
                </a:solidFill>
                <a:latin typeface="Noto Sans KR" pitchFamily="34" charset="0"/>
                <a:ea typeface="Noto Sans KR" pitchFamily="34" charset="-122"/>
                <a:cs typeface="Noto Sans KR" pitchFamily="34" charset="-120"/>
              </a:rPr>
              <a:t>23개월의 제한된 데이터로 인한 장기 사이클 검증 부족</a:t>
            </a:r>
            <a:endParaRPr lang="en-US" sz="1000" dirty="0"/>
          </a:p>
        </p:txBody>
      </p:sp>
      <p:sp>
        <p:nvSpPr>
          <p:cNvPr id="26" name="Shape 22"/>
          <p:cNvSpPr/>
          <p:nvPr/>
        </p:nvSpPr>
        <p:spPr>
          <a:xfrm>
            <a:off x="8096098" y="1914296"/>
            <a:ext cx="3524098" cy="3029407"/>
          </a:xfrm>
          <a:prstGeom prst="roundRect">
            <a:avLst>
              <a:gd name="adj" fmla="val 1139"/>
            </a:avLst>
          </a:prstGeom>
          <a:solidFill>
            <a:srgbClr val="F8FAFC"/>
          </a:solidFill>
          <a:ln/>
          <a:effectLst>
            <a:outerShdw blurRad="38100" dist="25400" dir="5400000" algn="bl" rotWithShape="0">
              <a:srgbClr val="000000">
                <a:alpha val="5000"/>
              </a:srgbClr>
            </a:outerShdw>
          </a:effectLst>
        </p:spPr>
      </p:sp>
      <p:sp>
        <p:nvSpPr>
          <p:cNvPr id="27" name="Shape 23"/>
          <p:cNvSpPr/>
          <p:nvPr/>
        </p:nvSpPr>
        <p:spPr>
          <a:xfrm>
            <a:off x="8096098" y="1914296"/>
            <a:ext cx="3524098" cy="47549"/>
          </a:xfrm>
          <a:prstGeom prst="rect">
            <a:avLst/>
          </a:prstGeom>
          <a:solidFill>
            <a:srgbClr val="8B5CF6"/>
          </a:solidFill>
          <a:ln/>
        </p:spPr>
      </p:sp>
      <p:sp>
        <p:nvSpPr>
          <p:cNvPr id="28" name="Shape 24"/>
          <p:cNvSpPr/>
          <p:nvPr/>
        </p:nvSpPr>
        <p:spPr>
          <a:xfrm>
            <a:off x="8334756" y="2200503"/>
            <a:ext cx="476402" cy="476402"/>
          </a:xfrm>
          <a:prstGeom prst="ellipse">
            <a:avLst/>
          </a:prstGeom>
          <a:solidFill>
            <a:srgbClr val="F5F3FF"/>
          </a:solidFill>
          <a:ln/>
        </p:spPr>
      </p:sp>
      <p:pic>
        <p:nvPicPr>
          <p:cNvPr id="29" name="Image 2" descr="preencoded.png"/>
          <p:cNvPicPr>
            <a:picLocks noChangeAspect="1"/>
          </p:cNvPicPr>
          <p:nvPr/>
        </p:nvPicPr>
        <p:blipFill>
          <a:blip r:embed="rId5"/>
          <a:srcRect/>
          <a:stretch/>
        </p:blipFill>
        <p:spPr>
          <a:xfrm>
            <a:off x="8458200" y="2323947"/>
            <a:ext cx="228600" cy="228600"/>
          </a:xfrm>
          <a:prstGeom prst="rect">
            <a:avLst/>
          </a:prstGeom>
        </p:spPr>
      </p:pic>
      <p:sp>
        <p:nvSpPr>
          <p:cNvPr id="30" name="Text 25"/>
          <p:cNvSpPr txBox="1"/>
          <p:nvPr/>
        </p:nvSpPr>
        <p:spPr>
          <a:xfrm>
            <a:off x="8334756" y="2819552"/>
            <a:ext cx="1176833" cy="247802"/>
          </a:xfrm>
          <a:prstGeom prst="rect">
            <a:avLst/>
          </a:prstGeom>
          <a:noFill/>
          <a:ln/>
        </p:spPr>
        <p:txBody>
          <a:bodyPr wrap="square" lIns="0" tIns="0" rIns="0" bIns="0" rtlCol="0" anchor="ctr"/>
          <a:lstStyle/>
          <a:p>
            <a:pPr marL="0" indent="0" algn="l">
              <a:buNone/>
            </a:pPr>
            <a:r>
              <a:rPr lang="en-US" sz="1300" b="1" dirty="0">
                <a:solidFill>
                  <a:srgbClr val="1F2937"/>
                </a:solidFill>
                <a:latin typeface="Noto Sans KR" pitchFamily="34" charset="0"/>
                <a:ea typeface="Noto Sans KR" pitchFamily="34" charset="-122"/>
                <a:cs typeface="Noto Sans KR" pitchFamily="34" charset="-120"/>
              </a:rPr>
              <a:t>향후 연구 방향</a:t>
            </a:r>
            <a:endParaRPr lang="en-US" sz="1300" dirty="0"/>
          </a:p>
        </p:txBody>
      </p:sp>
      <p:sp>
        <p:nvSpPr>
          <p:cNvPr id="31" name="Text 26"/>
          <p:cNvSpPr txBox="1"/>
          <p:nvPr/>
        </p:nvSpPr>
        <p:spPr>
          <a:xfrm>
            <a:off x="8524951" y="3219145"/>
            <a:ext cx="2929738" cy="391363"/>
          </a:xfrm>
          <a:prstGeom prst="rect">
            <a:avLst/>
          </a:prstGeom>
          <a:noFill/>
          <a:ln/>
        </p:spPr>
        <p:txBody>
          <a:bodyPr wrap="square" lIns="0" tIns="0" rIns="0" bIns="0" rtlCol="0" anchor="ctr"/>
          <a:lstStyle/>
          <a:p>
            <a:pPr marL="0" indent="0" algn="l">
              <a:buNone/>
            </a:pPr>
            <a:r>
              <a:rPr lang="en-US" sz="1000" dirty="0">
                <a:solidFill>
                  <a:srgbClr val="4B5563"/>
                </a:solidFill>
                <a:latin typeface="Noto Sans KR" pitchFamily="34" charset="0"/>
                <a:ea typeface="Noto Sans KR" pitchFamily="34" charset="-122"/>
                <a:cs typeface="Noto Sans KR" pitchFamily="34" charset="-120"/>
              </a:rPr>
              <a:t>Transformer 기반 모델 도입으로 장기 시계열 패턴 학습 강화</a:t>
            </a:r>
            <a:endParaRPr lang="en-US" sz="1000" dirty="0"/>
          </a:p>
        </p:txBody>
      </p:sp>
      <p:sp>
        <p:nvSpPr>
          <p:cNvPr id="32" name="Text 27"/>
          <p:cNvSpPr txBox="1"/>
          <p:nvPr/>
        </p:nvSpPr>
        <p:spPr>
          <a:xfrm>
            <a:off x="8524951" y="3714750"/>
            <a:ext cx="2948026" cy="391363"/>
          </a:xfrm>
          <a:prstGeom prst="rect">
            <a:avLst/>
          </a:prstGeom>
          <a:noFill/>
          <a:ln/>
        </p:spPr>
        <p:txBody>
          <a:bodyPr wrap="square" lIns="0" tIns="0" rIns="0" bIns="0" rtlCol="0" anchor="ctr"/>
          <a:lstStyle/>
          <a:p>
            <a:pPr marL="0" indent="0" algn="l">
              <a:buNone/>
            </a:pPr>
            <a:r>
              <a:rPr lang="en-US" sz="1000" dirty="0">
                <a:solidFill>
                  <a:srgbClr val="4B5563"/>
                </a:solidFill>
                <a:latin typeface="Noto Sans KR" pitchFamily="34" charset="0"/>
                <a:ea typeface="Noto Sans KR" pitchFamily="34" charset="-122"/>
                <a:cs typeface="Noto Sans KR" pitchFamily="34" charset="-120"/>
              </a:rPr>
              <a:t>Reward Function 고도화 (MDD 패널티 강화 및 변동성 제어)</a:t>
            </a:r>
            <a:endParaRPr lang="en-US" sz="1000" dirty="0"/>
          </a:p>
        </p:txBody>
      </p:sp>
      <p:sp>
        <p:nvSpPr>
          <p:cNvPr id="33" name="Text 28"/>
          <p:cNvSpPr txBox="1"/>
          <p:nvPr/>
        </p:nvSpPr>
        <p:spPr>
          <a:xfrm>
            <a:off x="8524951" y="4209440"/>
            <a:ext cx="2852928" cy="191110"/>
          </a:xfrm>
          <a:prstGeom prst="rect">
            <a:avLst/>
          </a:prstGeom>
          <a:noFill/>
          <a:ln/>
        </p:spPr>
        <p:txBody>
          <a:bodyPr wrap="square" lIns="0" tIns="0" rIns="0" bIns="0" rtlCol="0" anchor="ctr"/>
          <a:lstStyle/>
          <a:p>
            <a:pPr marL="0" indent="0" algn="l">
              <a:buNone/>
            </a:pPr>
            <a:r>
              <a:rPr lang="en-US" sz="1000" dirty="0">
                <a:solidFill>
                  <a:srgbClr val="4B5563"/>
                </a:solidFill>
                <a:latin typeface="Noto Sans KR" pitchFamily="34" charset="0"/>
                <a:ea typeface="Noto Sans KR" pitchFamily="34" charset="-122"/>
                <a:cs typeface="Noto Sans KR" pitchFamily="34" charset="-120"/>
              </a:rPr>
              <a:t>제약 조건 최적화 및 실거래 환경 연동 테스트 진행</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147</TotalTime>
  <Words>2131</Words>
  <Application>Microsoft Macintosh PowerPoint</Application>
  <PresentationFormat>와이드스크린</PresentationFormat>
  <Paragraphs>399</Paragraphs>
  <Slides>17</Slides>
  <Notes>17</Notes>
  <HiddenSlides>0</HiddenSlides>
  <MMClips>0</MMClips>
  <ScaleCrop>false</ScaleCrop>
  <HeadingPairs>
    <vt:vector size="6" baseType="variant">
      <vt:variant>
        <vt:lpstr>사용한 글꼴</vt:lpstr>
      </vt:variant>
      <vt:variant>
        <vt:i4>8</vt:i4>
      </vt:variant>
      <vt:variant>
        <vt:lpstr>테마</vt:lpstr>
      </vt:variant>
      <vt:variant>
        <vt:i4>1</vt:i4>
      </vt:variant>
      <vt:variant>
        <vt:lpstr>슬라이드 제목</vt:lpstr>
      </vt:variant>
      <vt:variant>
        <vt:i4>17</vt:i4>
      </vt:variant>
    </vt:vector>
  </HeadingPairs>
  <TitlesOfParts>
    <vt:vector size="26" baseType="lpstr">
      <vt:lpstr>맑은 고딕</vt:lpstr>
      <vt:lpstr>Noto Sans KR</vt:lpstr>
      <vt:lpstr>Arial</vt:lpstr>
      <vt:lpstr>Calibri</vt:lpstr>
      <vt:lpstr>Consolas</vt:lpstr>
      <vt:lpstr>Courier New</vt:lpstr>
      <vt:lpstr>Roboto</vt:lpstr>
      <vt:lpstr>Times New Roman</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Generated by Gen-Spark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Multi-page HTML Content</dc:title>
  <dc:subject>PptxGenJS Presentation</dc:subject>
  <dc:creator>Visual Extract to PPTX Converter</dc:creator>
  <cp:lastModifiedBy>Microsoft Office User</cp:lastModifiedBy>
  <cp:revision>11</cp:revision>
  <dcterms:created xsi:type="dcterms:W3CDTF">2025-12-07T12:19:08Z</dcterms:created>
  <dcterms:modified xsi:type="dcterms:W3CDTF">2025-12-07T14:49:25Z</dcterms:modified>
</cp:coreProperties>
</file>